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92" r:id="rId6"/>
    <p:sldId id="293" r:id="rId7"/>
    <p:sldId id="284" r:id="rId8"/>
    <p:sldId id="294" r:id="rId9"/>
    <p:sldId id="285" r:id="rId10"/>
    <p:sldId id="295" r:id="rId11"/>
    <p:sldId id="296" r:id="rId12"/>
    <p:sldId id="286" r:id="rId13"/>
    <p:sldId id="297" r:id="rId14"/>
    <p:sldId id="305" r:id="rId15"/>
    <p:sldId id="287" r:id="rId16"/>
    <p:sldId id="298" r:id="rId17"/>
    <p:sldId id="308" r:id="rId18"/>
    <p:sldId id="288" r:id="rId19"/>
    <p:sldId id="299" r:id="rId20"/>
    <p:sldId id="289" r:id="rId21"/>
    <p:sldId id="300" r:id="rId22"/>
    <p:sldId id="290" r:id="rId23"/>
    <p:sldId id="301" r:id="rId24"/>
    <p:sldId id="306" r:id="rId25"/>
    <p:sldId id="291" r:id="rId26"/>
    <p:sldId id="302" r:id="rId27"/>
    <p:sldId id="303" r:id="rId28"/>
    <p:sldId id="304" r:id="rId29"/>
    <p:sldId id="307" r:id="rId30"/>
    <p:sldId id="283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0Gfr9P8OBLq1rLeX4Dnnm+YC/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  <a:srgbClr val="000099"/>
    <a:srgbClr val="0033CC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2C12F4-25BA-4372-8E1A-A5CDCF251B66}">
  <a:tblStyle styleId="{CC2C12F4-25BA-4372-8E1A-A5CDCF251B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6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75B70FCF-F378-FDCD-E27B-62A04E0C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F843BAC2-DE74-920E-14CF-59EADF9DD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169B94CB-30DD-A357-CB5F-799AA1EA04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2595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62130F3E-3287-8967-C959-837A7E13F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E60E357F-9FA2-854C-775B-19C4A89946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E3086A90-44ED-3685-060A-BF8B1BAF7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561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9173BA3F-0B09-94F4-1E8D-5B65AB32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311C672C-EA1D-1B96-56DA-B22048C496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E76977A6-95A3-8023-9691-C116E9C3BE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7017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EE95284F-4403-2038-F392-10D8FCAE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F17FB8F5-C4CB-30BC-D670-6DA738C8F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2ECA5A45-B49E-5EC9-0D2C-27822388B6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4070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0F90681D-5636-B3E5-8015-69A2554DC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F2A81838-9B00-8AF4-63A1-3BA6CAADE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90C13DA3-46B9-63B7-F970-19A4090743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3909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646E63C4-BE3E-0087-10CD-318F3FB8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1C386FDC-070C-FDCB-3B0C-EECB46E8A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AFE8F26A-4F77-9DCB-7FA8-CD53FCB532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1626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C2DB479F-197B-45F8-B107-208E4C5C8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0781308E-43A9-5A43-33C4-EEB637108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C2167EAE-3DA8-9A39-99B5-A056371973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404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AFBF3E74-0D8C-EDAE-2D49-7C202146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B945F7D2-11B0-AA42-1CDB-96DED0A29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69EA0341-D184-94E4-3A1D-492337229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1885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E773C618-4D2B-DCCF-FAD4-8A5AE9A08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B38ACB9F-6527-5D19-DF01-10869BBFE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6993F5A5-0807-E696-B5F3-2FD06E99EC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2556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CB8519B9-7269-6755-16DF-93305F55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A62645BF-6E31-468E-BBEB-6D1E457CDE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88A1769F-DD6E-4550-F673-9C213A080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2480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FCC5287-27F2-5071-BEBF-5765878A5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875BDFED-F27A-49BF-BE9B-653B33B080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8123CB85-AF06-5D1C-3F7D-EF97B79F8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2225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38FC8DD5-C50A-A801-ECED-108CE05AF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5FF106F7-1936-7416-271F-40381F077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79541B75-7A45-804A-96B9-4FADD8F36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73508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27E109E3-915B-5BC2-6299-18CC4DFDA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9AD3E5A2-395C-AFC2-00B7-D9E4167B5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9857DAD6-CA0D-F1EA-B45F-AC58D4402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379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B9186504-313C-6F6A-D87B-324E2621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A4A6206E-927D-E1D6-164C-1B41C0E45B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8215792D-A71C-2733-540C-37AECCAC2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0125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F9BE3869-99FF-91FC-F21C-DE34F93A2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04696575-C6CD-7DFF-A76C-B9A7ED89D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8AC9C964-6643-C8F7-720E-B09968662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28631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B83E64A-E4FB-88FC-0028-FDB715D3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9805AA31-31CD-CAA9-67D7-A47B7BD13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25627F9E-104A-2135-62DC-5B344418B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90475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724B64EA-5C2D-312E-4B88-B8427991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3C94CC19-6803-66A1-BB12-8858262958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E6EB92AB-0B00-AC6A-6911-475687366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65583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45E44BDB-9C90-2194-38D2-4AEA8B631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84B1D449-4B11-6769-978A-C57A3F47AD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8F2754FA-67FE-5412-02B7-C390688D9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2646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5813DC34-966C-81B1-4DEC-2F2B6864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95D581C3-5D7B-469C-817F-F92F0FEB0A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FFC7053E-9D8B-5D1B-614D-32DCAFD941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23568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9527CC90-83BA-AC37-5218-231F8E611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198FED62-B353-43AD-9A78-B38694113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D820916B-45DB-0C5B-91F4-6DCC1069F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2102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A55674D7-669F-8835-6A5C-36ECABA1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:notes">
            <a:extLst>
              <a:ext uri="{FF2B5EF4-FFF2-40B4-BE49-F238E27FC236}">
                <a16:creationId xmlns:a16="http://schemas.microsoft.com/office/drawing/2014/main" id="{25180787-9D65-9E38-E3D1-12C4908FB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:notes">
            <a:extLst>
              <a:ext uri="{FF2B5EF4-FFF2-40B4-BE49-F238E27FC236}">
                <a16:creationId xmlns:a16="http://schemas.microsoft.com/office/drawing/2014/main" id="{CDB46B1A-C6A2-EC1C-1247-D9AE67D9C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2314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4D1DA5ED-75EC-E24E-D229-892C22D6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6C1420F6-4A48-A7B7-D695-D04A72495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477FF038-B90F-797D-D1C1-A83279963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44997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FAE9F7B5-2EC3-5444-62D9-307DB39E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BDAC2D4A-584F-0155-CDBD-22ACCA48E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888BA754-DA9D-D637-2EAE-6A8C0DD86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52466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FB3AC7C5-7868-B822-CD7C-3B9D5E409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75C89E34-1E2E-4AC4-7977-B1CB8795A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1489FE78-45B8-D86E-66CC-7E2F3FCFC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81467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437CB43B-53B8-6D54-E89E-2A6934D5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>
            <a:extLst>
              <a:ext uri="{FF2B5EF4-FFF2-40B4-BE49-F238E27FC236}">
                <a16:creationId xmlns:a16="http://schemas.microsoft.com/office/drawing/2014/main" id="{405B9CF9-26C2-6211-6956-9CF2A5138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4:notes">
            <a:extLst>
              <a:ext uri="{FF2B5EF4-FFF2-40B4-BE49-F238E27FC236}">
                <a16:creationId xmlns:a16="http://schemas.microsoft.com/office/drawing/2014/main" id="{9A049B1D-8591-9929-0354-4C97F992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87243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0" descr="A blue circle with white 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40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" name="Google Shape;18;p40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" name="Google Shape;19;p40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40"/>
          <p:cNvSpPr txBox="1">
            <a:spLocks noGrp="1"/>
          </p:cNvSpPr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sz="4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body" idx="2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0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4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4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" name="Google Shape;28;p4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" name="Google Shape;29;p4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Google Shape;30;p4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41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1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3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4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0A204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" name="Google Shape;42;p4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" name="Google Shape;43;p4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" name="Google Shape;44;p4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" name="Google Shape;45;p4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" name="Google Shape;46;p4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47;p43"/>
          <p:cNvSpPr>
            <a:spLocks noGrp="1"/>
          </p:cNvSpPr>
          <p:nvPr>
            <p:ph type="pic" idx="2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48" name="Google Shape;48;p43"/>
          <p:cNvSpPr txBox="1">
            <a:spLocks noGrp="1"/>
          </p:cNvSpPr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3"/>
          <p:cNvSpPr txBox="1">
            <a:spLocks noGrp="1"/>
          </p:cNvSpPr>
          <p:nvPr>
            <p:ph type="body" idx="1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43"/>
          <p:cNvSpPr txBox="1">
            <a:spLocks noGrp="1"/>
          </p:cNvSpPr>
          <p:nvPr>
            <p:ph type="body" idx="3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body" idx="4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body" idx="5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4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44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44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" name="Google Shape;57;p44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" name="Google Shape;58;p44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44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44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44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44"/>
          <p:cNvSpPr txBox="1">
            <a:spLocks noGrp="1"/>
          </p:cNvSpPr>
          <p:nvPr>
            <p:ph type="body" idx="3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44"/>
          <p:cNvSpPr txBox="1">
            <a:spLocks noGrp="1"/>
          </p:cNvSpPr>
          <p:nvPr>
            <p:ph type="body" idx="4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4"/>
          <p:cNvSpPr txBox="1">
            <a:spLocks noGrp="1"/>
          </p:cNvSpPr>
          <p:nvPr>
            <p:ph type="body" idx="5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sz="3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4"/>
          <p:cNvSpPr txBox="1">
            <a:spLocks noGrp="1"/>
          </p:cNvSpPr>
          <p:nvPr>
            <p:ph type="body" idx="6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4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5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45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" name="Google Shape;70;p45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" name="Google Shape;71;p45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72;p45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45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5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5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5"/>
          <p:cNvSpPr txBox="1"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body" idx="4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body" idx="5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>
            <a:spLocks noGrp="1"/>
          </p:cNvSpPr>
          <p:nvPr>
            <p:ph type="chart" idx="6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6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4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4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5" name="Google Shape;85;p4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" name="Google Shape;86;p46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4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46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46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46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46"/>
          <p:cNvSpPr txBox="1">
            <a:spLocks noGrp="1"/>
          </p:cNvSpPr>
          <p:nvPr>
            <p:ph type="body" idx="4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46"/>
          <p:cNvSpPr>
            <a:spLocks noGrp="1"/>
          </p:cNvSpPr>
          <p:nvPr>
            <p:ph type="chart" idx="5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46"/>
          <p:cNvSpPr txBox="1">
            <a:spLocks noGrp="1"/>
          </p:cNvSpPr>
          <p:nvPr>
            <p:ph type="body" idx="6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46"/>
          <p:cNvSpPr txBox="1">
            <a:spLocks noGrp="1"/>
          </p:cNvSpPr>
          <p:nvPr>
            <p:ph type="body" idx="7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4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47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8" name="Google Shape;98;p47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9" name="Google Shape;99;p47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p47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47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47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47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47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47"/>
          <p:cNvSpPr txBox="1">
            <a:spLocks noGrp="1"/>
          </p:cNvSpPr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7"/>
          <p:cNvSpPr txBox="1">
            <a:spLocks noGrp="1"/>
          </p:cNvSpPr>
          <p:nvPr>
            <p:ph type="body" idx="4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47"/>
          <p:cNvSpPr txBox="1">
            <a:spLocks noGrp="1"/>
          </p:cNvSpPr>
          <p:nvPr>
            <p:ph type="body" idx="5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47"/>
          <p:cNvSpPr txBox="1">
            <a:spLocks noGrp="1"/>
          </p:cNvSpPr>
          <p:nvPr>
            <p:ph type="body" idx="6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7"/>
          <p:cNvSpPr txBox="1">
            <a:spLocks noGrp="1"/>
          </p:cNvSpPr>
          <p:nvPr>
            <p:ph type="body" idx="7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7"/>
          <p:cNvSpPr txBox="1">
            <a:spLocks noGrp="1"/>
          </p:cNvSpPr>
          <p:nvPr>
            <p:ph type="body" idx="8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7"/>
          <p:cNvSpPr txBox="1">
            <a:spLocks noGrp="1"/>
          </p:cNvSpPr>
          <p:nvPr>
            <p:ph type="body" idx="9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marL="914400" lvl="1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838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4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5" name="Google Shape;115;p4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" name="Google Shape;116;p4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4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4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48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8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8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48"/>
          <p:cNvSpPr txBox="1">
            <a:spLocks noGrp="1"/>
          </p:cNvSpPr>
          <p:nvPr>
            <p:ph type="body" idx="4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8"/>
          <p:cNvSpPr txBox="1">
            <a:spLocks noGrp="1"/>
          </p:cNvSpPr>
          <p:nvPr>
            <p:ph type="body" idx="5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4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4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" name="Google Shape;127;p4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" name="Google Shape;128;p4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p4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4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" name="Google Shape;131;p49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49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49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9"/>
          <p:cNvSpPr txBox="1">
            <a:spLocks noGrp="1"/>
          </p:cNvSpPr>
          <p:nvPr>
            <p:ph type="body" idx="4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sz="16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49"/>
          <p:cNvSpPr txBox="1">
            <a:spLocks noGrp="1"/>
          </p:cNvSpPr>
          <p:nvPr>
            <p:ph type="body" idx="5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11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body" idx="6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50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50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0" name="Google Shape;140;p50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" name="Google Shape;141;p50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" name="Google Shape;142;p50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50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" name="Google Shape;144;p50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50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50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5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5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1" name="Google Shape;151;p5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2" name="Google Shape;152;p5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5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" name="Google Shape;154;p51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51"/>
          <p:cNvSpPr txBox="1">
            <a:spLocks noGrp="1"/>
          </p:cNvSpPr>
          <p:nvPr>
            <p:ph type="body" idx="2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51"/>
          <p:cNvSpPr txBox="1">
            <a:spLocks noGrp="1"/>
          </p:cNvSpPr>
          <p:nvPr>
            <p:ph type="body" idx="3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51"/>
          <p:cNvSpPr txBox="1">
            <a:spLocks noGrp="1"/>
          </p:cNvSpPr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1"/>
          <p:cNvSpPr txBox="1">
            <a:spLocks noGrp="1"/>
          </p:cNvSpPr>
          <p:nvPr>
            <p:ph type="body" idx="4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51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1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1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1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1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1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1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1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1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1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1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1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1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1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1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1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1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1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1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1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nd-map-online.ru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smr.1979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systems11070341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d8sveBeF56fo5aUc0ToMKTChP4s1HwBn/view?usp=drive_link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"/>
          <p:cNvSpPr txBox="1">
            <a:spLocks noGrp="1"/>
          </p:cNvSpPr>
          <p:nvPr>
            <p:ph type="title"/>
          </p:nvPr>
        </p:nvSpPr>
        <p:spPr>
          <a:xfrm>
            <a:off x="1027966" y="2159714"/>
            <a:ext cx="9255285" cy="1597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</a:pPr>
            <a:r>
              <a:rPr lang="ru-RU" sz="3600" dirty="0"/>
              <a:t>Подходы к управлению требованиями при гибкой разработке ПО с использованием аппарата нечетких множеств</a:t>
            </a:r>
            <a:br>
              <a:rPr lang="ru-RU" sz="3600" dirty="0"/>
            </a:br>
            <a:br>
              <a:rPr lang="ru-RU" sz="3600" dirty="0"/>
            </a:br>
            <a:br>
              <a:rPr lang="ru-RU" dirty="0"/>
            </a:br>
            <a:endParaRPr dirty="0"/>
          </a:p>
        </p:txBody>
      </p:sp>
      <p:sp>
        <p:nvSpPr>
          <p:cNvPr id="184" name="Google Shape;184;p1"/>
          <p:cNvSpPr txBox="1">
            <a:spLocks noGrp="1"/>
          </p:cNvSpPr>
          <p:nvPr>
            <p:ph type="body" idx="1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Факультет компьютерных наук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185" name="Google Shape;185;p1"/>
          <p:cNvSpPr txBox="1">
            <a:spLocks noGrp="1"/>
          </p:cNvSpPr>
          <p:nvPr>
            <p:ph type="body" idx="2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86" name="Google Shape;186;p1"/>
          <p:cNvSpPr txBox="1">
            <a:spLocks noGrp="1"/>
          </p:cNvSpPr>
          <p:nvPr>
            <p:ph type="body" idx="3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Москва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rPr lang="ru-RU"/>
              <a:t>2025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87" name="Google Shape;187;p1"/>
          <p:cNvSpPr txBox="1">
            <a:spLocks noGrp="1"/>
          </p:cNvSpPr>
          <p:nvPr>
            <p:ph type="body" idx="4"/>
          </p:nvPr>
        </p:nvSpPr>
        <p:spPr>
          <a:xfrm>
            <a:off x="1027966" y="4554282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2000"/>
              <a:buFont typeface="Arial"/>
              <a:buNone/>
            </a:pPr>
            <a:r>
              <a:rPr lang="ru-RU" sz="2000" b="1" dirty="0"/>
              <a:t>Автор работы: Понаровская Инна Сергеевна</a:t>
            </a:r>
            <a:endParaRPr b="1" dirty="0"/>
          </a:p>
        </p:txBody>
      </p:sp>
      <p:sp>
        <p:nvSpPr>
          <p:cNvPr id="2" name="Google Shape;187;p1">
            <a:extLst>
              <a:ext uri="{FF2B5EF4-FFF2-40B4-BE49-F238E27FC236}">
                <a16:creationId xmlns:a16="http://schemas.microsoft.com/office/drawing/2014/main" id="{F36011B4-5827-DD52-73DA-F91AA487DB9B}"/>
              </a:ext>
            </a:extLst>
          </p:cNvPr>
          <p:cNvSpPr txBox="1">
            <a:spLocks/>
          </p:cNvSpPr>
          <p:nvPr/>
        </p:nvSpPr>
        <p:spPr>
          <a:xfrm>
            <a:off x="1027966" y="3901422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2000"/>
            </a:pPr>
            <a:r>
              <a:rPr lang="ru-RU" sz="2000" dirty="0"/>
              <a:t>Предварительное описание проекта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193" name="Google Shape;193;p2"/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194" name="Google Shape;194;p2"/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"/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9841724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Arial"/>
              <a:buNone/>
            </a:pPr>
            <a:r>
              <a:rPr lang="ru-RU" sz="3200" b="1" dirty="0">
                <a:solidFill>
                  <a:srgbClr val="1F3864"/>
                </a:solidFill>
              </a:rPr>
              <a:t>Содержание доклада</a:t>
            </a:r>
            <a:endParaRPr dirty="0"/>
          </a:p>
        </p:txBody>
      </p:sp>
      <p:sp>
        <p:nvSpPr>
          <p:cNvPr id="196" name="Google Shape;196;p2"/>
          <p:cNvSpPr txBox="1"/>
          <p:nvPr/>
        </p:nvSpPr>
        <p:spPr>
          <a:xfrm>
            <a:off x="553374" y="1898150"/>
            <a:ext cx="10764199" cy="4418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1. Описание предметной области, актуальность, постановка задачи</a:t>
            </a:r>
            <a:endParaRPr sz="2400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2. Ключевые слова</a:t>
            </a:r>
            <a:endParaRPr sz="2400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3. Цель работы, исследовательские вопросы</a:t>
            </a:r>
            <a:endParaRPr sz="2400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4. Задачи работы</a:t>
            </a:r>
            <a:endParaRPr sz="2400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5. Ожидаемые результаты</a:t>
            </a:r>
            <a:endParaRPr sz="2400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6. Применяемые методы (подходы)</a:t>
            </a:r>
            <a:endParaRPr sz="2400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8. Дополнение</a:t>
            </a:r>
            <a:endParaRPr sz="2400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/>
                </a:solidFill>
              </a:rPr>
              <a:t>9. Список источников</a:t>
            </a:r>
            <a:endParaRPr sz="2400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/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/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9DB4A62C-A2D2-5B2D-7C68-F02D550A59A8}"/>
              </a:ext>
            </a:extLst>
          </p:cNvPr>
          <p:cNvSpPr txBox="1"/>
          <p:nvPr/>
        </p:nvSpPr>
        <p:spPr>
          <a:xfrm>
            <a:off x="183112" y="1403131"/>
            <a:ext cx="11825775" cy="5055855"/>
          </a:xfrm>
          <a:prstGeom prst="rect">
            <a:avLst/>
          </a:prstGeom>
          <a:solidFill>
            <a:srgbClr val="DDEAF6">
              <a:alpha val="42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1. Описание предметной области, актуальность, постановка задачи</a:t>
            </a:r>
            <a:endParaRPr sz="2600" b="1" dirty="0"/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2. Ключевые слова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3. Цель работы, исследовательские вопросы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4. Задачи работы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5. Ожидаемые результаты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6. Применяемые методы (подходы)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/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/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/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1.1. Предметная область и актуальность исследования</a:t>
            </a:r>
            <a:endParaRPr dirty="0"/>
          </a:p>
        </p:txBody>
      </p:sp>
      <p:sp>
        <p:nvSpPr>
          <p:cNvPr id="213" name="Google Shape;213;p4"/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600"/>
              </a:spcBef>
            </a:pPr>
            <a:r>
              <a:rPr lang="ru-RU" sz="2400" dirty="0">
                <a:solidFill>
                  <a:srgbClr val="002060"/>
                </a:solidFill>
              </a:rPr>
              <a:t>В процессах разработки программного обеспечения (ПО) вопрос </a:t>
            </a:r>
            <a:r>
              <a:rPr lang="ru-RU" sz="2400" b="1" dirty="0">
                <a:solidFill>
                  <a:srgbClr val="002060"/>
                </a:solidFill>
              </a:rPr>
              <a:t>качественного формирования информационного поля</a:t>
            </a:r>
            <a:r>
              <a:rPr lang="ru-RU" sz="2400" dirty="0">
                <a:solidFill>
                  <a:srgbClr val="002060"/>
                </a:solidFill>
              </a:rPr>
              <a:t> имеет прямое влияние на результат деятельности, поскольку </a:t>
            </a:r>
            <a:r>
              <a:rPr lang="ru-RU" sz="2400" b="1" dirty="0">
                <a:solidFill>
                  <a:srgbClr val="002060"/>
                </a:solidFill>
              </a:rPr>
              <a:t>некорректное восприятие информации </a:t>
            </a:r>
            <a:r>
              <a:rPr lang="ru-RU" sz="2400" dirty="0">
                <a:solidFill>
                  <a:srgbClr val="002060"/>
                </a:solidFill>
              </a:rPr>
              <a:t>или </a:t>
            </a:r>
            <a:r>
              <a:rPr lang="ru-RU" sz="2400" b="1" dirty="0">
                <a:solidFill>
                  <a:srgbClr val="002060"/>
                </a:solidFill>
              </a:rPr>
              <a:t>неполнота сведений </a:t>
            </a:r>
            <a:r>
              <a:rPr lang="ru-RU" sz="2400" dirty="0">
                <a:solidFill>
                  <a:srgbClr val="002060"/>
                </a:solidFill>
              </a:rPr>
              <a:t>приводят к принятию </a:t>
            </a:r>
            <a:r>
              <a:rPr lang="ru-RU" sz="2400" b="1" dirty="0">
                <a:solidFill>
                  <a:srgbClr val="002060"/>
                </a:solidFill>
              </a:rPr>
              <a:t>ошибочных решений</a:t>
            </a:r>
            <a:r>
              <a:rPr lang="ru-RU" sz="2400" dirty="0">
                <a:solidFill>
                  <a:srgbClr val="002060"/>
                </a:solidFill>
              </a:rPr>
              <a:t>, срывам сроков и удорожаниям проектов. </a:t>
            </a:r>
            <a:endParaRPr lang="en-US" sz="2400" dirty="0">
              <a:solidFill>
                <a:srgbClr val="002060"/>
              </a:solidFill>
            </a:endParaRPr>
          </a:p>
          <a:p>
            <a:pPr>
              <a:spcBef>
                <a:spcPts val="600"/>
              </a:spcBef>
            </a:pPr>
            <a:r>
              <a:rPr lang="ru-RU" sz="2400" b="1" i="1" dirty="0">
                <a:solidFill>
                  <a:srgbClr val="002060"/>
                </a:solidFill>
              </a:rPr>
              <a:t>Однозначного и окончательного решения</a:t>
            </a:r>
            <a:r>
              <a:rPr lang="ru-RU" sz="2400" i="1" dirty="0">
                <a:solidFill>
                  <a:srgbClr val="002060"/>
                </a:solidFill>
              </a:rPr>
              <a:t>, позволяющего преодолеть потери и искажения информации при устном обмене сведениями, в настоящий момент </a:t>
            </a:r>
            <a:r>
              <a:rPr lang="ru-RU" sz="2400" b="1" i="1" dirty="0">
                <a:solidFill>
                  <a:srgbClr val="002060"/>
                </a:solidFill>
              </a:rPr>
              <a:t>не существует</a:t>
            </a:r>
            <a:r>
              <a:rPr lang="ru-RU" sz="2400" i="1" dirty="0">
                <a:solidFill>
                  <a:srgbClr val="002060"/>
                </a:solidFill>
              </a:rPr>
              <a:t>.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BDAE2675-3188-1DFD-DA4D-D6A716BA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781A4346-6613-C833-F8D2-077C5A6934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B81D6A01-8688-68D6-31A1-B22910DC382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C2DAC7E6-5C51-73AE-594E-1383DB3C304A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CA1FEC74-AF21-5072-E651-F07F98C85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1.2. Предмет и объект исследования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F0886496-2DDA-0E5C-749E-F70D3905CB19}"/>
              </a:ext>
            </a:extLst>
          </p:cNvPr>
          <p:cNvSpPr txBox="1"/>
          <p:nvPr/>
        </p:nvSpPr>
        <p:spPr>
          <a:xfrm>
            <a:off x="479033" y="1905969"/>
            <a:ext cx="10851900" cy="4240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ru-RU" sz="8000" dirty="0">
                <a:solidFill>
                  <a:srgbClr val="002060"/>
                </a:solidFill>
              </a:rPr>
              <a:t>Поскольку в </a:t>
            </a:r>
            <a:r>
              <a:rPr lang="en-US" sz="8000" dirty="0">
                <a:solidFill>
                  <a:srgbClr val="002060"/>
                </a:solidFill>
              </a:rPr>
              <a:t>Agile</a:t>
            </a:r>
            <a:r>
              <a:rPr lang="ru-RU" sz="8000" i="1" dirty="0">
                <a:solidFill>
                  <a:srgbClr val="002060"/>
                </a:solidFill>
              </a:rPr>
              <a:t>-</a:t>
            </a:r>
            <a:r>
              <a:rPr lang="ru-RU" sz="8000" dirty="0">
                <a:solidFill>
                  <a:srgbClr val="002060"/>
                </a:solidFill>
              </a:rPr>
              <a:t>подходах к разработке ПО отсутствует предварительно согласованное техническое задание разрабатываемого продукта, а требования заказчика скорее носят характер запросов, потребностей или «болей», возникает фокус на </a:t>
            </a:r>
            <a:r>
              <a:rPr lang="ru-RU" sz="8000" b="1" dirty="0">
                <a:solidFill>
                  <a:srgbClr val="002060"/>
                </a:solidFill>
              </a:rPr>
              <a:t>объекте исследования</a:t>
            </a:r>
            <a:r>
              <a:rPr lang="ru-RU" sz="8000" dirty="0">
                <a:solidFill>
                  <a:srgbClr val="002060"/>
                </a:solidFill>
              </a:rPr>
              <a:t>, которым являются </a:t>
            </a:r>
            <a:r>
              <a:rPr lang="ru-RU" sz="8000" b="1" dirty="0">
                <a:solidFill>
                  <a:srgbClr val="002060"/>
                </a:solidFill>
              </a:rPr>
              <a:t>подходы к управлению требованиями при гибкой разработке программного обеспечения.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ru-RU" sz="8000" dirty="0">
                <a:solidFill>
                  <a:srgbClr val="002060"/>
                </a:solidFill>
              </a:rPr>
              <a:t>Теория </a:t>
            </a:r>
            <a:r>
              <a:rPr lang="ru-RU" sz="8000" b="1" dirty="0">
                <a:solidFill>
                  <a:srgbClr val="002060"/>
                </a:solidFill>
              </a:rPr>
              <a:t>нечетких множеств </a:t>
            </a:r>
            <a:r>
              <a:rPr lang="ru-RU" sz="8000" dirty="0">
                <a:solidFill>
                  <a:srgbClr val="002060"/>
                </a:solidFill>
              </a:rPr>
              <a:t>предлагает новый подход к человеческому знанию, сочетая в себе </a:t>
            </a:r>
            <a:r>
              <a:rPr lang="ru-RU" sz="8000" b="1" dirty="0">
                <a:solidFill>
                  <a:srgbClr val="002060"/>
                </a:solidFill>
              </a:rPr>
              <a:t>конкретику математических вычислений </a:t>
            </a:r>
            <a:r>
              <a:rPr lang="ru-RU" sz="8000" dirty="0">
                <a:solidFill>
                  <a:srgbClr val="002060"/>
                </a:solidFill>
              </a:rPr>
              <a:t>с </a:t>
            </a:r>
            <a:r>
              <a:rPr lang="ru-RU" sz="8000" b="1" dirty="0">
                <a:solidFill>
                  <a:srgbClr val="002060"/>
                </a:solidFill>
              </a:rPr>
              <a:t>гибкостью суждений</a:t>
            </a:r>
            <a:r>
              <a:rPr lang="ru-RU" sz="8000" dirty="0">
                <a:solidFill>
                  <a:srgbClr val="002060"/>
                </a:solidFill>
              </a:rPr>
              <a:t>, позволяющую формировать дополнительное </a:t>
            </a:r>
            <a:r>
              <a:rPr lang="ru-RU" sz="8000" b="1" dirty="0">
                <a:solidFill>
                  <a:srgbClr val="002060"/>
                </a:solidFill>
              </a:rPr>
              <a:t>информационное приращение («информационную гранулу»)</a:t>
            </a:r>
            <a:r>
              <a:rPr lang="ru-RU" sz="8000" dirty="0">
                <a:solidFill>
                  <a:srgbClr val="002060"/>
                </a:solidFill>
              </a:rPr>
              <a:t> за счет включения в модель принятия решений не только четкой уверенности, но и сомнений</a:t>
            </a:r>
            <a:r>
              <a:rPr lang="en-US" sz="8000" dirty="0">
                <a:solidFill>
                  <a:srgbClr val="002060"/>
                </a:solidFill>
              </a:rPr>
              <a:t>. </a:t>
            </a:r>
            <a:r>
              <a:rPr lang="ru-RU" sz="8000" dirty="0">
                <a:solidFill>
                  <a:srgbClr val="002060"/>
                </a:solidFill>
              </a:rPr>
              <a:t>Исходя из этого, </a:t>
            </a:r>
            <a:r>
              <a:rPr lang="ru-RU" sz="8000" b="1" dirty="0">
                <a:solidFill>
                  <a:srgbClr val="002060"/>
                </a:solidFill>
              </a:rPr>
              <a:t>теория нечетких множеств </a:t>
            </a:r>
            <a:r>
              <a:rPr lang="ru-RU" sz="8000" dirty="0">
                <a:solidFill>
                  <a:srgbClr val="002060"/>
                </a:solidFill>
              </a:rPr>
              <a:t>и ее математический аппарат, выбраны в качестве </a:t>
            </a:r>
            <a:r>
              <a:rPr lang="ru-RU" sz="8000" b="1" dirty="0">
                <a:solidFill>
                  <a:srgbClr val="002060"/>
                </a:solidFill>
              </a:rPr>
              <a:t>предмета исследования</a:t>
            </a:r>
            <a:r>
              <a:rPr lang="ru-RU" sz="8000" dirty="0">
                <a:solidFill>
                  <a:srgbClr val="002060"/>
                </a:solidFill>
              </a:rPr>
              <a:t> в данной работе.</a:t>
            </a:r>
          </a:p>
          <a:p>
            <a:endParaRPr lang="ru-RU" dirty="0"/>
          </a:p>
          <a:p>
            <a:pPr marL="74772">
              <a:lnSpc>
                <a:spcPct val="105000"/>
              </a:lnSpc>
              <a:buClr>
                <a:srgbClr val="1F3864"/>
              </a:buClr>
              <a:buSzPct val="100000"/>
            </a:pPr>
            <a:endParaRPr lang="ru-RU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66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20E5233D-AE2B-EC45-20D1-730400FF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F09B1AB2-19CB-8183-B50B-0074CD02FA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504A6692-1549-989C-ECB4-3D696D9E639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18A49470-6F81-0C48-5BE5-76C4941E7161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F08D56C5-7D50-E697-A7D9-222B5E99A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1.3. Постановка задачи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C4B36C78-EF6B-705E-F02C-BA9958E3FCA0}"/>
              </a:ext>
            </a:extLst>
          </p:cNvPr>
          <p:cNvSpPr txBox="1"/>
          <p:nvPr/>
        </p:nvSpPr>
        <p:spPr>
          <a:xfrm>
            <a:off x="553387" y="1898153"/>
            <a:ext cx="10851900" cy="397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</a:rPr>
              <a:t>Теория нечетких множеств </a:t>
            </a:r>
            <a:r>
              <a:rPr lang="ru-RU" sz="2000" dirty="0">
                <a:solidFill>
                  <a:srgbClr val="002060"/>
                </a:solidFill>
              </a:rPr>
              <a:t>обладает способностью</a:t>
            </a:r>
            <a:r>
              <a:rPr lang="ru-RU" sz="2000" b="1" dirty="0">
                <a:solidFill>
                  <a:srgbClr val="002060"/>
                </a:solidFill>
              </a:rPr>
              <a:t> формализовывать данные в числовом виде, сокращая потери сведений, </a:t>
            </a:r>
            <a:r>
              <a:rPr lang="ru-RU" sz="2000" dirty="0">
                <a:solidFill>
                  <a:srgbClr val="002060"/>
                </a:solidFill>
              </a:rPr>
              <a:t>содержащихся в лингвистических конструкциях, которые обычная, четкая математика обрабатывать не способна. В данной работе будет рассмотрено решение проблемы сохранения и передачи информации между участниками процесса </a:t>
            </a:r>
            <a:r>
              <a:rPr lang="ru-RU" sz="2000" b="1" dirty="0">
                <a:solidFill>
                  <a:srgbClr val="002060"/>
                </a:solidFill>
              </a:rPr>
              <a:t>в управлении требованиями при гибкой разработке ПО</a:t>
            </a:r>
            <a:r>
              <a:rPr lang="ru-RU" sz="2000" dirty="0">
                <a:solidFill>
                  <a:srgbClr val="002060"/>
                </a:solidFill>
              </a:rPr>
              <a:t>, когда полученные оценки и суждения должны быть представлены и обработаны насколько возможно точно, при этом сохраняя гибкость тех формулировок, которые были изначально озвучены стейкхолдерами. </a:t>
            </a:r>
            <a:endParaRPr lang="en-US" sz="2000" dirty="0">
              <a:solidFill>
                <a:srgbClr val="002060"/>
              </a:solidFill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ru-RU" sz="2000" dirty="0">
                <a:solidFill>
                  <a:srgbClr val="002060"/>
                </a:solidFill>
              </a:rPr>
              <a:t>Сохраняя все преимущества математических вычислений, </a:t>
            </a:r>
            <a:r>
              <a:rPr lang="ru-RU" sz="2000" b="1" dirty="0">
                <a:solidFill>
                  <a:srgbClr val="002060"/>
                </a:solidFill>
              </a:rPr>
              <a:t>результат нечеткого моделирования в наглядном виде может быть сравним с четкой моделью</a:t>
            </a:r>
            <a:r>
              <a:rPr lang="ru-RU" sz="2000" dirty="0">
                <a:solidFill>
                  <a:srgbClr val="002060"/>
                </a:solidFill>
              </a:rPr>
              <a:t>, что позволит сделать выводы о целесообразности применения данного методического подхода в </a:t>
            </a:r>
            <a:r>
              <a:rPr lang="en-US" sz="2000" dirty="0">
                <a:solidFill>
                  <a:srgbClr val="002060"/>
                </a:solidFill>
              </a:rPr>
              <a:t>Agile</a:t>
            </a:r>
            <a:r>
              <a:rPr lang="ru-RU" sz="2000" dirty="0">
                <a:solidFill>
                  <a:srgbClr val="002060"/>
                </a:solidFill>
              </a:rPr>
              <a:t>-разработке и дальнейших исследованиях по данной теме.</a:t>
            </a:r>
          </a:p>
        </p:txBody>
      </p:sp>
    </p:spTree>
    <p:extLst>
      <p:ext uri="{BB962C8B-B14F-4D97-AF65-F5344CB8AC3E}">
        <p14:creationId xmlns:p14="http://schemas.microsoft.com/office/powerpoint/2010/main" val="1243256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B8C49A36-41F8-860F-D6B6-F0365395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C331D1C8-99C6-C084-8EA0-5689687BF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67B16452-54A1-00F4-BDDE-9A7A5E603EA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7FFC47CB-AA24-BB92-4B8A-D775A9D0FC29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58A41CF1-E856-ADBF-3876-2AE1763BBAA3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2. Ключевые слова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3. Цель работы, исследовательские вопросы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4. Задачи работы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5. Ожидаемые результаты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6. Применяемые методы (подходы)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674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CF172071-4137-E274-C319-C2C84830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5D8A3C14-FBE1-54F3-5C7B-5425E78A6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5D333400-6601-C951-3970-20728DA2AE4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10E4B763-D5EF-02FB-A394-5EDC9CECF83A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B4B8352D-8180-EE85-0231-E918F806CC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2. Ключевые слова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6C485F59-6341-585B-6817-4BD52C5ED506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гибкая разработка ПО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</a:rPr>
              <a:t>Agile</a:t>
            </a:r>
            <a:r>
              <a:rPr lang="ru-RU" sz="2800" dirty="0">
                <a:solidFill>
                  <a:srgbClr val="002060"/>
                </a:solidFill>
              </a:rPr>
              <a:t>-методология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сбор требований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формализация требований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приоритизация требований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нечеткие множества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нечеткие числа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err="1">
                <a:solidFill>
                  <a:srgbClr val="002060"/>
                </a:solidFill>
              </a:rPr>
              <a:t>дефаззификация</a:t>
            </a:r>
            <a:r>
              <a:rPr lang="ru-RU" sz="2800" dirty="0">
                <a:solidFill>
                  <a:srgbClr val="002060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2060"/>
                </a:solidFill>
              </a:rPr>
              <a:t>оценки стейкхолдеров</a:t>
            </a:r>
          </a:p>
          <a:p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72876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9E137046-72BB-AAAD-19C3-993D7406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79FDCBAF-953D-342C-C285-4339FB247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30308348-C169-99FE-CE09-273E8598770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19DF0F02-EF3B-8C00-E647-F4752FA4A269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F59A74CA-97EB-5FE5-C3B1-9A5AC63A4242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3. Цель работы, исследовательские вопросы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4. Задачи работы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5. Ожидаемые результаты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6. Применяемые методы (подходы)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832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D7FAC398-30A7-D614-F93F-8DC5E1F1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2B5BC410-68EC-C773-F824-D31542FAF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39D75DA7-B5F1-9F01-6E40-4B25669B65C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E2E92290-3436-91B9-3EE9-69BB12B78BBF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90BF2F4A-0822-79C6-085D-B2B89617BF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3.1. Цель работы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838A5A19-370C-B11D-77F1-E01FDA23BEF7}"/>
              </a:ext>
            </a:extLst>
          </p:cNvPr>
          <p:cNvSpPr txBox="1"/>
          <p:nvPr/>
        </p:nvSpPr>
        <p:spPr>
          <a:xfrm>
            <a:off x="553387" y="1893824"/>
            <a:ext cx="10851900" cy="442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772">
              <a:lnSpc>
                <a:spcPct val="115000"/>
              </a:lnSpc>
              <a:buClr>
                <a:srgbClr val="1F3864"/>
              </a:buClr>
              <a:buSzPct val="100000"/>
            </a:pPr>
            <a:r>
              <a:rPr lang="ru-RU" sz="2800" dirty="0">
                <a:solidFill>
                  <a:srgbClr val="002060"/>
                </a:solidFill>
              </a:rPr>
              <a:t>Целью данной работы является </a:t>
            </a:r>
            <a:r>
              <a:rPr lang="ru-RU" sz="2800" b="1" dirty="0">
                <a:solidFill>
                  <a:srgbClr val="002060"/>
                </a:solidFill>
              </a:rPr>
              <a:t>исследование и анализ результатов</a:t>
            </a:r>
            <a:r>
              <a:rPr lang="ru-RU" sz="2800" dirty="0">
                <a:solidFill>
                  <a:srgbClr val="002060"/>
                </a:solidFill>
              </a:rPr>
              <a:t> применения </a:t>
            </a:r>
            <a:r>
              <a:rPr lang="ru-RU" sz="2800" b="1" dirty="0">
                <a:solidFill>
                  <a:srgbClr val="002060"/>
                </a:solidFill>
              </a:rPr>
              <a:t>нечеткого подхода </a:t>
            </a:r>
            <a:r>
              <a:rPr lang="ru-RU" sz="2800" dirty="0">
                <a:solidFill>
                  <a:srgbClr val="002060"/>
                </a:solidFill>
              </a:rPr>
              <a:t>к </a:t>
            </a:r>
            <a:r>
              <a:rPr lang="ru-RU" sz="2800" b="1" dirty="0">
                <a:solidFill>
                  <a:srgbClr val="002060"/>
                </a:solidFill>
              </a:rPr>
              <a:t>процессу управления требованиями</a:t>
            </a:r>
            <a:r>
              <a:rPr lang="ru-RU" sz="2800" dirty="0">
                <a:solidFill>
                  <a:srgbClr val="002060"/>
                </a:solidFill>
              </a:rPr>
              <a:t> </a:t>
            </a:r>
            <a:r>
              <a:rPr lang="ru-RU" sz="2800" b="1" dirty="0">
                <a:solidFill>
                  <a:srgbClr val="002060"/>
                </a:solidFill>
              </a:rPr>
              <a:t>при гибкой разработке программного обеспечения</a:t>
            </a:r>
          </a:p>
          <a:p>
            <a:pPr marL="74772">
              <a:lnSpc>
                <a:spcPct val="115000"/>
              </a:lnSpc>
              <a:buClr>
                <a:srgbClr val="1F3864"/>
              </a:buClr>
              <a:buSzPct val="100000"/>
            </a:pPr>
            <a:endParaRPr lang="ru-RU" sz="2800" dirty="0">
              <a:solidFill>
                <a:srgbClr val="FF0000"/>
              </a:solidFill>
            </a:endParaRPr>
          </a:p>
          <a:p>
            <a:pPr marL="74772">
              <a:lnSpc>
                <a:spcPct val="115000"/>
              </a:lnSpc>
              <a:buClr>
                <a:srgbClr val="1F3864"/>
              </a:buClr>
              <a:buSzPct val="100000"/>
            </a:pPr>
            <a:endParaRPr lang="ru-R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649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A5108D9A-37E4-8448-E884-128306B4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85AB66B5-F99E-76A6-8304-C22EC7218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A9C297D7-1C5E-5CF8-5244-5A96A8A75AF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0563F39B-B6E1-0946-F84D-544B2CA84197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3657ABDC-7662-6812-1DE1-782DC2A0F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3.2. Исследовательские вопросы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436B77D0-00C7-D91D-6D01-E47D6DEF5CD4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solidFill>
                  <a:srgbClr val="002060"/>
                </a:solidFill>
              </a:rPr>
              <a:t>В чем </a:t>
            </a:r>
            <a:r>
              <a:rPr lang="ru-RU" sz="2400" b="1" dirty="0">
                <a:solidFill>
                  <a:srgbClr val="002060"/>
                </a:solidFill>
              </a:rPr>
              <a:t>специфика и сложность работы с требованиями</a:t>
            </a:r>
            <a:r>
              <a:rPr lang="ru-RU" sz="2400" dirty="0">
                <a:solidFill>
                  <a:srgbClr val="002060"/>
                </a:solidFill>
              </a:rPr>
              <a:t> в гибкой разработке программного обеспечения по сравнению с традиционной?</a:t>
            </a:r>
          </a:p>
          <a:p>
            <a:pPr marL="457200" lvl="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solidFill>
                  <a:srgbClr val="002060"/>
                </a:solidFill>
              </a:rPr>
              <a:t>Какие </a:t>
            </a:r>
            <a:r>
              <a:rPr lang="ru-RU" sz="2400" b="1" dirty="0">
                <a:solidFill>
                  <a:srgbClr val="002060"/>
                </a:solidFill>
              </a:rPr>
              <a:t>области управления требованиями</a:t>
            </a:r>
            <a:r>
              <a:rPr lang="ru-RU" sz="2400" dirty="0">
                <a:solidFill>
                  <a:srgbClr val="002060"/>
                </a:solidFill>
              </a:rPr>
              <a:t> при разработке ПО можно формализовать с использованием нечеткого подхода без потери гибкости и противоречия принципам </a:t>
            </a:r>
            <a:r>
              <a:rPr lang="en-US" sz="2400" dirty="0">
                <a:solidFill>
                  <a:srgbClr val="002060"/>
                </a:solidFill>
              </a:rPr>
              <a:t>Agile</a:t>
            </a:r>
            <a:r>
              <a:rPr lang="ru-RU" sz="2400" dirty="0">
                <a:solidFill>
                  <a:srgbClr val="002060"/>
                </a:solidFill>
              </a:rPr>
              <a:t>?</a:t>
            </a:r>
          </a:p>
          <a:p>
            <a:pPr marL="457200" lvl="0" indent="-45720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b="1" dirty="0">
                <a:solidFill>
                  <a:srgbClr val="002060"/>
                </a:solidFill>
              </a:rPr>
              <a:t>Позволяет ли нечеткое моделирование предоставить больше информации о требованиях при гибкой разработке ПО?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27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015138A0-8957-938A-80FE-46C30D32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E51C4016-4119-A44D-2454-8D56617D1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EBA1086D-54F8-4BAD-3E26-138202BCB5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3ADC6C25-4604-81EB-4D9D-EEBFBF9B31B6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BAFEF820-6C94-D309-BC79-C452D8E41216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4. Задачи работы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5. Ожидаемые результаты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6. Применяемые методы (подходы)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433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41F88A3A-A1C7-AB77-4548-79348575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BBFD6CAC-978B-E890-21EE-9358B06647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A88F52FF-1EFC-40C0-C0A3-4C61070DA36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2C5F555D-2D1C-C4E1-6BFB-777A96C642F2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A7F65F87-79FE-A05C-EF44-03A7E9CE30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4. Задачи работы. Часть </a:t>
            </a:r>
            <a:r>
              <a:rPr lang="en-US" sz="3200" b="1" dirty="0">
                <a:solidFill>
                  <a:srgbClr val="102D69"/>
                </a:solidFill>
              </a:rPr>
              <a:t>I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6C4B834B-DD3D-8C63-F1DC-3596C5DBBA2F}"/>
              </a:ext>
            </a:extLst>
          </p:cNvPr>
          <p:cNvSpPr txBox="1"/>
          <p:nvPr/>
        </p:nvSpPr>
        <p:spPr>
          <a:xfrm>
            <a:off x="553375" y="1745225"/>
            <a:ext cx="11019032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</a:rPr>
              <a:t>1. Изучить статьи и регламентирующие документы</a:t>
            </a:r>
            <a:r>
              <a:rPr lang="ru-RU" sz="2000" dirty="0">
                <a:solidFill>
                  <a:srgbClr val="002060"/>
                </a:solidFill>
              </a:rPr>
              <a:t> по теме исследования. Выполнить сравнительный анализ особенностей и отличий данных подходов к разработке ПО.</a:t>
            </a:r>
          </a:p>
          <a:p>
            <a:pPr lvl="0"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</a:rPr>
              <a:t>2. Рассмотреть этапы управления требованиями</a:t>
            </a:r>
            <a:r>
              <a:rPr lang="ru-RU" sz="2000" dirty="0">
                <a:solidFill>
                  <a:srgbClr val="002060"/>
                </a:solidFill>
              </a:rPr>
              <a:t>. Отметить те, где возможно применение теории нечетких множеств. Объяснить, почему именно на этих этапах планируется использовать нечеткий подход. </a:t>
            </a:r>
          </a:p>
          <a:p>
            <a:pPr lvl="0"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</a:rPr>
              <a:t>3. Описать существующие методы приоритизации требований</a:t>
            </a:r>
            <a:r>
              <a:rPr lang="ru-RU" sz="2000" dirty="0">
                <a:solidFill>
                  <a:srgbClr val="002060"/>
                </a:solidFill>
              </a:rPr>
              <a:t>. Изучить подходы к коллективной приоритизации, когда команда: достигла консенсуса, частично пришла к консенсусу, не пришла к консенсусу. Выбрать метод приоритизации, который будет использован в ходе данного исследования.</a:t>
            </a:r>
          </a:p>
          <a:p>
            <a:pPr lvl="0"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</a:rPr>
              <a:t>4. Представить ключевые аспекты теории нечетких множеств</a:t>
            </a:r>
            <a:r>
              <a:rPr lang="ru-RU" sz="2000" dirty="0">
                <a:solidFill>
                  <a:srgbClr val="002060"/>
                </a:solidFill>
              </a:rPr>
              <a:t>. Отметить виды нечетких множеств и обоснование выбора типов, которые будут использоваться в работе.</a:t>
            </a:r>
          </a:p>
        </p:txBody>
      </p:sp>
    </p:spTree>
    <p:extLst>
      <p:ext uri="{BB962C8B-B14F-4D97-AF65-F5344CB8AC3E}">
        <p14:creationId xmlns:p14="http://schemas.microsoft.com/office/powerpoint/2010/main" val="209198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1550125F-478E-6AF8-F0F9-B1CF86E0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C24CD04D-0CC3-EC03-9B18-2B45FBA96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2BA0FB4D-9F2B-39A9-A342-F3FC8071F9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0265CE5C-1D23-4CD6-4E0C-C2E8E26DE945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188A52B2-D16A-6A6A-C096-FFD0D3833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4. Задачи работы. Часть </a:t>
            </a:r>
            <a:r>
              <a:rPr lang="en-US" sz="3200" b="1" dirty="0">
                <a:solidFill>
                  <a:srgbClr val="102D69"/>
                </a:solidFill>
              </a:rPr>
              <a:t>II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4F0F89A1-ED2A-0936-00C8-0AC7F37C6BF6}"/>
              </a:ext>
            </a:extLst>
          </p:cNvPr>
          <p:cNvSpPr txBox="1"/>
          <p:nvPr/>
        </p:nvSpPr>
        <p:spPr>
          <a:xfrm>
            <a:off x="553387" y="1897068"/>
            <a:ext cx="10703192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</a:rPr>
              <a:t>5. На этапах управления требованиями</a:t>
            </a:r>
            <a:r>
              <a:rPr lang="ru-RU" sz="2000" dirty="0">
                <a:solidFill>
                  <a:srgbClr val="002060"/>
                </a:solidFill>
              </a:rPr>
              <a:t>, в которых отмечена целесообразность нечеткого моделирования, </a:t>
            </a:r>
            <a:r>
              <a:rPr lang="ru-RU" sz="2000" b="1" dirty="0">
                <a:solidFill>
                  <a:srgbClr val="002060"/>
                </a:solidFill>
              </a:rPr>
              <a:t>определить</a:t>
            </a:r>
            <a:r>
              <a:rPr lang="ru-RU" sz="2000" dirty="0">
                <a:solidFill>
                  <a:srgbClr val="002060"/>
                </a:solidFill>
              </a:rPr>
              <a:t> </a:t>
            </a:r>
            <a:r>
              <a:rPr lang="ru-RU" sz="2000" b="1" dirty="0">
                <a:solidFill>
                  <a:srgbClr val="002060"/>
                </a:solidFill>
              </a:rPr>
              <a:t>механизм применения нечетких множеств.</a:t>
            </a:r>
            <a:endParaRPr lang="ru-RU" sz="2000" dirty="0">
              <a:solidFill>
                <a:srgbClr val="002060"/>
              </a:solidFill>
            </a:endParaRPr>
          </a:p>
          <a:p>
            <a:pPr marL="285750" lvl="3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</a:rPr>
              <a:t>В сборе требований рассмотреть процесс формализации требований</a:t>
            </a:r>
            <a:r>
              <a:rPr lang="ru-RU" sz="2000" dirty="0">
                <a:solidFill>
                  <a:srgbClr val="002060"/>
                </a:solidFill>
              </a:rPr>
              <a:t> для включения в бэклог разработки. </a:t>
            </a:r>
          </a:p>
          <a:p>
            <a:pPr marL="285750" lvl="3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</a:rPr>
              <a:t>В процессе приоритизации требований </a:t>
            </a:r>
            <a:r>
              <a:rPr lang="ru-RU" sz="2000" dirty="0">
                <a:solidFill>
                  <a:srgbClr val="002060"/>
                </a:solidFill>
              </a:rPr>
              <a:t>будет рассмотрен нечеткий подход и его сравнение с традиционным (четким) подходом.</a:t>
            </a:r>
          </a:p>
          <a:p>
            <a:pPr lvl="2"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</a:rPr>
              <a:t>6. </a:t>
            </a:r>
            <a:r>
              <a:rPr lang="ru-RU" sz="2000" dirty="0">
                <a:solidFill>
                  <a:srgbClr val="002060"/>
                </a:solidFill>
              </a:rPr>
              <a:t>Сделать </a:t>
            </a:r>
            <a:r>
              <a:rPr lang="ru-RU" sz="2000" b="1" dirty="0">
                <a:solidFill>
                  <a:srgbClr val="002060"/>
                </a:solidFill>
              </a:rPr>
              <a:t>выводы о целесообразности применения</a:t>
            </a:r>
            <a:r>
              <a:rPr lang="ru-RU" sz="2000" dirty="0">
                <a:solidFill>
                  <a:srgbClr val="002060"/>
                </a:solidFill>
              </a:rPr>
              <a:t> теории нечетких множеств к управлению требованиями в </a:t>
            </a:r>
            <a:r>
              <a:rPr lang="en-US" sz="2000" dirty="0">
                <a:solidFill>
                  <a:srgbClr val="002060"/>
                </a:solidFill>
              </a:rPr>
              <a:t>Agile</a:t>
            </a:r>
            <a:r>
              <a:rPr lang="ru-RU" sz="2000" dirty="0">
                <a:solidFill>
                  <a:srgbClr val="002060"/>
                </a:solidFill>
              </a:rPr>
              <a:t>-разработке.</a:t>
            </a:r>
          </a:p>
          <a:p>
            <a:pPr lvl="0"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</a:rPr>
              <a:t>7. </a:t>
            </a:r>
            <a:r>
              <a:rPr lang="ru-RU" sz="2000" dirty="0">
                <a:solidFill>
                  <a:srgbClr val="002060"/>
                </a:solidFill>
              </a:rPr>
              <a:t>Дать </a:t>
            </a:r>
            <a:r>
              <a:rPr lang="ru-RU" sz="2000" b="1" dirty="0">
                <a:solidFill>
                  <a:srgbClr val="002060"/>
                </a:solidFill>
              </a:rPr>
              <a:t>рекомендации и сформулировать вывод</a:t>
            </a:r>
            <a:r>
              <a:rPr lang="ru-RU" sz="2000" dirty="0">
                <a:solidFill>
                  <a:srgbClr val="002060"/>
                </a:solidFill>
              </a:rPr>
              <a:t> о возможных дальнейших направлениях исследований.</a:t>
            </a:r>
          </a:p>
        </p:txBody>
      </p:sp>
    </p:spTree>
    <p:extLst>
      <p:ext uri="{BB962C8B-B14F-4D97-AF65-F5344CB8AC3E}">
        <p14:creationId xmlns:p14="http://schemas.microsoft.com/office/powerpoint/2010/main" val="2865467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050DEFD-0DCB-A79E-432E-3A1B89A7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F26A9063-DA90-C85D-E9F9-AAD63EFCA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8D9138E2-7A3A-DA9A-890A-40531CC8D59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5F9846A0-FBC7-92C4-0CF0-FB8B5412D394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07E894B9-085A-C91F-438F-A58D20F65136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4. Задачи работы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5. Ожидаемые результаты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6. Применяемые методы (подходы)</a:t>
            </a:r>
            <a:endParaRPr sz="2400" dirty="0">
              <a:solidFill>
                <a:srgbClr val="000000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175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DDFCA3F3-B343-2090-0818-F3C6C6C3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C7B94318-D28C-4F3A-FEC7-562AD407AA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9C2A4DB8-AA29-56A5-4AE9-4CB4FBFD259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0EE9F64C-3684-915A-319B-469BEBECC871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8CD7BBDF-A7CB-904C-4882-F975E1287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5. Ожидаемые результаты. Часть </a:t>
            </a:r>
            <a:r>
              <a:rPr lang="en-US" sz="3200" b="1" dirty="0">
                <a:solidFill>
                  <a:srgbClr val="102D69"/>
                </a:solidFill>
              </a:rPr>
              <a:t>I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EEE1F05A-9FE9-7C5E-28F5-BEDF69D3D720}"/>
              </a:ext>
            </a:extLst>
          </p:cNvPr>
          <p:cNvSpPr txBox="1"/>
          <p:nvPr/>
        </p:nvSpPr>
        <p:spPr>
          <a:xfrm>
            <a:off x="553387" y="1867088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0363" lvl="0" indent="-360363"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</a:rPr>
              <a:t>1. </a:t>
            </a:r>
            <a:r>
              <a:rPr lang="ru-RU" sz="2400" dirty="0">
                <a:solidFill>
                  <a:srgbClr val="002060"/>
                </a:solidFill>
              </a:rPr>
              <a:t>Выполнен </a:t>
            </a:r>
            <a:r>
              <a:rPr lang="ru-RU" sz="2400" b="1" dirty="0">
                <a:solidFill>
                  <a:srgbClr val="002060"/>
                </a:solidFill>
              </a:rPr>
              <a:t>сравнительный анализ подходов к управлению требованиями </a:t>
            </a:r>
            <a:r>
              <a:rPr lang="ru-RU" sz="2400" dirty="0">
                <a:solidFill>
                  <a:srgbClr val="002060"/>
                </a:solidFill>
              </a:rPr>
              <a:t>в гибком и традиционном подходе к разработке ПО.</a:t>
            </a:r>
          </a:p>
          <a:p>
            <a:pPr marL="360363" lvl="0" indent="-360363"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</a:rPr>
              <a:t>2. </a:t>
            </a:r>
            <a:r>
              <a:rPr lang="ru-RU" sz="2400" dirty="0">
                <a:solidFill>
                  <a:srgbClr val="002060"/>
                </a:solidFill>
              </a:rPr>
              <a:t>Описаны </a:t>
            </a:r>
            <a:r>
              <a:rPr lang="ru-RU" sz="2400" b="1" dirty="0">
                <a:solidFill>
                  <a:srgbClr val="002060"/>
                </a:solidFill>
              </a:rPr>
              <a:t>этапы гибкого управления требований </a:t>
            </a:r>
            <a:r>
              <a:rPr lang="ru-RU" sz="2400" dirty="0">
                <a:solidFill>
                  <a:srgbClr val="002060"/>
                </a:solidFill>
              </a:rPr>
              <a:t>и даны рекомендации по применением нечеткого подхода к тем разделам, где он целесообразен.</a:t>
            </a:r>
          </a:p>
          <a:p>
            <a:pPr marL="360363" lvl="0" indent="-360363"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</a:rPr>
              <a:t>3. </a:t>
            </a:r>
            <a:r>
              <a:rPr lang="ru-RU" sz="2400" dirty="0">
                <a:solidFill>
                  <a:srgbClr val="002060"/>
                </a:solidFill>
              </a:rPr>
              <a:t>Выполнены </a:t>
            </a:r>
            <a:r>
              <a:rPr lang="ru-RU" sz="2400" b="1" dirty="0">
                <a:solidFill>
                  <a:srgbClr val="002060"/>
                </a:solidFill>
              </a:rPr>
              <a:t>описания методов приоритизации требований </a:t>
            </a:r>
            <a:r>
              <a:rPr lang="ru-RU" sz="2400" dirty="0">
                <a:solidFill>
                  <a:srgbClr val="002060"/>
                </a:solidFill>
              </a:rPr>
              <a:t>при коллективном принятии решений и изложены методические подходы к задаче принятия коллективных решений при отсутствии начального полного консенсуса.</a:t>
            </a:r>
          </a:p>
        </p:txBody>
      </p:sp>
    </p:spTree>
    <p:extLst>
      <p:ext uri="{BB962C8B-B14F-4D97-AF65-F5344CB8AC3E}">
        <p14:creationId xmlns:p14="http://schemas.microsoft.com/office/powerpoint/2010/main" val="1981734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7BA4CD59-B4EA-250B-9025-2D8F97452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EE1EF904-FDA2-341F-3D05-D784258A2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B11AE7AD-3AD8-1100-6CB6-11FA6A4B9C0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E32134F6-1033-D303-82BB-2096E73AC059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A53271C1-C426-E514-D811-5E2F42D8BB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5. Ожидаемые результаты</a:t>
            </a:r>
            <a:r>
              <a:rPr lang="en-US" sz="3200" b="1" dirty="0">
                <a:solidFill>
                  <a:srgbClr val="102D69"/>
                </a:solidFill>
              </a:rPr>
              <a:t>. </a:t>
            </a:r>
            <a:r>
              <a:rPr lang="ru-RU" sz="3200" b="1" dirty="0">
                <a:solidFill>
                  <a:srgbClr val="102D69"/>
                </a:solidFill>
              </a:rPr>
              <a:t>Часть </a:t>
            </a:r>
            <a:r>
              <a:rPr lang="en-US" sz="3200" b="1" dirty="0">
                <a:solidFill>
                  <a:srgbClr val="102D69"/>
                </a:solidFill>
              </a:rPr>
              <a:t>II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BB6A3CD0-08A0-76A8-7D86-BF7A88E6F727}"/>
              </a:ext>
            </a:extLst>
          </p:cNvPr>
          <p:cNvSpPr txBox="1"/>
          <p:nvPr/>
        </p:nvSpPr>
        <p:spPr>
          <a:xfrm>
            <a:off x="553387" y="1898153"/>
            <a:ext cx="10509366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0363" lvl="0" indent="-360363"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</a:rPr>
              <a:t>4. </a:t>
            </a:r>
            <a:r>
              <a:rPr lang="ru-RU" sz="2400" dirty="0">
                <a:solidFill>
                  <a:srgbClr val="002060"/>
                </a:solidFill>
              </a:rPr>
              <a:t>Сформулированы </a:t>
            </a:r>
            <a:r>
              <a:rPr lang="ru-RU" sz="2400" b="1" dirty="0">
                <a:solidFill>
                  <a:srgbClr val="002060"/>
                </a:solidFill>
              </a:rPr>
              <a:t>методологические подходы применения теории нечетких множеств в процессе формализации и приоритизации требований</a:t>
            </a:r>
            <a:r>
              <a:rPr lang="ru-RU" sz="2400" dirty="0">
                <a:solidFill>
                  <a:srgbClr val="002060"/>
                </a:solidFill>
              </a:rPr>
              <a:t> к разрабатываемому ПО.</a:t>
            </a:r>
          </a:p>
          <a:p>
            <a:pPr marL="360363" lvl="0" indent="-360363"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</a:rPr>
              <a:t>5. </a:t>
            </a:r>
            <a:r>
              <a:rPr lang="ru-RU" sz="2400" dirty="0">
                <a:solidFill>
                  <a:srgbClr val="002060"/>
                </a:solidFill>
              </a:rPr>
              <a:t>Выполнено обоснование </a:t>
            </a:r>
            <a:r>
              <a:rPr lang="ru-RU" sz="2400" b="1" dirty="0">
                <a:solidFill>
                  <a:srgbClr val="002060"/>
                </a:solidFill>
              </a:rPr>
              <a:t>целесообразности применение нечеткого подхода в процессе управления требованиями</a:t>
            </a:r>
            <a:r>
              <a:rPr lang="ru-RU" sz="2400" dirty="0">
                <a:solidFill>
                  <a:srgbClr val="002060"/>
                </a:solidFill>
              </a:rPr>
              <a:t> в виде сравнения результатов нечетких вычислений и традиционного, четкого подхода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  <a:endParaRPr lang="ru-RU" sz="2400" dirty="0">
              <a:solidFill>
                <a:srgbClr val="002060"/>
              </a:solidFill>
            </a:endParaRPr>
          </a:p>
          <a:p>
            <a:pPr marL="360363" lvl="0" indent="-360363">
              <a:spcAft>
                <a:spcPts val="600"/>
              </a:spcAft>
            </a:pPr>
            <a:r>
              <a:rPr lang="en-US" sz="2400" dirty="0">
                <a:solidFill>
                  <a:srgbClr val="002060"/>
                </a:solidFill>
              </a:rPr>
              <a:t>6. </a:t>
            </a:r>
            <a:r>
              <a:rPr lang="ru-RU" sz="2400" dirty="0">
                <a:solidFill>
                  <a:srgbClr val="002060"/>
                </a:solidFill>
              </a:rPr>
              <a:t>Отмечены возможные </a:t>
            </a:r>
            <a:r>
              <a:rPr lang="ru-RU" sz="2400" b="1" dirty="0">
                <a:solidFill>
                  <a:srgbClr val="002060"/>
                </a:solidFill>
              </a:rPr>
              <a:t>дальнейшие направления исследований</a:t>
            </a:r>
            <a:r>
              <a:rPr lang="ru-RU" sz="2400" dirty="0">
                <a:solidFill>
                  <a:srgbClr val="002060"/>
                </a:solidFill>
              </a:rPr>
              <a:t> применения теории нечетких множеств в </a:t>
            </a:r>
            <a:r>
              <a:rPr lang="en-US" sz="2400" dirty="0">
                <a:solidFill>
                  <a:srgbClr val="002060"/>
                </a:solidFill>
              </a:rPr>
              <a:t>Agile</a:t>
            </a:r>
            <a:r>
              <a:rPr lang="ru-RU" sz="2400" dirty="0">
                <a:solidFill>
                  <a:srgbClr val="002060"/>
                </a:solidFill>
              </a:rPr>
              <a:t>-методологиях, инженерии требований и других направлениях</a:t>
            </a:r>
            <a:r>
              <a:rPr lang="en-US" sz="2400" dirty="0">
                <a:solidFill>
                  <a:srgbClr val="002060"/>
                </a:solidFill>
              </a:rPr>
              <a:t>.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759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65B007BC-3972-BB9B-1823-E9C07A31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5B8F1360-2917-8E00-72D7-7A627F83A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9673C9B0-027F-C411-A02C-4C65A2FD1EA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9E1578B6-10DB-1760-7DE1-7AA60A3AF332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EC13A764-D3F9-7886-70F4-648132F6185A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4. Задачи работы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5. Ожидаемые результаты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6. Применяемые методы (подходы)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3402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1DBAB375-DAD2-E511-D7AE-D0C36B5A7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AFCEF295-D393-EBD6-EE84-0B4D2554B8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5C4241C3-0E6F-7645-01AF-8783F0D2A7B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73794F5D-17EF-2C63-959A-6105E904ABD4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FC889D27-FCA2-2C11-E618-3A60E42379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6. Применяемые методы (подходы)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AD5AC2C7-0804-8CCF-196C-52C6FD5AF23F}"/>
              </a:ext>
            </a:extLst>
          </p:cNvPr>
          <p:cNvSpPr txBox="1"/>
          <p:nvPr/>
        </p:nvSpPr>
        <p:spPr>
          <a:xfrm>
            <a:off x="553387" y="1852098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Для выполнения расчетов будет использован аппарат </a:t>
            </a:r>
            <a:r>
              <a:rPr lang="ru-RU" sz="2400" b="1" dirty="0">
                <a:solidFill>
                  <a:srgbClr val="002060"/>
                </a:solidFill>
              </a:rPr>
              <a:t>нечетких множеств</a:t>
            </a:r>
            <a:r>
              <a:rPr lang="ru-RU" sz="2400" dirty="0">
                <a:solidFill>
                  <a:srgbClr val="002060"/>
                </a:solidFill>
              </a:rPr>
              <a:t>, для </a:t>
            </a:r>
            <a:r>
              <a:rPr lang="ru-RU" sz="2400" dirty="0" err="1">
                <a:solidFill>
                  <a:srgbClr val="002060"/>
                </a:solidFill>
              </a:rPr>
              <a:t>д</a:t>
            </a:r>
            <a:r>
              <a:rPr lang="ru-RU" sz="2400" b="1" dirty="0" err="1">
                <a:solidFill>
                  <a:srgbClr val="002060"/>
                </a:solidFill>
              </a:rPr>
              <a:t>ефаззификации</a:t>
            </a:r>
            <a:r>
              <a:rPr lang="ru-RU" sz="2400" dirty="0">
                <a:solidFill>
                  <a:srgbClr val="002060"/>
                </a:solidFill>
              </a:rPr>
              <a:t> нечетких результатов планируется применение </a:t>
            </a:r>
            <a:r>
              <a:rPr lang="en-US" sz="2400" b="1" dirty="0">
                <a:solidFill>
                  <a:srgbClr val="002060"/>
                </a:solidFill>
              </a:rPr>
              <a:t>α</a:t>
            </a:r>
            <a:r>
              <a:rPr lang="ru-RU" sz="2400" b="1" dirty="0">
                <a:solidFill>
                  <a:srgbClr val="002060"/>
                </a:solidFill>
              </a:rPr>
              <a:t>-срезов</a:t>
            </a:r>
            <a:endParaRPr lang="ru-RU" sz="2400" dirty="0">
              <a:solidFill>
                <a:srgbClr val="002060"/>
              </a:solidFill>
            </a:endParaRPr>
          </a:p>
          <a:p>
            <a:r>
              <a:rPr lang="ru-RU" sz="2400" dirty="0">
                <a:solidFill>
                  <a:srgbClr val="002060"/>
                </a:solidFill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2060"/>
                </a:solidFill>
              </a:rPr>
              <a:t>Выбор </a:t>
            </a:r>
            <a:r>
              <a:rPr lang="ru-RU" sz="2400" b="1" dirty="0">
                <a:solidFill>
                  <a:srgbClr val="002060"/>
                </a:solidFill>
              </a:rPr>
              <a:t>метода приоритизации требований </a:t>
            </a:r>
            <a:r>
              <a:rPr lang="ru-RU" sz="2400" dirty="0">
                <a:solidFill>
                  <a:srgbClr val="002060"/>
                </a:solidFill>
              </a:rPr>
              <a:t>будет сделан в теоретической части работы </a:t>
            </a:r>
          </a:p>
        </p:txBody>
      </p:sp>
    </p:spTree>
    <p:extLst>
      <p:ext uri="{BB962C8B-B14F-4D97-AF65-F5344CB8AC3E}">
        <p14:creationId xmlns:p14="http://schemas.microsoft.com/office/powerpoint/2010/main" val="1765057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E512ADFC-4DED-777F-46B8-39075EF4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0898E575-DF26-E34A-A7F7-7D96A346B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9ECD5C18-EFD0-640D-1E59-ECD5EB6B4DD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8ECA4356-2B28-90A3-F180-377D7E7D9209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27900E28-56C5-34D4-4686-D8579BBA9129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4. Задачи работы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5. Ожидаемые результаты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6. Применяемые методы (подходы)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8. Дополнение</a:t>
            </a:r>
            <a:endParaRPr sz="2400" dirty="0">
              <a:solidFill>
                <a:srgbClr val="102D69">
                  <a:alpha val="57000"/>
                </a:srgbClr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6564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A3010CB9-7286-722A-BA86-709F2D8B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067989FC-8F5F-4306-08D0-D0DEE4F38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02F01219-F8AD-7E0E-62CD-53E4B644A29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0723B8C6-F956-C7D9-5C8E-12DD97587F65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6DBEC3A8-D8EF-337E-BE81-9CE6527F7D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7. Используемые инструменты (технологии)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D7C15FBF-7165-377C-E6F7-F621D9737EBA}"/>
              </a:ext>
            </a:extLst>
          </p:cNvPr>
          <p:cNvSpPr txBox="1"/>
          <p:nvPr/>
        </p:nvSpPr>
        <p:spPr>
          <a:xfrm>
            <a:off x="553375" y="1745225"/>
            <a:ext cx="10851900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</a:rPr>
              <a:t>Программная реализация расчетов будет выполнена на языке </a:t>
            </a:r>
            <a:r>
              <a:rPr lang="en-US" sz="2000" b="1" i="1" dirty="0">
                <a:solidFill>
                  <a:srgbClr val="002060"/>
                </a:solidFill>
              </a:rPr>
              <a:t>Python</a:t>
            </a:r>
            <a:r>
              <a:rPr lang="ru-RU" sz="2000" i="1" dirty="0">
                <a:solidFill>
                  <a:srgbClr val="002060"/>
                </a:solidFill>
              </a:rPr>
              <a:t>, </a:t>
            </a:r>
            <a:r>
              <a:rPr lang="ru-RU" sz="2000" dirty="0">
                <a:solidFill>
                  <a:srgbClr val="002060"/>
                </a:solidFill>
              </a:rPr>
              <a:t>что позволит представить расчетный механизм в виде алгоритма, сделать процесс вычисления быстрым и гибким, так как входные параметры могут легко меняться пользователем в зависимости от решаемой задачи. Файл с кодом будет размещен в репозитории на сайте </a:t>
            </a:r>
            <a:r>
              <a:rPr lang="ru-RU" sz="2000" u="sng" dirty="0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</a:t>
            </a:r>
            <a:r>
              <a:rPr lang="en-US" sz="2000" u="sng" dirty="0">
                <a:solidFill>
                  <a:srgbClr val="002060"/>
                </a:solidFill>
              </a:rPr>
              <a:t> </a:t>
            </a:r>
            <a:endParaRPr lang="ru-RU" sz="2000" dirty="0">
              <a:solidFill>
                <a:srgbClr val="002060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PERT</a:t>
            </a:r>
            <a:r>
              <a:rPr lang="ru-RU" sz="2000" b="1" dirty="0">
                <a:solidFill>
                  <a:srgbClr val="002060"/>
                </a:solidFill>
              </a:rPr>
              <a:t> диаграмма</a:t>
            </a:r>
            <a:r>
              <a:rPr lang="ru-RU" sz="2000" dirty="0">
                <a:solidFill>
                  <a:srgbClr val="002060"/>
                </a:solidFill>
              </a:rPr>
              <a:t> проекта выполнена в таблице </a:t>
            </a:r>
            <a:r>
              <a:rPr lang="en-US" sz="2000" dirty="0">
                <a:solidFill>
                  <a:srgbClr val="002060"/>
                </a:solidFill>
              </a:rPr>
              <a:t>Excel</a:t>
            </a:r>
            <a:r>
              <a:rPr lang="ru-RU" sz="2000" dirty="0">
                <a:solidFill>
                  <a:srgbClr val="002060"/>
                </a:solidFill>
              </a:rPr>
              <a:t>, что позволяет оперативно корректировать план работы над исследованием.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</a:rPr>
              <a:t>Для построения </a:t>
            </a:r>
            <a:r>
              <a:rPr lang="ru-RU" sz="2000" b="1" dirty="0">
                <a:solidFill>
                  <a:srgbClr val="002060"/>
                </a:solidFill>
              </a:rPr>
              <a:t>ментальной карты (англ. </a:t>
            </a:r>
            <a:r>
              <a:rPr lang="en-US" sz="2000" b="1" dirty="0">
                <a:solidFill>
                  <a:srgbClr val="002060"/>
                </a:solidFill>
              </a:rPr>
              <a:t>Mind Map</a:t>
            </a:r>
            <a:r>
              <a:rPr lang="ru-RU" sz="2000" b="1" dirty="0">
                <a:solidFill>
                  <a:srgbClr val="002060"/>
                </a:solidFill>
              </a:rPr>
              <a:t>) </a:t>
            </a:r>
            <a:r>
              <a:rPr lang="ru-RU" sz="2000" dirty="0">
                <a:solidFill>
                  <a:srgbClr val="002060"/>
                </a:solidFill>
              </a:rPr>
              <a:t>плана задач, которые необходимо решить для достижения цели работы, выбран сервис </a:t>
            </a:r>
            <a:r>
              <a:rPr lang="en-US" sz="2000" b="1" i="1" dirty="0" err="1">
                <a:solidFill>
                  <a:srgbClr val="002060"/>
                </a:solidFill>
              </a:rPr>
              <a:t>IOctopus</a:t>
            </a:r>
            <a:r>
              <a:rPr lang="en-US" sz="2000" b="1" i="1" dirty="0">
                <a:solidFill>
                  <a:srgbClr val="002060"/>
                </a:solidFill>
              </a:rPr>
              <a:t> </a:t>
            </a:r>
            <a:r>
              <a:rPr lang="ru-RU" sz="2000" dirty="0">
                <a:solidFill>
                  <a:srgbClr val="002060"/>
                </a:solidFill>
              </a:rPr>
              <a:t>(</a:t>
            </a:r>
            <a:r>
              <a:rPr lang="en-US" sz="2000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ru-RU" sz="2000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</a:t>
            </a:r>
            <a:r>
              <a:rPr lang="en-US" sz="2000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mind</a:t>
            </a:r>
            <a:r>
              <a:rPr lang="ru-RU" sz="2000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US" sz="2000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</a:t>
            </a:r>
            <a:r>
              <a:rPr lang="ru-RU" sz="2000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US" sz="2000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</a:t>
            </a:r>
            <a:r>
              <a:rPr lang="ru-RU" sz="2000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sz="2000" dirty="0" err="1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</a:t>
            </a:r>
            <a:r>
              <a:rPr lang="ru-RU" sz="2000" dirty="0">
                <a:solidFill>
                  <a:srgbClr val="002060"/>
                </a:solidFill>
              </a:rPr>
              <a:t>).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</a:rPr>
              <a:t>Для построения </a:t>
            </a:r>
            <a:r>
              <a:rPr lang="ru-RU" sz="2000" b="1" dirty="0">
                <a:solidFill>
                  <a:srgbClr val="002060"/>
                </a:solidFill>
              </a:rPr>
              <a:t>«дерева источников» </a:t>
            </a:r>
            <a:r>
              <a:rPr lang="ru-RU" sz="2000" dirty="0">
                <a:solidFill>
                  <a:srgbClr val="002060"/>
                </a:solidFill>
              </a:rPr>
              <a:t>использованы электронные таблицы </a:t>
            </a:r>
            <a:r>
              <a:rPr lang="en-US" sz="2000" b="1" dirty="0">
                <a:solidFill>
                  <a:srgbClr val="002060"/>
                </a:solidFill>
              </a:rPr>
              <a:t>Excel</a:t>
            </a:r>
            <a:r>
              <a:rPr lang="ru-RU" sz="2000" dirty="0">
                <a:solidFill>
                  <a:srgbClr val="002060"/>
                </a:solidFill>
              </a:rPr>
              <a:t> - инструмент, позволяющий просто и наглядно проиллюстрировать работу с используемой литературой. Также для анализа исследований по теме работы будет использован индекс цитируемости источников.</a:t>
            </a:r>
          </a:p>
        </p:txBody>
      </p:sp>
    </p:spTree>
    <p:extLst>
      <p:ext uri="{BB962C8B-B14F-4D97-AF65-F5344CB8AC3E}">
        <p14:creationId xmlns:p14="http://schemas.microsoft.com/office/powerpoint/2010/main" val="2856229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6E75DB25-6A95-ECB9-0D7D-C914ED51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BD88A0B8-F237-AF90-5853-50218C65A5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D89ED626-86E9-7C83-74C3-5D279EADDF3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D788B656-A13E-DC2B-138E-F4BDD67D64CE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3E606950-0D15-28D6-71B0-8EF1688570F4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4. Задачи работы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5. Ожидаемые результаты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6. Применяемые методы (подходы)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8. Дополнение</a:t>
            </a:r>
            <a:endParaRPr sz="2600" b="1" dirty="0">
              <a:solidFill>
                <a:srgbClr val="102D69"/>
              </a:solidFill>
            </a:endParaRPr>
          </a:p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rgbClr val="102D69">
                    <a:alpha val="57000"/>
                  </a:srgbClr>
                </a:solidFill>
              </a:rPr>
              <a:t>9. Список источников</a:t>
            </a:r>
            <a:endParaRPr sz="2400" dirty="0">
              <a:solidFill>
                <a:srgbClr val="1F3864">
                  <a:alpha val="57000"/>
                </a:srgb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9426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57D3476D-4C67-32A0-DD20-8AA1EA1E9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F0F39E2F-E18C-3312-F23D-81B11A9C8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5C684409-B01F-4C48-F68A-C2A1F824F99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37BE9365-B1B4-641F-4B44-F24C4F156E6A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EEC202D2-DC30-D602-4C53-8F7086CFB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8.1. Контрольные точки проекта. Выполнено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3F5F25FD-EB79-F1C0-E33D-5D80069A2227}"/>
              </a:ext>
            </a:extLst>
          </p:cNvPr>
          <p:cNvSpPr txBox="1"/>
          <p:nvPr/>
        </p:nvSpPr>
        <p:spPr>
          <a:xfrm>
            <a:off x="553386" y="1897068"/>
            <a:ext cx="10944069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</a:rPr>
              <a:t>Формулировка и утверждение темы</a:t>
            </a:r>
            <a:r>
              <a:rPr lang="ru-RU" sz="2000" dirty="0">
                <a:solidFill>
                  <a:srgbClr val="002060"/>
                </a:solidFill>
              </a:rPr>
              <a:t> выпускной работы магистра - </a:t>
            </a:r>
            <a:r>
              <a:rPr lang="ru-RU" sz="2000" b="1" dirty="0">
                <a:solidFill>
                  <a:srgbClr val="00B050"/>
                </a:solidFill>
              </a:rPr>
              <a:t>15.11.2025</a:t>
            </a:r>
            <a:endParaRPr lang="ru-RU" sz="2000" dirty="0">
              <a:solidFill>
                <a:srgbClr val="002060"/>
              </a:solidFill>
            </a:endParaRP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</a:rPr>
              <a:t>Создание репозитория на </a:t>
            </a:r>
            <a:r>
              <a:rPr lang="en-US" sz="2000" b="1" dirty="0">
                <a:solidFill>
                  <a:srgbClr val="002060"/>
                </a:solidFill>
              </a:rPr>
              <a:t>GitHub</a:t>
            </a:r>
            <a:r>
              <a:rPr lang="ru-RU" sz="2000" dirty="0">
                <a:solidFill>
                  <a:srgbClr val="002060"/>
                </a:solidFill>
              </a:rPr>
              <a:t>, размещение документации – </a:t>
            </a:r>
            <a:r>
              <a:rPr lang="ru-RU" sz="2000" b="1" dirty="0">
                <a:solidFill>
                  <a:srgbClr val="00B050"/>
                </a:solidFill>
              </a:rPr>
              <a:t>18.11.2025</a:t>
            </a:r>
            <a:endParaRPr lang="ru-RU" sz="2000" dirty="0">
              <a:solidFill>
                <a:srgbClr val="002060"/>
              </a:solidFill>
            </a:endParaRP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</a:rPr>
              <a:t>Изучение предметной области и постановка задачи, сбор литературы по теме исследования, предмета и объекта исследования, формулировка цели, исследовательских вопросов, задач, планируемых результатов работы и перспектив дальнейших исследований, определение методов (подходов) и инструментов исследования – </a:t>
            </a:r>
            <a:r>
              <a:rPr lang="ru-RU" sz="2000" b="1" dirty="0">
                <a:solidFill>
                  <a:srgbClr val="002060"/>
                </a:solidFill>
              </a:rPr>
              <a:t>формирование предварительного описания проекта (</a:t>
            </a:r>
            <a:r>
              <a:rPr lang="en-US" sz="2000" b="1" dirty="0">
                <a:solidFill>
                  <a:srgbClr val="002060"/>
                </a:solidFill>
              </a:rPr>
              <a:t>Project Proposal</a:t>
            </a:r>
            <a:r>
              <a:rPr lang="ru-RU" sz="2000" b="1" dirty="0">
                <a:solidFill>
                  <a:srgbClr val="002060"/>
                </a:solidFill>
              </a:rPr>
              <a:t>)</a:t>
            </a:r>
            <a:r>
              <a:rPr lang="ru-RU" sz="2000" dirty="0">
                <a:solidFill>
                  <a:srgbClr val="002060"/>
                </a:solidFill>
              </a:rPr>
              <a:t> </a:t>
            </a:r>
            <a:r>
              <a:rPr lang="ru-RU" sz="2000" dirty="0">
                <a:solidFill>
                  <a:srgbClr val="00B050"/>
                </a:solidFill>
              </a:rPr>
              <a:t>– </a:t>
            </a:r>
            <a:r>
              <a:rPr lang="ru-RU" sz="2000" b="1" dirty="0">
                <a:solidFill>
                  <a:srgbClr val="00B050"/>
                </a:solidFill>
              </a:rPr>
              <a:t>01.12.2025</a:t>
            </a:r>
            <a:endParaRPr lang="ru-RU" sz="2000" dirty="0">
              <a:solidFill>
                <a:srgbClr val="002060"/>
              </a:solidFill>
            </a:endParaRP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</a:rPr>
              <a:t>Работа с вспомогательными инструментами планирования и визуализации результатов работы над проектом, создание первоначального </a:t>
            </a:r>
            <a:r>
              <a:rPr lang="ru-RU" sz="2000" b="1" dirty="0">
                <a:solidFill>
                  <a:srgbClr val="002060"/>
                </a:solidFill>
              </a:rPr>
              <a:t>«дерева источников»</a:t>
            </a:r>
            <a:r>
              <a:rPr lang="ru-RU" sz="2000" dirty="0">
                <a:solidFill>
                  <a:srgbClr val="002060"/>
                </a:solidFill>
              </a:rPr>
              <a:t>, первой </a:t>
            </a:r>
            <a:r>
              <a:rPr lang="ru-RU" sz="2000" b="1" dirty="0">
                <a:solidFill>
                  <a:srgbClr val="002060"/>
                </a:solidFill>
              </a:rPr>
              <a:t>ментальной карты </a:t>
            </a:r>
            <a:r>
              <a:rPr lang="ru-RU" sz="2000" dirty="0">
                <a:solidFill>
                  <a:srgbClr val="002060"/>
                </a:solidFill>
              </a:rPr>
              <a:t>задач проекта, предварительной </a:t>
            </a:r>
            <a:r>
              <a:rPr lang="en-US" sz="2000" b="1" dirty="0">
                <a:solidFill>
                  <a:srgbClr val="002060"/>
                </a:solidFill>
              </a:rPr>
              <a:t>PERT</a:t>
            </a:r>
            <a:r>
              <a:rPr lang="ru-RU" sz="2000" b="1" dirty="0">
                <a:solidFill>
                  <a:srgbClr val="002060"/>
                </a:solidFill>
              </a:rPr>
              <a:t>- диаграммы</a:t>
            </a:r>
            <a:r>
              <a:rPr lang="ru-RU" sz="2000" dirty="0">
                <a:solidFill>
                  <a:srgbClr val="002060"/>
                </a:solidFill>
              </a:rPr>
              <a:t> </a:t>
            </a:r>
            <a:r>
              <a:rPr lang="ru-RU" sz="2000" b="1" dirty="0">
                <a:solidFill>
                  <a:srgbClr val="00B050"/>
                </a:solidFill>
              </a:rPr>
              <a:t>– 01.12.2025</a:t>
            </a:r>
            <a:endParaRPr lang="ru-RU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953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353FDA72-66AE-D453-F660-9F0FF5EF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A81F3481-4A4A-6EB3-F8D9-5138C0EBB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63628B2E-8E72-B764-6F4E-3BF50861A34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BCADFE62-79A3-5378-A3C3-D9FAAD50FCF1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7EF6D52A-AF34-760E-213E-31DA315535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8.2 Контрольные точки проекта. Перспективы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2425C717-1E6F-48B6-25A8-C0E405D8501C}"/>
              </a:ext>
            </a:extLst>
          </p:cNvPr>
          <p:cNvSpPr txBox="1"/>
          <p:nvPr/>
        </p:nvSpPr>
        <p:spPr>
          <a:xfrm>
            <a:off x="459068" y="1905969"/>
            <a:ext cx="11023398" cy="3400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</a:rPr>
              <a:t>Презентация предварительного описания проекта</a:t>
            </a:r>
            <a:r>
              <a:rPr lang="ru-RU" sz="2000" dirty="0">
                <a:solidFill>
                  <a:srgbClr val="002060"/>
                </a:solidFill>
              </a:rPr>
              <a:t> (</a:t>
            </a:r>
            <a:r>
              <a:rPr lang="en-US" sz="2000" dirty="0">
                <a:solidFill>
                  <a:srgbClr val="002060"/>
                </a:solidFill>
              </a:rPr>
              <a:t>Project Proposal</a:t>
            </a:r>
            <a:r>
              <a:rPr lang="ru-RU" sz="2000" dirty="0">
                <a:solidFill>
                  <a:srgbClr val="002060"/>
                </a:solidFill>
              </a:rPr>
              <a:t>) – </a:t>
            </a:r>
            <a:r>
              <a:rPr lang="ru-RU" sz="2000" b="1" dirty="0">
                <a:solidFill>
                  <a:srgbClr val="FF0000"/>
                </a:solidFill>
              </a:rPr>
              <a:t>04.12.2025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</a:rPr>
              <a:t>Контрольная точка 1:</a:t>
            </a:r>
            <a:r>
              <a:rPr lang="ru-RU" sz="2000" dirty="0">
                <a:solidFill>
                  <a:srgbClr val="002060"/>
                </a:solidFill>
              </a:rPr>
              <a:t> презентация прогресса работы и обратная связь от экспертов. На этом этапе должны быть сформулирован цели, задачи, гипотезы. Определена методология и используемый технологический стек - </a:t>
            </a:r>
            <a:r>
              <a:rPr lang="ru-RU" sz="2000" b="1" dirty="0">
                <a:solidFill>
                  <a:srgbClr val="FF0000"/>
                </a:solidFill>
              </a:rPr>
              <a:t>середина марта 2026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</a:rPr>
              <a:t>Контрольная точка 2:</a:t>
            </a:r>
            <a:r>
              <a:rPr lang="ru-RU" sz="2000" dirty="0">
                <a:solidFill>
                  <a:srgbClr val="002060"/>
                </a:solidFill>
              </a:rPr>
              <a:t> предварительная защита работы и обратная связь от экспертов. На этом этапе основная часть работы практически выполнена. Готовность работы 80% - </a:t>
            </a:r>
            <a:r>
              <a:rPr lang="ru-RU" sz="2000" b="1" dirty="0">
                <a:solidFill>
                  <a:srgbClr val="FF0000"/>
                </a:solidFill>
              </a:rPr>
              <a:t>конец апреля 2026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</a:rPr>
              <a:t>Представление завершенной работы научному руководителю</a:t>
            </a:r>
            <a:r>
              <a:rPr lang="ru-RU" sz="2000" dirty="0">
                <a:solidFill>
                  <a:srgbClr val="002060"/>
                </a:solidFill>
              </a:rPr>
              <a:t> - </a:t>
            </a:r>
            <a:r>
              <a:rPr lang="ru-RU" sz="2000" b="1" dirty="0">
                <a:solidFill>
                  <a:srgbClr val="FF0000"/>
                </a:solidFill>
              </a:rPr>
              <a:t>середина мая 2026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</a:rPr>
              <a:t>Подготовка презентационных материалов. Защита работы</a:t>
            </a:r>
            <a:r>
              <a:rPr lang="ru-RU" sz="2000" dirty="0">
                <a:solidFill>
                  <a:srgbClr val="002060"/>
                </a:solidFill>
              </a:rPr>
              <a:t> </a:t>
            </a:r>
            <a:r>
              <a:rPr lang="ru-RU" sz="2000" b="1" dirty="0">
                <a:solidFill>
                  <a:srgbClr val="002060"/>
                </a:solidFill>
              </a:rPr>
              <a:t>- </a:t>
            </a:r>
            <a:r>
              <a:rPr lang="ru-RU" sz="2000" b="1" dirty="0">
                <a:solidFill>
                  <a:srgbClr val="FF0000"/>
                </a:solidFill>
              </a:rPr>
              <a:t>июнь 2026</a:t>
            </a:r>
          </a:p>
        </p:txBody>
      </p:sp>
    </p:spTree>
    <p:extLst>
      <p:ext uri="{BB962C8B-B14F-4D97-AF65-F5344CB8AC3E}">
        <p14:creationId xmlns:p14="http://schemas.microsoft.com/office/powerpoint/2010/main" val="4159824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0D0F1760-0DE3-090A-4F81-F581BC2C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">
            <a:extLst>
              <a:ext uri="{FF2B5EF4-FFF2-40B4-BE49-F238E27FC236}">
                <a16:creationId xmlns:a16="http://schemas.microsoft.com/office/drawing/2014/main" id="{F07C1DE7-6AB4-B2A8-653C-38A6CF8A5E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02" name="Google Shape;202;p3">
            <a:extLst>
              <a:ext uri="{FF2B5EF4-FFF2-40B4-BE49-F238E27FC236}">
                <a16:creationId xmlns:a16="http://schemas.microsoft.com/office/drawing/2014/main" id="{95910AEE-EB63-A895-C5ED-53449A3FAE9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03" name="Google Shape;203;p3">
            <a:extLst>
              <a:ext uri="{FF2B5EF4-FFF2-40B4-BE49-F238E27FC236}">
                <a16:creationId xmlns:a16="http://schemas.microsoft.com/office/drawing/2014/main" id="{76226ADA-82DF-D927-060A-861400AA41BB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6;p2">
            <a:extLst>
              <a:ext uri="{FF2B5EF4-FFF2-40B4-BE49-F238E27FC236}">
                <a16:creationId xmlns:a16="http://schemas.microsoft.com/office/drawing/2014/main" id="{45CCEB9A-6C24-1C57-5CF1-32B24AE91FDB}"/>
              </a:ext>
            </a:extLst>
          </p:cNvPr>
          <p:cNvSpPr txBox="1"/>
          <p:nvPr/>
        </p:nvSpPr>
        <p:spPr>
          <a:xfrm>
            <a:off x="183112" y="1434662"/>
            <a:ext cx="11825775" cy="5055855"/>
          </a:xfrm>
          <a:prstGeom prst="rect">
            <a:avLst/>
          </a:prstGeom>
          <a:solidFill>
            <a:srgbClr val="DDEAF6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1. Описание предметной области, актуальность, постановка задачи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2. Ключевые слова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3. Цель работы, исследовательские вопросы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4. Задачи работы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5. Ожидаемые результаты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6. Применяемые методы (подходы)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7. Используемые инструменты (технологии)</a:t>
            </a:r>
          </a:p>
          <a:p>
            <a:pPr marL="5080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400" dirty="0">
                <a:solidFill>
                  <a:schemeClr val="tx2">
                    <a:lumMod val="50000"/>
                  </a:schemeClr>
                </a:solidFill>
              </a:rPr>
              <a:t>8. Дополнение</a:t>
            </a:r>
            <a:endParaRPr sz="2400" dirty="0">
              <a:solidFill>
                <a:schemeClr val="tx2">
                  <a:lumMod val="50000"/>
                </a:schemeClr>
              </a:solidFill>
            </a:endParaRPr>
          </a:p>
          <a:p>
            <a:pPr marL="50800" lvl="0">
              <a:lnSpc>
                <a:spcPct val="115000"/>
              </a:lnSpc>
              <a:buClr>
                <a:srgbClr val="102D69"/>
              </a:buClr>
              <a:buSzPts val="2800"/>
            </a:pPr>
            <a:r>
              <a:rPr lang="ru-RU" sz="2600" b="1" dirty="0">
                <a:solidFill>
                  <a:srgbClr val="102D69"/>
                </a:solidFill>
              </a:rPr>
              <a:t>9. Список источников</a:t>
            </a:r>
            <a:endParaRPr sz="2600" b="1" dirty="0">
              <a:solidFill>
                <a:srgbClr val="102D69"/>
              </a:solidFill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580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F3F5EFB7-0DFB-67EE-2BC2-E1988B4B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81CDC8EE-9254-E76A-AC19-28ECB82DB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419CA9B0-93C8-0E1D-F0F6-8D1B6FBA04B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BE43479D-5854-9F0C-000D-5664AA0A826B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80220007-3EEC-7902-AF69-D12F487CE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3150" y="1009547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9. Список источников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7BF8EB61-7D74-3293-7084-183CEE362B42}"/>
              </a:ext>
            </a:extLst>
          </p:cNvPr>
          <p:cNvSpPr txBox="1"/>
          <p:nvPr/>
        </p:nvSpPr>
        <p:spPr>
          <a:xfrm>
            <a:off x="473150" y="1540173"/>
            <a:ext cx="11177752" cy="4708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1. </a:t>
            </a:r>
            <a:r>
              <a:rPr lang="en-US" sz="1500" b="1" dirty="0">
                <a:solidFill>
                  <a:srgbClr val="000099"/>
                </a:solidFill>
              </a:rPr>
              <a:t>Beck K</a:t>
            </a:r>
            <a:r>
              <a:rPr lang="en-US" sz="1500" dirty="0">
                <a:solidFill>
                  <a:srgbClr val="000099"/>
                </a:solidFill>
              </a:rPr>
              <a:t>. Extreme Programming Explained: Embrace Change // Addison-</a:t>
            </a:r>
            <a:r>
              <a:rPr lang="en-US" sz="1500" dirty="0" err="1">
                <a:solidFill>
                  <a:srgbClr val="000099"/>
                </a:solidFill>
              </a:rPr>
              <a:t>wesley</a:t>
            </a:r>
            <a:r>
              <a:rPr lang="en-US" sz="1500" dirty="0">
                <a:solidFill>
                  <a:srgbClr val="000099"/>
                </a:solidFill>
              </a:rPr>
              <a:t> Professional. 2000.</a:t>
            </a:r>
            <a:endParaRPr lang="ru-RU" sz="1500" dirty="0">
              <a:solidFill>
                <a:srgbClr val="000099"/>
              </a:solidFill>
            </a:endParaRPr>
          </a:p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2. </a:t>
            </a:r>
            <a:r>
              <a:rPr lang="en-US" sz="1500" b="1" dirty="0">
                <a:solidFill>
                  <a:srgbClr val="000099"/>
                </a:solidFill>
              </a:rPr>
              <a:t>Boehm B.W</a:t>
            </a:r>
            <a:r>
              <a:rPr lang="en-US" sz="1500" dirty="0">
                <a:solidFill>
                  <a:srgbClr val="000099"/>
                </a:solidFill>
              </a:rPr>
              <a:t>. Software Engineering Economic., Prentice Cli4s, NJ. 1981.</a:t>
            </a:r>
            <a:endParaRPr lang="ru-RU" sz="1500" dirty="0">
              <a:solidFill>
                <a:srgbClr val="000099"/>
              </a:solidFill>
            </a:endParaRPr>
          </a:p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3. </a:t>
            </a:r>
            <a:r>
              <a:rPr lang="en-US" sz="1500" b="1" dirty="0" err="1">
                <a:solidFill>
                  <a:srgbClr val="000099"/>
                </a:solidFill>
              </a:rPr>
              <a:t>Moløkken</a:t>
            </a:r>
            <a:r>
              <a:rPr lang="en-US" sz="1500" b="1" dirty="0">
                <a:solidFill>
                  <a:srgbClr val="000099"/>
                </a:solidFill>
              </a:rPr>
              <a:t>-Østvold K., Jørgensen M., </a:t>
            </a:r>
            <a:r>
              <a:rPr lang="en-US" sz="1500" b="1" dirty="0" err="1">
                <a:solidFill>
                  <a:srgbClr val="000099"/>
                </a:solidFill>
              </a:rPr>
              <a:t>Tanilkan</a:t>
            </a:r>
            <a:r>
              <a:rPr lang="en-US" sz="1500" b="1" dirty="0">
                <a:solidFill>
                  <a:srgbClr val="000099"/>
                </a:solidFill>
              </a:rPr>
              <a:t>, S.S., Gallis H., Lien A.C., Hove, S.W</a:t>
            </a:r>
            <a:r>
              <a:rPr lang="en-US" sz="1500" dirty="0">
                <a:solidFill>
                  <a:srgbClr val="000099"/>
                </a:solidFill>
              </a:rPr>
              <a:t>. A Survey on Software Estimation in the Norwegian Industry// Proceedings of the 10th International Symposium on Software Metrics. IEEE. 2004. pp. 208-219.</a:t>
            </a:r>
            <a:endParaRPr lang="ru-RU" sz="1500" dirty="0">
              <a:solidFill>
                <a:srgbClr val="000099"/>
              </a:solidFill>
            </a:endParaRPr>
          </a:p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4. </a:t>
            </a:r>
            <a:r>
              <a:rPr lang="en-US" sz="1500" b="1" dirty="0">
                <a:solidFill>
                  <a:srgbClr val="000099"/>
                </a:solidFill>
              </a:rPr>
              <a:t>Abrahamsson P., Salo O., </a:t>
            </a:r>
            <a:r>
              <a:rPr lang="en-US" sz="1500" b="1" dirty="0" err="1">
                <a:solidFill>
                  <a:srgbClr val="000099"/>
                </a:solidFill>
              </a:rPr>
              <a:t>Ronkaine</a:t>
            </a:r>
            <a:r>
              <a:rPr lang="en-US" sz="1500" b="1" dirty="0">
                <a:solidFill>
                  <a:srgbClr val="000099"/>
                </a:solidFill>
              </a:rPr>
              <a:t>, J., </a:t>
            </a:r>
            <a:r>
              <a:rPr lang="en-US" sz="1500" b="1" dirty="0" err="1">
                <a:solidFill>
                  <a:srgbClr val="000099"/>
                </a:solidFill>
              </a:rPr>
              <a:t>Warsta</a:t>
            </a:r>
            <a:r>
              <a:rPr lang="en-US" sz="1500" b="1" dirty="0">
                <a:solidFill>
                  <a:srgbClr val="000099"/>
                </a:solidFill>
              </a:rPr>
              <a:t> J. </a:t>
            </a:r>
            <a:r>
              <a:rPr lang="en-US" sz="1500" dirty="0">
                <a:solidFill>
                  <a:srgbClr val="000099"/>
                </a:solidFill>
              </a:rPr>
              <a:t>Agile software development methods: review and analysis // </a:t>
            </a:r>
            <a:r>
              <a:rPr lang="en-US" sz="1500" dirty="0" err="1">
                <a:solidFill>
                  <a:srgbClr val="000099"/>
                </a:solidFill>
              </a:rPr>
              <a:t>arXiv</a:t>
            </a:r>
            <a:r>
              <a:rPr lang="en-US" sz="1500" dirty="0">
                <a:solidFill>
                  <a:srgbClr val="000099"/>
                </a:solidFill>
              </a:rPr>
              <a:t> preprint arXiv:1709.08439. 2017.</a:t>
            </a:r>
            <a:endParaRPr lang="ru-RU" sz="1500" dirty="0">
              <a:solidFill>
                <a:srgbClr val="000099"/>
              </a:solidFill>
            </a:endParaRPr>
          </a:p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5. </a:t>
            </a:r>
            <a:r>
              <a:rPr lang="en-US" sz="1500" b="1" dirty="0">
                <a:solidFill>
                  <a:srgbClr val="000099"/>
                </a:solidFill>
              </a:rPr>
              <a:t>Cohn M. </a:t>
            </a:r>
            <a:r>
              <a:rPr lang="en-US" sz="1500" dirty="0">
                <a:solidFill>
                  <a:srgbClr val="000099"/>
                </a:solidFill>
              </a:rPr>
              <a:t>Agile estimating and planning // Pearson Education, 2005.</a:t>
            </a:r>
            <a:endParaRPr lang="ru-RU" sz="1500" dirty="0">
              <a:solidFill>
                <a:srgbClr val="000099"/>
              </a:solidFill>
            </a:endParaRPr>
          </a:p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6. </a:t>
            </a:r>
            <a:r>
              <a:rPr lang="en-US" sz="1500" b="1" dirty="0">
                <a:solidFill>
                  <a:srgbClr val="000099"/>
                </a:solidFill>
              </a:rPr>
              <a:t>Hemon A., </a:t>
            </a:r>
            <a:r>
              <a:rPr lang="en-US" sz="1500" b="1" dirty="0" err="1">
                <a:solidFill>
                  <a:srgbClr val="000099"/>
                </a:solidFill>
              </a:rPr>
              <a:t>Lyonnet</a:t>
            </a:r>
            <a:r>
              <a:rPr lang="en-US" sz="1500" b="1" dirty="0">
                <a:solidFill>
                  <a:srgbClr val="000099"/>
                </a:solidFill>
              </a:rPr>
              <a:t> B., Rowe F., Fitzgerald B</a:t>
            </a:r>
            <a:r>
              <a:rPr lang="en-US" sz="1500" dirty="0">
                <a:solidFill>
                  <a:srgbClr val="000099"/>
                </a:solidFill>
              </a:rPr>
              <a:t>. From agile to DevOps: smart skills and collaborations // Information Systems Frontiers. 2020. 22(4). pp. 927-945.</a:t>
            </a:r>
            <a:endParaRPr lang="ru-RU" sz="1500" dirty="0">
              <a:solidFill>
                <a:srgbClr val="000099"/>
              </a:solidFill>
            </a:endParaRPr>
          </a:p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7. </a:t>
            </a:r>
            <a:r>
              <a:rPr lang="en-US" sz="1500" b="1" dirty="0">
                <a:solidFill>
                  <a:srgbClr val="000099"/>
                </a:solidFill>
              </a:rPr>
              <a:t>Inayat I., Salim S.S., Marczak S., </a:t>
            </a:r>
            <a:r>
              <a:rPr lang="en-US" sz="1500" b="1" dirty="0" err="1">
                <a:solidFill>
                  <a:srgbClr val="000099"/>
                </a:solidFill>
              </a:rPr>
              <a:t>Daneva</a:t>
            </a:r>
            <a:r>
              <a:rPr lang="en-US" sz="1500" b="1" dirty="0">
                <a:solidFill>
                  <a:srgbClr val="000099"/>
                </a:solidFill>
              </a:rPr>
              <a:t> M., </a:t>
            </a:r>
            <a:r>
              <a:rPr lang="en-US" sz="1500" b="1" dirty="0" err="1">
                <a:solidFill>
                  <a:srgbClr val="000099"/>
                </a:solidFill>
              </a:rPr>
              <a:t>Shamshirband</a:t>
            </a:r>
            <a:r>
              <a:rPr lang="en-US" sz="1500" b="1" dirty="0">
                <a:solidFill>
                  <a:srgbClr val="000099"/>
                </a:solidFill>
              </a:rPr>
              <a:t> S.</a:t>
            </a:r>
            <a:r>
              <a:rPr lang="en-US" sz="1500" dirty="0">
                <a:solidFill>
                  <a:srgbClr val="000099"/>
                </a:solidFill>
              </a:rPr>
              <a:t> A systematic literature review on agile requirements engineering practices and challenges // Computers in human behavior. 2015. 51. pp.915-929.</a:t>
            </a:r>
            <a:endParaRPr lang="ru-RU" sz="1500" dirty="0">
              <a:solidFill>
                <a:srgbClr val="000099"/>
              </a:solidFill>
            </a:endParaRPr>
          </a:p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8. </a:t>
            </a:r>
            <a:r>
              <a:rPr lang="en-US" sz="1500" b="1" dirty="0">
                <a:solidFill>
                  <a:srgbClr val="000099"/>
                </a:solidFill>
              </a:rPr>
              <a:t>Chakraborty A., </a:t>
            </a:r>
            <a:r>
              <a:rPr lang="en-US" sz="1500" b="1" dirty="0" err="1">
                <a:solidFill>
                  <a:srgbClr val="000099"/>
                </a:solidFill>
              </a:rPr>
              <a:t>Baowaly</a:t>
            </a:r>
            <a:r>
              <a:rPr lang="en-US" sz="1500" b="1" dirty="0">
                <a:solidFill>
                  <a:srgbClr val="000099"/>
                </a:solidFill>
              </a:rPr>
              <a:t> M.K., Arefin A., Bahar A.N. </a:t>
            </a:r>
            <a:r>
              <a:rPr lang="en-US" sz="1500" dirty="0">
                <a:solidFill>
                  <a:srgbClr val="000099"/>
                </a:solidFill>
              </a:rPr>
              <a:t>The role of requirement engineering in software development life cycle // Journal of emerging trends in computing and information sciences. 2012. 3(5).</a:t>
            </a:r>
            <a:endParaRPr lang="ru-RU" sz="1500" dirty="0">
              <a:solidFill>
                <a:srgbClr val="000099"/>
              </a:solidFill>
            </a:endParaRPr>
          </a:p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9. </a:t>
            </a:r>
            <a:r>
              <a:rPr lang="en-US" sz="1500" b="1" dirty="0">
                <a:solidFill>
                  <a:srgbClr val="000099"/>
                </a:solidFill>
              </a:rPr>
              <a:t>Chung L., Nixon B. A., Yu E., Mylopoulos J. </a:t>
            </a:r>
            <a:r>
              <a:rPr lang="en-US" sz="1500" dirty="0">
                <a:solidFill>
                  <a:srgbClr val="000099"/>
                </a:solidFill>
              </a:rPr>
              <a:t>Non-functional requirements in software engineering. Springer Science &amp; Business Media. 2012. Vol. 5.</a:t>
            </a:r>
            <a:endParaRPr lang="ru-RU" sz="1500" dirty="0">
              <a:solidFill>
                <a:srgbClr val="000099"/>
              </a:solidFill>
            </a:endParaRPr>
          </a:p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10. </a:t>
            </a:r>
            <a:r>
              <a:rPr lang="en-US" sz="1500" b="1" dirty="0">
                <a:solidFill>
                  <a:srgbClr val="000099"/>
                </a:solidFill>
              </a:rPr>
              <a:t>Maiden N.A., Rugg G. </a:t>
            </a:r>
            <a:r>
              <a:rPr lang="en-US" sz="1500" dirty="0">
                <a:solidFill>
                  <a:srgbClr val="000099"/>
                </a:solidFill>
              </a:rPr>
              <a:t>Acre: selecting methods for requirements acquisition // Software engineering journal. J. 1996. 11(3). pp. 183-192.</a:t>
            </a:r>
            <a:endParaRPr lang="ru-RU" sz="1500" dirty="0">
              <a:solidFill>
                <a:srgbClr val="000099"/>
              </a:solidFill>
            </a:endParaRPr>
          </a:p>
          <a:p>
            <a:pPr algn="just">
              <a:spcAft>
                <a:spcPts val="200"/>
              </a:spcAft>
            </a:pPr>
            <a:r>
              <a:rPr lang="en-US" sz="1500" dirty="0">
                <a:solidFill>
                  <a:srgbClr val="000099"/>
                </a:solidFill>
              </a:rPr>
              <a:t>11. </a:t>
            </a:r>
            <a:r>
              <a:rPr lang="en-US" sz="1500" b="1" dirty="0" err="1">
                <a:solidFill>
                  <a:srgbClr val="000099"/>
                </a:solidFill>
              </a:rPr>
              <a:t>Nuseibeh</a:t>
            </a:r>
            <a:r>
              <a:rPr lang="en-US" sz="1500" b="1" dirty="0">
                <a:solidFill>
                  <a:srgbClr val="000099"/>
                </a:solidFill>
              </a:rPr>
              <a:t> B., Easterbrook S. </a:t>
            </a:r>
            <a:r>
              <a:rPr lang="en-US" sz="1500" dirty="0">
                <a:solidFill>
                  <a:srgbClr val="000099"/>
                </a:solidFill>
              </a:rPr>
              <a:t>Requirements engineering: a roadmap// In: Proceedings of the conference on the future of software engineering. New York. 2002. pp. 36-45.</a:t>
            </a:r>
            <a:endParaRPr lang="ru-RU" sz="15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651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23137554-E283-4696-C0FA-E43488C5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6E2CF24C-D5F5-C554-FB96-6C0827E0B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138976BB-70BB-7B76-6BDD-C63896B5FD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7B6613BF-3439-8BB9-184F-ED8A05CEC5FC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63A8FE97-335C-0A0E-9B53-5DA08D9F01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387" y="1162178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9. Список источников (продолжение)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9EF04649-CBD7-ED83-1894-78979D39342C}"/>
              </a:ext>
            </a:extLst>
          </p:cNvPr>
          <p:cNvSpPr txBox="1"/>
          <p:nvPr/>
        </p:nvSpPr>
        <p:spPr>
          <a:xfrm>
            <a:off x="404648" y="1692804"/>
            <a:ext cx="11382703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200"/>
              </a:spcBef>
            </a:pPr>
            <a:r>
              <a:rPr lang="en-US" sz="1500" dirty="0">
                <a:solidFill>
                  <a:srgbClr val="000099"/>
                </a:solidFill>
              </a:rPr>
              <a:t>12. </a:t>
            </a:r>
            <a:r>
              <a:rPr lang="en-US" sz="1500" b="1" dirty="0">
                <a:solidFill>
                  <a:srgbClr val="000099"/>
                </a:solidFill>
              </a:rPr>
              <a:t>Paetsch F., Eberlein A., Maurer F. </a:t>
            </a:r>
            <a:r>
              <a:rPr lang="en-US" sz="1500" dirty="0">
                <a:solidFill>
                  <a:srgbClr val="000099"/>
                </a:solidFill>
              </a:rPr>
              <a:t>Requirements engineering and agile software development // In: 2003 Proceedings of Twelfth IEEE International Workshops on Enabling Technologies: Infrastructure for Collaborative Enterprises, WET ICE 2003. pp. 308–313. IEEE, 2003.</a:t>
            </a:r>
            <a:endParaRPr lang="ru-RU" sz="1500" dirty="0">
              <a:solidFill>
                <a:srgbClr val="000099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500" dirty="0">
                <a:solidFill>
                  <a:srgbClr val="000099"/>
                </a:solidFill>
              </a:rPr>
              <a:t>13. </a:t>
            </a:r>
            <a:r>
              <a:rPr lang="en-US" sz="1500" b="1" dirty="0">
                <a:solidFill>
                  <a:srgbClr val="000099"/>
                </a:solidFill>
              </a:rPr>
              <a:t>Saaty T.L. </a:t>
            </a:r>
            <a:r>
              <a:rPr lang="en-US" sz="1500" dirty="0">
                <a:solidFill>
                  <a:srgbClr val="000099"/>
                </a:solidFill>
              </a:rPr>
              <a:t>The Analytic Hierarchy Process: Planning, Priority Setting, Resource Allocation // McGraw-Hill International Book Co.: New York, NY, USA. 1980. Volume 13. 287 p. Available online: https://ucm.on.worldcat.org/oclc/911278091 (accessed on 1 June 2023).</a:t>
            </a:r>
            <a:endParaRPr lang="ru-RU" sz="1500" dirty="0">
              <a:solidFill>
                <a:srgbClr val="000099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500" dirty="0">
                <a:solidFill>
                  <a:srgbClr val="000099"/>
                </a:solidFill>
              </a:rPr>
              <a:t>14. </a:t>
            </a:r>
            <a:r>
              <a:rPr lang="en-US" sz="1500" b="1" dirty="0">
                <a:solidFill>
                  <a:srgbClr val="000099"/>
                </a:solidFill>
              </a:rPr>
              <a:t>Shameem M., Kumar R.R., Kumar C., Chandra B., Khan A.A. </a:t>
            </a:r>
            <a:r>
              <a:rPr lang="en-US" sz="1500" dirty="0">
                <a:solidFill>
                  <a:srgbClr val="000099"/>
                </a:solidFill>
              </a:rPr>
              <a:t>Prioritizing challenges of agile process in distributed software development environment using analytic hierarchy process // Journal of Software: Evolution and Process, vol. 30, no. 11, p. e1979, 2018, </a:t>
            </a:r>
            <a:r>
              <a:rPr lang="en-US" sz="1500" dirty="0" err="1">
                <a:solidFill>
                  <a:srgbClr val="000099"/>
                </a:solidFill>
              </a:rPr>
              <a:t>doi</a:t>
            </a:r>
            <a:r>
              <a:rPr lang="en-US" sz="1500" dirty="0">
                <a:solidFill>
                  <a:srgbClr val="000099"/>
                </a:solidFill>
              </a:rPr>
              <a:t>: </a:t>
            </a:r>
            <a:r>
              <a:rPr lang="en-US" sz="1500" u="sng" dirty="0">
                <a:solidFill>
                  <a:srgbClr val="0000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https://doi.org/10.1002/smr.1979</a:t>
            </a:r>
            <a:r>
              <a:rPr lang="en-US" sz="1500" dirty="0">
                <a:solidFill>
                  <a:srgbClr val="000099"/>
                </a:solidFill>
              </a:rPr>
              <a:t>.</a:t>
            </a:r>
            <a:endParaRPr lang="ru-RU" sz="1500" dirty="0">
              <a:solidFill>
                <a:srgbClr val="000099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500" dirty="0">
                <a:solidFill>
                  <a:srgbClr val="000099"/>
                </a:solidFill>
              </a:rPr>
              <a:t>15</a:t>
            </a:r>
            <a:r>
              <a:rPr lang="en-US" sz="1500" b="1" dirty="0">
                <a:solidFill>
                  <a:srgbClr val="000099"/>
                </a:solidFill>
              </a:rPr>
              <a:t>. Zadeh L.A. </a:t>
            </a:r>
            <a:r>
              <a:rPr lang="en-US" sz="1500" dirty="0">
                <a:solidFill>
                  <a:srgbClr val="000099"/>
                </a:solidFill>
              </a:rPr>
              <a:t>Fuzzy sets // Information and Control. 1965. Vol. 8. pp. 338–353.</a:t>
            </a:r>
            <a:endParaRPr lang="ru-RU" sz="1500" dirty="0">
              <a:solidFill>
                <a:srgbClr val="000099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500" dirty="0">
                <a:solidFill>
                  <a:srgbClr val="000099"/>
                </a:solidFill>
              </a:rPr>
              <a:t>16. </a:t>
            </a:r>
            <a:r>
              <a:rPr lang="en-US" sz="1500" b="1" dirty="0">
                <a:solidFill>
                  <a:srgbClr val="000099"/>
                </a:solidFill>
              </a:rPr>
              <a:t>Zadeh L.A.</a:t>
            </a:r>
            <a:r>
              <a:rPr lang="en-US" sz="1500" dirty="0">
                <a:solidFill>
                  <a:srgbClr val="000099"/>
                </a:solidFill>
              </a:rPr>
              <a:t> The Concept of a Linguistic Variable and Its Application to Approximate Reasoning // I. Information Sciences. 1975. Vol. 8. no. 3. pp. 199–249.</a:t>
            </a:r>
            <a:endParaRPr lang="ru-RU" sz="1500" dirty="0">
              <a:solidFill>
                <a:srgbClr val="000099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500" dirty="0">
                <a:solidFill>
                  <a:srgbClr val="000099"/>
                </a:solidFill>
              </a:rPr>
              <a:t>17. </a:t>
            </a:r>
            <a:r>
              <a:rPr lang="en-US" sz="1500" b="1" dirty="0" err="1">
                <a:solidFill>
                  <a:srgbClr val="000099"/>
                </a:solidFill>
              </a:rPr>
              <a:t>Klir</a:t>
            </a:r>
            <a:r>
              <a:rPr lang="en-US" sz="1500" b="1" dirty="0">
                <a:solidFill>
                  <a:srgbClr val="000099"/>
                </a:solidFill>
              </a:rPr>
              <a:t> G.J., Yuan B. </a:t>
            </a:r>
            <a:r>
              <a:rPr lang="en-US" sz="1500" dirty="0">
                <a:solidFill>
                  <a:srgbClr val="000099"/>
                </a:solidFill>
              </a:rPr>
              <a:t>Fuzzy Sets and Fuzzy Logic: Theory and Applications. Prentice-Hall // Englewood Cliffs, NJ. 1995.</a:t>
            </a:r>
            <a:endParaRPr lang="ru-RU" sz="1500" dirty="0">
              <a:solidFill>
                <a:srgbClr val="000099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500" dirty="0"/>
              <a:t>18. </a:t>
            </a:r>
            <a:r>
              <a:rPr lang="en-US" sz="1500" b="1" dirty="0"/>
              <a:t>Khan A.A., Shameem M., Nadeem M., Akbar M.A. </a:t>
            </a:r>
            <a:r>
              <a:rPr lang="en-US" sz="1500" dirty="0"/>
              <a:t>Agile trends in Chinese global software development industry: Fuzzy AHP based conceptual mapping //Applied Soft Computing, 2021, 102 (107090), p. 24.</a:t>
            </a:r>
            <a:endParaRPr lang="ru-RU" sz="1500" dirty="0"/>
          </a:p>
          <a:p>
            <a:pPr>
              <a:spcBef>
                <a:spcPts val="200"/>
              </a:spcBef>
            </a:pPr>
            <a:r>
              <a:rPr lang="en-US" sz="1500" dirty="0"/>
              <a:t>19. </a:t>
            </a:r>
            <a:r>
              <a:rPr lang="en-US" sz="1500" b="1" dirty="0"/>
              <a:t>Saini A., Ahuja L., Khatri S.K. </a:t>
            </a:r>
            <a:r>
              <a:rPr lang="en-US" sz="1500" dirty="0"/>
              <a:t>Effort estimation of agile development using fuzzy logic //2018 7th International Conference on Reliability, Infocom Technologies and Optimization (Trends and Future Directions) (ICRITO). – IEEE, 2018, pp. 779-783.</a:t>
            </a:r>
            <a:endParaRPr lang="ru-RU" sz="1500" dirty="0"/>
          </a:p>
          <a:p>
            <a:pPr>
              <a:spcBef>
                <a:spcPts val="200"/>
              </a:spcBef>
            </a:pPr>
            <a:r>
              <a:rPr lang="en-US" sz="1500" dirty="0"/>
              <a:t>20. </a:t>
            </a:r>
            <a:r>
              <a:rPr lang="en-US" sz="1500" b="1" dirty="0"/>
              <a:t>Lin C.T., Chiu H., Tseng Y.H. </a:t>
            </a:r>
            <a:r>
              <a:rPr lang="en-US" sz="1500" dirty="0"/>
              <a:t>Agility evaluation using fuzzy logic //International journal of production economics, 2006, 101 (2), pp. 353-368.</a:t>
            </a:r>
            <a:endParaRPr lang="ru-RU" sz="1500" dirty="0"/>
          </a:p>
          <a:p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1333690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72AB3165-CA00-F732-7D73-F6827F77C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16BF659C-9C61-A1D6-EA27-E809AFF607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5551D5BF-D9B2-6CEA-F80B-DCEA346504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F35065B2-85BF-E5D4-CD56-9D294529D8D0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542A7714-A687-11A9-16BA-81DA61EF2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172" y="956829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9. Список источников (продолжение)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A7B9A905-4E3F-8E5F-8C96-BC94F74E6F71}"/>
              </a:ext>
            </a:extLst>
          </p:cNvPr>
          <p:cNvSpPr txBox="1"/>
          <p:nvPr/>
        </p:nvSpPr>
        <p:spPr>
          <a:xfrm>
            <a:off x="275412" y="1495271"/>
            <a:ext cx="11571814" cy="4887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500" dirty="0"/>
              <a:t>21</a:t>
            </a:r>
            <a:r>
              <a:rPr lang="en-US" sz="1500" b="1" dirty="0"/>
              <a:t>. Marín Díaz G, </a:t>
            </a:r>
            <a:r>
              <a:rPr lang="en-US" sz="1500" b="1" dirty="0" err="1"/>
              <a:t>Galdón</a:t>
            </a:r>
            <a:r>
              <a:rPr lang="en-US" sz="1500" b="1" dirty="0"/>
              <a:t> Salvador JL. </a:t>
            </a:r>
            <a:r>
              <a:rPr lang="en-US" sz="1500" dirty="0"/>
              <a:t>Group Decision-Making Model Based on 2-Tuple Fuzzy Linguistic Model and AHP Applied to Measuring Digital Maturity Level of Organizations // Systems, 2023, 11(7):341, p. 32, </a:t>
            </a:r>
            <a:r>
              <a:rPr lang="en-US" sz="1500" u="sng" dirty="0">
                <a:hlinkClick r:id="rId3"/>
              </a:rPr>
              <a:t>https://doi.org/10.3390/systems11070341</a:t>
            </a:r>
            <a:r>
              <a:rPr lang="ru-RU" sz="1500" dirty="0"/>
              <a:t> </a:t>
            </a:r>
          </a:p>
          <a:p>
            <a:pPr>
              <a:spcAft>
                <a:spcPts val="200"/>
              </a:spcAft>
            </a:pPr>
            <a:r>
              <a:rPr lang="en-US" sz="1500" dirty="0"/>
              <a:t>22. </a:t>
            </a:r>
            <a:r>
              <a:rPr lang="en-US" sz="1500" b="1" dirty="0"/>
              <a:t>Yan W., Chen C. H., Khoo L.P. </a:t>
            </a:r>
            <a:r>
              <a:rPr lang="en-US" sz="1500" dirty="0"/>
              <a:t>An integrated approach to the elicitation of customer requirements for engineering design using picture sorts and fuzzy evaluation //Ai Edam, 2002, 16 (2), pp. 59-71.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23. </a:t>
            </a:r>
            <a:r>
              <a:rPr lang="en-US" sz="1500" b="1" dirty="0"/>
              <a:t>Sadiq M., Jain S.K.</a:t>
            </a:r>
            <a:r>
              <a:rPr lang="en-US" sz="1500" dirty="0"/>
              <a:t> A fuzzy based approach for the selection of goals in goal oriented requirements elicitation process //International Journal of System Assurance Engineering and Management, 2015, 6 (2), pp. 157-164.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24. </a:t>
            </a:r>
            <a:r>
              <a:rPr lang="en-US" sz="1500" b="1" dirty="0"/>
              <a:t>Gondal A.N., Kausar M., Mazhar N., Amjad M. </a:t>
            </a:r>
            <a:r>
              <a:rPr lang="en-US" sz="1500" dirty="0"/>
              <a:t>Prioritization of Agile Requirement Elicitation Techniques Using Fuzzy Logic //International Journal of Fuzzy Systems, 2025, p. 1-21.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25. </a:t>
            </a:r>
            <a:r>
              <a:rPr lang="en-US" sz="1500" b="1" dirty="0"/>
              <a:t>Zamudio L., Aguilar J.A., Tripp C., Misra S. </a:t>
            </a:r>
            <a:r>
              <a:rPr lang="en-US" sz="1500" dirty="0"/>
              <a:t>A requirements engineering techniques review in agile software development methods // In International Conference on Computational Science and Its Applications. Springer, Cham, 2017, pp. 683-698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26. </a:t>
            </a:r>
            <a:r>
              <a:rPr lang="en-US" sz="1500" b="1" dirty="0"/>
              <a:t>Alflen N.C., Prado E.P. </a:t>
            </a:r>
            <a:r>
              <a:rPr lang="en-US" sz="1500" dirty="0"/>
              <a:t>V. Requirements elicitation techniques for software development: a systematic review of literature // </a:t>
            </a:r>
            <a:r>
              <a:rPr lang="en-US" sz="1500" dirty="0" err="1"/>
              <a:t>AtoZ</a:t>
            </a:r>
            <a:r>
              <a:rPr lang="en-US" sz="1500" dirty="0"/>
              <a:t>: </a:t>
            </a:r>
            <a:r>
              <a:rPr lang="en-US" sz="1500" dirty="0" err="1"/>
              <a:t>novas</a:t>
            </a:r>
            <a:r>
              <a:rPr lang="en-US" sz="1500" dirty="0"/>
              <a:t> </a:t>
            </a:r>
            <a:r>
              <a:rPr lang="en-US" sz="1500" dirty="0" err="1"/>
              <a:t>práticas</a:t>
            </a:r>
            <a:r>
              <a:rPr lang="en-US" sz="1500" dirty="0"/>
              <a:t> </a:t>
            </a:r>
            <a:r>
              <a:rPr lang="en-US" sz="1500" dirty="0" err="1"/>
              <a:t>em</a:t>
            </a:r>
            <a:r>
              <a:rPr lang="en-US" sz="1500" dirty="0"/>
              <a:t> </a:t>
            </a:r>
            <a:r>
              <a:rPr lang="en-US" sz="1500" dirty="0" err="1"/>
              <a:t>informação</a:t>
            </a:r>
            <a:r>
              <a:rPr lang="en-US" sz="1500" dirty="0"/>
              <a:t> e </a:t>
            </a:r>
            <a:r>
              <a:rPr lang="en-US" sz="1500" dirty="0" err="1"/>
              <a:t>conhecimento</a:t>
            </a:r>
            <a:r>
              <a:rPr lang="en-US" sz="1500" dirty="0"/>
              <a:t>. 2021. </a:t>
            </a:r>
            <a:r>
              <a:rPr lang="ru-RU" sz="1500" dirty="0"/>
              <a:t>Т</a:t>
            </a:r>
            <a:r>
              <a:rPr lang="en-US" sz="1500" dirty="0"/>
              <a:t>. 10. №. 1. pp. 118-128.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27. </a:t>
            </a:r>
            <a:r>
              <a:rPr lang="en-US" sz="1500" b="1" dirty="0"/>
              <a:t>Asghar A.R., Tabassum A., Bhatti S.N. and Jadi A.M</a:t>
            </a:r>
            <a:r>
              <a:rPr lang="en-US" sz="1500" dirty="0"/>
              <a:t>. Impact and challenges of requirements elicitation &amp; prioritization in quality to agile process: Scrum as a case scenario //2017 International Conference on Communication Technologies (</a:t>
            </a:r>
            <a:r>
              <a:rPr lang="en-US" sz="1500" dirty="0" err="1"/>
              <a:t>ComTech</a:t>
            </a:r>
            <a:r>
              <a:rPr lang="en-US" sz="1500" dirty="0"/>
              <a:t>). IEEE, 2017. pp. 50-55.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28. </a:t>
            </a:r>
            <a:r>
              <a:rPr lang="en-US" sz="1500" b="1" dirty="0" err="1"/>
              <a:t>Egesoy</a:t>
            </a:r>
            <a:r>
              <a:rPr lang="en-US" sz="1500" b="1" dirty="0"/>
              <a:t> A, Güzel A. </a:t>
            </a:r>
            <a:r>
              <a:rPr lang="en-US" sz="1500" dirty="0"/>
              <a:t>Fuzzy Logic Support for Requirements Engineering // International Journal of Innovative Research in Computer Science &amp; Technology (IJIRCST) ISSN. 2021:2347-5552.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29. </a:t>
            </a:r>
            <a:r>
              <a:rPr lang="en-US" sz="1500" b="1" dirty="0"/>
              <a:t>Dongmo C. </a:t>
            </a:r>
            <a:r>
              <a:rPr lang="en-US" sz="1500" dirty="0"/>
              <a:t>A Review of Non-Functional Requirements Analysis Throughout the SDLC //Computers.  2024.  </a:t>
            </a:r>
            <a:r>
              <a:rPr lang="ru-RU" sz="1500" dirty="0"/>
              <a:t>Т</a:t>
            </a:r>
            <a:r>
              <a:rPr lang="en-US" sz="1500" dirty="0"/>
              <a:t>. 13.  №. 12.  </a:t>
            </a:r>
            <a:r>
              <a:rPr lang="ru-RU" sz="1500" dirty="0"/>
              <a:t>С</a:t>
            </a:r>
            <a:r>
              <a:rPr lang="en-US" sz="1500" dirty="0"/>
              <a:t>. 308.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30. </a:t>
            </a:r>
            <a:r>
              <a:rPr lang="en-US" sz="1500" b="1" dirty="0"/>
              <a:t>El Beggar O. </a:t>
            </a:r>
            <a:r>
              <a:rPr lang="en-US" sz="1500" dirty="0"/>
              <a:t>IFEJM: new intuitionistic fuzzy expert judgment method for effort estimation in agile software development //Arabian Journal for Science and Engineering. 2024. </a:t>
            </a:r>
            <a:r>
              <a:rPr lang="ru-RU" sz="1500" dirty="0"/>
              <a:t>Т</a:t>
            </a:r>
            <a:r>
              <a:rPr lang="en-US" sz="1500" dirty="0"/>
              <a:t>. 49. №. 3. pp. 2887-2908.</a:t>
            </a:r>
            <a:endParaRPr lang="ru-RU" sz="1500" dirty="0"/>
          </a:p>
          <a:p>
            <a:pPr>
              <a:spcAft>
                <a:spcPts val="200"/>
              </a:spcAft>
            </a:pP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567743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2C022FBB-1B46-F1F2-041A-8F06F2A7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">
            <a:extLst>
              <a:ext uri="{FF2B5EF4-FFF2-40B4-BE49-F238E27FC236}">
                <a16:creationId xmlns:a16="http://schemas.microsoft.com/office/drawing/2014/main" id="{17DC67E9-E206-2EAF-AC35-A53F07772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/>
              <a:t>Факультет компьютерных наук</a:t>
            </a:r>
            <a:endParaRPr/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7962E755-B804-2A87-7250-4476DEBE3A3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67255" y="548720"/>
            <a:ext cx="339134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ru-RU" dirty="0"/>
              <a:t>Подходы к управлению требованиями при гибкой разработке ПО с использованием аппарата нечетких множеств</a:t>
            </a:r>
            <a:endParaRPr dirty="0"/>
          </a:p>
        </p:txBody>
      </p:sp>
      <p:sp>
        <p:nvSpPr>
          <p:cNvPr id="211" name="Google Shape;211;p4">
            <a:extLst>
              <a:ext uri="{FF2B5EF4-FFF2-40B4-BE49-F238E27FC236}">
                <a16:creationId xmlns:a16="http://schemas.microsoft.com/office/drawing/2014/main" id="{2161585B-C7C7-5F2B-0093-8E5AA65F6AC4}"/>
              </a:ext>
            </a:extLst>
          </p:cNvPr>
          <p:cNvSpPr txBox="1"/>
          <p:nvPr/>
        </p:nvSpPr>
        <p:spPr>
          <a:xfrm>
            <a:off x="3671334" y="540904"/>
            <a:ext cx="2153412" cy="40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Продуктовый подход и аналитика данных в HR-менеджменте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 sz="1000" b="0" i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>
            <a:extLst>
              <a:ext uri="{FF2B5EF4-FFF2-40B4-BE49-F238E27FC236}">
                <a16:creationId xmlns:a16="http://schemas.microsoft.com/office/drawing/2014/main" id="{EBE82A0D-62F3-5688-41B6-DE34F00855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3150" y="999807"/>
            <a:ext cx="10703192" cy="530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952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D69"/>
              </a:buClr>
              <a:buSzPts val="2100"/>
              <a:buFont typeface="Arial"/>
              <a:buNone/>
            </a:pPr>
            <a:r>
              <a:rPr lang="ru-RU" sz="3200" b="1" dirty="0">
                <a:solidFill>
                  <a:srgbClr val="102D69"/>
                </a:solidFill>
              </a:rPr>
              <a:t>9. Список источников (окончание)</a:t>
            </a:r>
            <a:endParaRPr dirty="0"/>
          </a:p>
        </p:txBody>
      </p:sp>
      <p:sp>
        <p:nvSpPr>
          <p:cNvPr id="213" name="Google Shape;213;p4">
            <a:extLst>
              <a:ext uri="{FF2B5EF4-FFF2-40B4-BE49-F238E27FC236}">
                <a16:creationId xmlns:a16="http://schemas.microsoft.com/office/drawing/2014/main" id="{BB1DE0F6-970A-B328-0B22-6E7BAF0FFC9A}"/>
              </a:ext>
            </a:extLst>
          </p:cNvPr>
          <p:cNvSpPr txBox="1"/>
          <p:nvPr/>
        </p:nvSpPr>
        <p:spPr>
          <a:xfrm>
            <a:off x="408417" y="1501889"/>
            <a:ext cx="11375166" cy="4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500" dirty="0"/>
              <a:t>31. </a:t>
            </a:r>
            <a:r>
              <a:rPr lang="en-US" sz="1500" b="1" dirty="0"/>
              <a:t>Gul M., Alam K. </a:t>
            </a:r>
            <a:r>
              <a:rPr lang="en-US" sz="1500" dirty="0"/>
              <a:t>A. Identifying contemporary challenges pertaining to Distributed Software Development using Fuzzy Delphi Method. 2023. pp. 1-23 researchgate.com (</a:t>
            </a:r>
            <a:r>
              <a:rPr lang="ru-RU" sz="1500" dirty="0"/>
              <a:t>препринт</a:t>
            </a:r>
            <a:r>
              <a:rPr lang="en-US" sz="1500" dirty="0"/>
              <a:t>)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32. </a:t>
            </a:r>
            <a:r>
              <a:rPr lang="en-US" sz="1500" b="1" dirty="0"/>
              <a:t>Kumar A., Nadeem M., Shameem M. </a:t>
            </a:r>
            <a:r>
              <a:rPr lang="en-US" sz="1500" dirty="0"/>
              <a:t>Multicriteria decision‐making–based framework for implementing DevOps practices: A fuzzy best–worst approach //Journal of Software: Evolution and Process. 2024. </a:t>
            </a:r>
            <a:r>
              <a:rPr lang="ru-RU" sz="1500" dirty="0"/>
              <a:t>Т</a:t>
            </a:r>
            <a:r>
              <a:rPr lang="en-US" sz="1500" dirty="0"/>
              <a:t>. 36. №. 6. pp.1-31.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33. </a:t>
            </a:r>
            <a:r>
              <a:rPr lang="en-US" sz="1500" b="1" dirty="0" err="1"/>
              <a:t>Semenkovich</a:t>
            </a:r>
            <a:r>
              <a:rPr lang="ru-RU" sz="1500" b="1" dirty="0"/>
              <a:t> </a:t>
            </a:r>
            <a:r>
              <a:rPr lang="en-US" sz="1500" b="1" dirty="0"/>
              <a:t>S.A. </a:t>
            </a:r>
            <a:r>
              <a:rPr lang="en-US" sz="1500" dirty="0"/>
              <a:t>A Modified Scrum Story Points Estimation Method Based on Fuzzy Logic Approach / S. A. </a:t>
            </a:r>
            <a:r>
              <a:rPr lang="en-US" sz="1500" dirty="0" err="1"/>
              <a:t>Semenkovich</a:t>
            </a:r>
            <a:r>
              <a:rPr lang="en-US" sz="1500" dirty="0"/>
              <a:t>, O. I. </a:t>
            </a:r>
            <a:r>
              <a:rPr lang="en-US" sz="1500" dirty="0" err="1"/>
              <a:t>Kolekonova</a:t>
            </a:r>
            <a:r>
              <a:rPr lang="en-US" sz="1500" dirty="0"/>
              <a:t>, K. Y. </a:t>
            </a:r>
            <a:r>
              <a:rPr lang="en-US" sz="1500" dirty="0" err="1"/>
              <a:t>Degtiarev</a:t>
            </a:r>
            <a:r>
              <a:rPr lang="en-US" sz="1500" dirty="0"/>
              <a:t> // Proceedings of the Institute for System Programming of the RAS. 2017. Vol. 29, No. 5. pp. 19-38. – DOI 10.15514/ISPRAS-2017-29(5)-2. – EDN ZWZZRF.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34. </a:t>
            </a:r>
            <a:r>
              <a:rPr lang="en-US" sz="1500" b="1" dirty="0"/>
              <a:t>International </a:t>
            </a:r>
            <a:r>
              <a:rPr lang="en-US" sz="1500" b="1" dirty="0" err="1"/>
              <a:t>Standart</a:t>
            </a:r>
            <a:r>
              <a:rPr lang="en-US" sz="1500" b="1" dirty="0"/>
              <a:t> ISO/IEC/IEEE 29148 </a:t>
            </a:r>
            <a:r>
              <a:rPr lang="en-US" sz="1500" dirty="0"/>
              <a:t>(second edition 2018-11) Systems and software engineering - Life cycle processes – Requirements engineering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35. </a:t>
            </a:r>
            <a:r>
              <a:rPr lang="en-US" sz="1500" b="1" dirty="0"/>
              <a:t>International </a:t>
            </a:r>
            <a:r>
              <a:rPr lang="en-US" sz="1500" b="1" dirty="0" err="1"/>
              <a:t>Standart</a:t>
            </a:r>
            <a:r>
              <a:rPr lang="en-US" sz="1500" b="1" dirty="0"/>
              <a:t> ISO/IEC/IEEE 26515 </a:t>
            </a:r>
            <a:r>
              <a:rPr lang="en-US" sz="1500" dirty="0"/>
              <a:t>(second edition 2018-12) Systems and software engineering - Developing information for users in an agile environment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36. </a:t>
            </a:r>
            <a:r>
              <a:rPr lang="en-US" sz="1500" b="1" dirty="0" err="1"/>
              <a:t>Klir</a:t>
            </a:r>
            <a:r>
              <a:rPr lang="en-US" sz="1500" b="1" dirty="0"/>
              <a:t> George J. </a:t>
            </a:r>
            <a:r>
              <a:rPr lang="en-US" sz="1500" dirty="0"/>
              <a:t>Fuzzy logic. Unearthing its meaning and significance // IEEE Potentials/ October/November 1995. pp.10-15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37. Mendel J.M., John R.I.</a:t>
            </a:r>
            <a:r>
              <a:rPr lang="ru-RU" sz="1500" dirty="0"/>
              <a:t>,</a:t>
            </a:r>
            <a:r>
              <a:rPr lang="en-US" sz="1500" dirty="0"/>
              <a:t> Liu F. Interval Type-2 Fuzzy Logic Systems Made Simple // IEEE TRANSACTIONS ON FUZZY SYSTEMS, 14(6), 2006. pp.</a:t>
            </a:r>
            <a:r>
              <a:rPr lang="ru-RU" sz="1500" dirty="0"/>
              <a:t> </a:t>
            </a:r>
            <a:r>
              <a:rPr lang="en-US" sz="1500" dirty="0"/>
              <a:t>808-821.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38. </a:t>
            </a:r>
            <a:r>
              <a:rPr lang="en-US" sz="1500" b="1" dirty="0"/>
              <a:t>Mendel J.M.</a:t>
            </a:r>
            <a:r>
              <a:rPr lang="en-US" sz="1500" dirty="0"/>
              <a:t> Type-2 Fuzzy Sets and Systems: An Overview // IEEE Computational Intelligence Magazine, 2(1), 2007. pp. 20-29.</a:t>
            </a:r>
            <a:endParaRPr lang="ru-RU" sz="1500" dirty="0"/>
          </a:p>
          <a:p>
            <a:pPr>
              <a:spcAft>
                <a:spcPts val="200"/>
              </a:spcAft>
            </a:pPr>
            <a:r>
              <a:rPr lang="en-US" sz="1500" dirty="0"/>
              <a:t>39</a:t>
            </a:r>
            <a:r>
              <a:rPr lang="en-US" sz="1500" b="1" dirty="0"/>
              <a:t>. Mendel J.M. </a:t>
            </a:r>
            <a:r>
              <a:rPr lang="en-US" sz="1500" dirty="0"/>
              <a:t>Type-2 Fuzzy Sets as Well as Computing with Words // IEEE Computational Intelligence Magazine, 14(1), 2019. pp</a:t>
            </a:r>
            <a:r>
              <a:rPr lang="ru-RU" sz="1500" dirty="0"/>
              <a:t>. 82-95.</a:t>
            </a:r>
          </a:p>
          <a:p>
            <a:pPr>
              <a:spcAft>
                <a:spcPts val="200"/>
              </a:spcAft>
            </a:pPr>
            <a:r>
              <a:rPr lang="ru-RU" sz="1500" dirty="0"/>
              <a:t>40. </a:t>
            </a:r>
            <a:r>
              <a:rPr lang="ru-RU" sz="1500" b="1" dirty="0"/>
              <a:t>Понаровская И.С. </a:t>
            </a:r>
            <a:r>
              <a:rPr lang="ru-RU" sz="1500" dirty="0"/>
              <a:t>Методы оценки затрат на разработку ПО с использованием аппарата нечетких множеств // курсовой проект, 2025, 96 с. – </a:t>
            </a:r>
            <a:r>
              <a:rPr lang="ru-RU" sz="1500" u="sng" dirty="0">
                <a:hlinkClick r:id="rId3"/>
              </a:rPr>
              <a:t>https://drive.google.com/file/d/1d8sveBeF56fo5aUc0ToMKTChP4s1HwBn/view?usp=drive_link</a:t>
            </a:r>
            <a:endParaRPr lang="ru-RU" sz="1500" dirty="0"/>
          </a:p>
          <a:p>
            <a:r>
              <a:rPr lang="ru-RU" dirty="0"/>
              <a:t> </a:t>
            </a:r>
          </a:p>
          <a:p>
            <a:pPr>
              <a:spcAft>
                <a:spcPts val="600"/>
              </a:spcAft>
            </a:pPr>
            <a:endParaRPr lang="ru-RU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182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3968</Words>
  <Application>Microsoft Office PowerPoint</Application>
  <PresentationFormat>Широкоэкранный</PresentationFormat>
  <Paragraphs>292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Подходы к управлению требованиями при гибкой разработке ПО с использованием аппарата нечетких множеств   </vt:lpstr>
      <vt:lpstr>Содержание доклада</vt:lpstr>
      <vt:lpstr>Презентация PowerPoint</vt:lpstr>
      <vt:lpstr>1.1. Предметная область и актуальность исследования</vt:lpstr>
      <vt:lpstr>1.2. Предмет и объект исследования</vt:lpstr>
      <vt:lpstr>1.3. Постановка задачи</vt:lpstr>
      <vt:lpstr>Презентация PowerPoint</vt:lpstr>
      <vt:lpstr>2. Ключевые слова</vt:lpstr>
      <vt:lpstr>Презентация PowerPoint</vt:lpstr>
      <vt:lpstr>3.1. Цель работы</vt:lpstr>
      <vt:lpstr>3.2. Исследовательские вопросы</vt:lpstr>
      <vt:lpstr>Презентация PowerPoint</vt:lpstr>
      <vt:lpstr>4. Задачи работы. Часть I</vt:lpstr>
      <vt:lpstr>4. Задачи работы. Часть II</vt:lpstr>
      <vt:lpstr>Презентация PowerPoint</vt:lpstr>
      <vt:lpstr>5. Ожидаемые результаты. Часть I</vt:lpstr>
      <vt:lpstr>5. Ожидаемые результаты. Часть II</vt:lpstr>
      <vt:lpstr>Презентация PowerPoint</vt:lpstr>
      <vt:lpstr>6. Применяемые методы (подходы)</vt:lpstr>
      <vt:lpstr>Презентация PowerPoint</vt:lpstr>
      <vt:lpstr>7. Используемые инструменты (технологии)</vt:lpstr>
      <vt:lpstr>Презентация PowerPoint</vt:lpstr>
      <vt:lpstr>8.1. Контрольные точки проекта. Выполнено</vt:lpstr>
      <vt:lpstr>8.2 Контрольные точки проекта. Перспективы</vt:lpstr>
      <vt:lpstr>Презентация PowerPoint</vt:lpstr>
      <vt:lpstr>9. Список источников</vt:lpstr>
      <vt:lpstr>9. Список источников (продолжение)</vt:lpstr>
      <vt:lpstr>9. Список источников (продолжение)</vt:lpstr>
      <vt:lpstr>9. Список источников (окончание)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Кутьков Юрий Юрьевич</dc:creator>
  <cp:lastModifiedBy>Инна Понаровская</cp:lastModifiedBy>
  <cp:revision>6</cp:revision>
  <dcterms:created xsi:type="dcterms:W3CDTF">2021-11-11T08:52:47Z</dcterms:created>
  <dcterms:modified xsi:type="dcterms:W3CDTF">2025-12-01T01:26:48Z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
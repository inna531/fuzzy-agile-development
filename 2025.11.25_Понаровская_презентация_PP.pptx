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92" r:id="rId6"/>
    <p:sldId id="293" r:id="rId7"/>
    <p:sldId id="284" r:id="rId8"/>
    <p:sldId id="294" r:id="rId9"/>
    <p:sldId id="285" r:id="rId10"/>
    <p:sldId id="295" r:id="rId11"/>
    <p:sldId id="296" r:id="rId12"/>
    <p:sldId id="286" r:id="rId13"/>
    <p:sldId id="297" r:id="rId14"/>
    <p:sldId id="287" r:id="rId15"/>
    <p:sldId id="298" r:id="rId16"/>
    <p:sldId id="288" r:id="rId17"/>
    <p:sldId id="299" r:id="rId18"/>
    <p:sldId id="289" r:id="rId19"/>
    <p:sldId id="300" r:id="rId20"/>
    <p:sldId id="290" r:id="rId21"/>
    <p:sldId id="301" r:id="rId22"/>
    <p:sldId id="291" r:id="rId23"/>
    <p:sldId id="302" r:id="rId24"/>
    <p:sldId id="303" r:id="rId25"/>
    <p:sldId id="304" r:id="rId26"/>
    <p:sldId id="283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25">
          <p15:clr>
            <a:srgbClr val="A4A3A4"/>
          </p15:clr>
        </p15:guide>
        <p15:guide id="2" pos="1209">
          <p15:clr>
            <a:srgbClr val="A4A3A4"/>
          </p15:clr>
        </p15:guide>
        <p15:guide id="3" pos="2955">
          <p15:clr>
            <a:srgbClr val="A4A3A4"/>
          </p15:clr>
        </p15:guide>
        <p15:guide id="4" pos="2071">
          <p15:clr>
            <a:srgbClr val="A4A3A4"/>
          </p15:clr>
        </p15:guide>
        <p15:guide id="5" pos="3840">
          <p15:clr>
            <a:srgbClr val="A4A3A4"/>
          </p15:clr>
        </p15:guide>
        <p15:guide id="6" pos="4702">
          <p15:clr>
            <a:srgbClr val="A4A3A4"/>
          </p15:clr>
        </p15:guide>
        <p15:guide id="7" pos="5586">
          <p15:clr>
            <a:srgbClr val="A4A3A4"/>
          </p15:clr>
        </p15:guide>
        <p15:guide id="8" pos="7333">
          <p15:clr>
            <a:srgbClr val="A4A3A4"/>
          </p15:clr>
        </p15:guide>
        <p15:guide id="9" orient="horz" pos="3952">
          <p15:clr>
            <a:srgbClr val="A4A3A4"/>
          </p15:clr>
        </p15:guide>
        <p15:guide id="10" pos="6471">
          <p15:clr>
            <a:srgbClr val="A4A3A4"/>
          </p15:clr>
        </p15:guide>
        <p15:guide id="11" orient="horz" pos="91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j0Gfr9P8OBLq1rLeX4Dnnm+YC/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2C12F4-25BA-4372-8E1A-A5CDCF251B66}">
  <a:tblStyle styleId="{CC2C12F4-25BA-4372-8E1A-A5CDCF251B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6" y="126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5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75B70FCF-F378-FDCD-E27B-62A04E0C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F843BAC2-DE74-920E-14CF-59EADF9DDD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169B94CB-30DD-A357-CB5F-799AA1EA04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2595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62130F3E-3287-8967-C959-837A7E13F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E60E357F-9FA2-854C-775B-19C4A89946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E3086A90-44ED-3685-060A-BF8B1BAF72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8561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9173BA3F-0B09-94F4-1E8D-5B65AB324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311C672C-EA1D-1B96-56DA-B22048C496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E76977A6-95A3-8023-9691-C116E9C3BE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7017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EE95284F-4403-2038-F392-10D8FCAEF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F17FB8F5-C4CB-30BC-D670-6DA738C8F3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2ECA5A45-B49E-5EC9-0D2C-27822388B6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4070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0F90681D-5636-B3E5-8015-69A2554DC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F2A81838-9B00-8AF4-63A1-3BA6CAADE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90C13DA3-46B9-63B7-F970-19A4090743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3909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646E63C4-BE3E-0087-10CD-318F3FB8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1C386FDC-070C-FDCB-3B0C-EECB46E8A8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AFE8F26A-4F77-9DCB-7FA8-CD53FCB532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1626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C2DB479F-197B-45F8-B107-208E4C5C8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0781308E-43A9-5A43-33C4-EEB6371086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C2167EAE-3DA8-9A39-99B5-A056371973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3404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AFBF3E74-0D8C-EDAE-2D49-7C202146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B945F7D2-11B0-AA42-1CDB-96DED0A29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69EA0341-D184-94E4-3A1D-4923372292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1885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E773C618-4D2B-DCCF-FAD4-8A5AE9A08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B38ACB9F-6527-5D19-DF01-10869BBFE1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6993F5A5-0807-E696-B5F3-2FD06E99EC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2556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6FCC5287-27F2-5071-BEBF-5765878A5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875BDFED-F27A-49BF-BE9B-653B33B080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8123CB85-AF06-5D1C-3F7D-EF97B79F86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22259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38FC8DD5-C50A-A801-ECED-108CE05AF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5FF106F7-1936-7416-271F-40381F077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79541B75-7A45-804A-96B9-4FADD8F36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7350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B9186504-313C-6F6A-D87B-324E2621B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A4A6206E-927D-E1D6-164C-1B41C0E45B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8215792D-A71C-2733-540C-37AECCAC23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0125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F9BE3869-99FF-91FC-F21C-DE34F93A2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04696575-C6CD-7DFF-A76C-B9A7ED89D1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8AC9C964-6643-C8F7-720E-B099686625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28631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6B83E64A-E4FB-88FC-0028-FDB715D3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9805AA31-31CD-CAA9-67D7-A47B7BD137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25627F9E-104A-2135-62DC-5B344418B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90475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724B64EA-5C2D-312E-4B88-B84279913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3C94CC19-6803-66A1-BB12-8858262958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E6EB92AB-0B00-AC6A-6911-475687366C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65583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45E44BDB-9C90-2194-38D2-4AEA8B631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84B1D449-4B11-6769-978A-C57A3F47AD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8F2754FA-67FE-5412-02B7-C390688D9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12646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5813DC34-966C-81B1-4DEC-2F2B6864E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95D581C3-5D7B-469C-817F-F92F0FEB0A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FFC7053E-9D8B-5D1B-614D-32DCAFD941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23568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A55674D7-669F-8835-6A5C-36ECABA18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25180787-9D65-9E38-E3D1-12C4908FB6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CDB46B1A-C6A2-EC1C-1247-D9AE67D9C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02314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4D1DA5ED-75EC-E24E-D229-892C22D6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6C1420F6-4A48-A7B7-D695-D04A72495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477FF038-B90F-797D-D1C1-A832799633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44997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FAE9F7B5-2EC3-5444-62D9-307DB39ED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BDAC2D4A-584F-0155-CDBD-22ACCA48ED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888BA754-DA9D-D637-2EAE-6A8C0DD86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52466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FB3AC7C5-7868-B822-CD7C-3B9D5E409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75C89E34-1E2E-4AC4-7977-B1CB8795A9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1489FE78-45B8-D86E-66CC-7E2F3FCFC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81467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0" descr="A blue circle with white 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40"/>
          <p:cNvCxnSpPr/>
          <p:nvPr/>
        </p:nvCxnSpPr>
        <p:spPr>
          <a:xfrm>
            <a:off x="6090212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" name="Google Shape;18;p40"/>
          <p:cNvCxnSpPr/>
          <p:nvPr/>
        </p:nvCxnSpPr>
        <p:spPr>
          <a:xfrm>
            <a:off x="8642581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" name="Google Shape;19;p40"/>
          <p:cNvCxnSpPr/>
          <p:nvPr/>
        </p:nvCxnSpPr>
        <p:spPr>
          <a:xfrm>
            <a:off x="11179047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" name="Google Shape;20;p40"/>
          <p:cNvSpPr txBox="1">
            <a:spLocks noGrp="1"/>
          </p:cNvSpPr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  <a:defRPr sz="4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0"/>
          <p:cNvSpPr txBox="1">
            <a:spLocks noGrp="1"/>
          </p:cNvSpPr>
          <p:nvPr>
            <p:ph type="body" idx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40"/>
          <p:cNvSpPr txBox="1">
            <a:spLocks noGrp="1"/>
          </p:cNvSpPr>
          <p:nvPr>
            <p:ph type="body" idx="2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40"/>
          <p:cNvSpPr txBox="1">
            <a:spLocks noGrp="1"/>
          </p:cNvSpPr>
          <p:nvPr>
            <p:ph type="body" idx="3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4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41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" name="Google Shape;28;p41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" name="Google Shape;29;p41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" name="Google Shape;30;p41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1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" name="Google Shape;32;p41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1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3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4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">
  <p:cSld name="чистый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0A204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43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" name="Google Shape;42;p4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" name="Google Shape;43;p4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" name="Google Shape;44;p4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" name="Google Shape;45;p4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p4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" name="Google Shape;47;p43"/>
          <p:cNvSpPr>
            <a:spLocks noGrp="1"/>
          </p:cNvSpPr>
          <p:nvPr>
            <p:ph type="pic" idx="2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48" name="Google Shape;48;p43"/>
          <p:cNvSpPr txBox="1">
            <a:spLocks noGrp="1"/>
          </p:cNvSpPr>
          <p:nvPr>
            <p:ph type="title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3"/>
          <p:cNvSpPr txBox="1">
            <a:spLocks noGrp="1"/>
          </p:cNvSpPr>
          <p:nvPr>
            <p:ph type="body" idx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43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body" idx="4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body" idx="5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3">
  <p:cSld name="Текст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44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44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44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7" name="Google Shape;57;p44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8" name="Google Shape;58;p44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44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44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44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44"/>
          <p:cNvSpPr txBox="1">
            <a:spLocks noGrp="1"/>
          </p:cNvSpPr>
          <p:nvPr>
            <p:ph type="body" idx="3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44"/>
          <p:cNvSpPr txBox="1">
            <a:spLocks noGrp="1"/>
          </p:cNvSpPr>
          <p:nvPr>
            <p:ph type="body" idx="4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44"/>
          <p:cNvSpPr txBox="1">
            <a:spLocks noGrp="1"/>
          </p:cNvSpPr>
          <p:nvPr>
            <p:ph type="body" idx="5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sz="3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44"/>
          <p:cNvSpPr txBox="1">
            <a:spLocks noGrp="1"/>
          </p:cNvSpPr>
          <p:nvPr>
            <p:ph type="body" idx="6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44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1">
  <p:cSld name="График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45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45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" name="Google Shape;70;p45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1" name="Google Shape;71;p45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" name="Google Shape;72;p45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45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5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5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45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5"/>
          <p:cNvSpPr txBox="1">
            <a:spLocks noGrp="1"/>
          </p:cNvSpPr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5"/>
          <p:cNvSpPr txBox="1">
            <a:spLocks noGrp="1"/>
          </p:cNvSpPr>
          <p:nvPr>
            <p:ph type="body" idx="4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45"/>
          <p:cNvSpPr txBox="1">
            <a:spLocks noGrp="1"/>
          </p:cNvSpPr>
          <p:nvPr>
            <p:ph type="body" idx="5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45"/>
          <p:cNvSpPr>
            <a:spLocks noGrp="1"/>
          </p:cNvSpPr>
          <p:nvPr>
            <p:ph type="chart" idx="6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6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46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4" name="Google Shape;84;p46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5" name="Google Shape;85;p46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6" name="Google Shape;86;p46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46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46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46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46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46"/>
          <p:cNvSpPr txBox="1">
            <a:spLocks noGrp="1"/>
          </p:cNvSpPr>
          <p:nvPr>
            <p:ph type="body" idx="4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46"/>
          <p:cNvSpPr>
            <a:spLocks noGrp="1"/>
          </p:cNvSpPr>
          <p:nvPr>
            <p:ph type="chart" idx="5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46"/>
          <p:cNvSpPr txBox="1">
            <a:spLocks noGrp="1"/>
          </p:cNvSpPr>
          <p:nvPr>
            <p:ph type="body" idx="6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46"/>
          <p:cNvSpPr txBox="1">
            <a:spLocks noGrp="1"/>
          </p:cNvSpPr>
          <p:nvPr>
            <p:ph type="body" idx="7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4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47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8" name="Google Shape;98;p47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9" name="Google Shape;99;p47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0" name="Google Shape;100;p47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47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" name="Google Shape;102;p47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47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47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47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47"/>
          <p:cNvSpPr txBox="1">
            <a:spLocks noGrp="1"/>
          </p:cNvSpPr>
          <p:nvPr>
            <p:ph type="body" idx="4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47"/>
          <p:cNvSpPr txBox="1">
            <a:spLocks noGrp="1"/>
          </p:cNvSpPr>
          <p:nvPr>
            <p:ph type="body" idx="5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47"/>
          <p:cNvSpPr txBox="1">
            <a:spLocks noGrp="1"/>
          </p:cNvSpPr>
          <p:nvPr>
            <p:ph type="body" idx="6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47"/>
          <p:cNvSpPr txBox="1">
            <a:spLocks noGrp="1"/>
          </p:cNvSpPr>
          <p:nvPr>
            <p:ph type="body" idx="7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marL="914400" lvl="1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47"/>
          <p:cNvSpPr txBox="1">
            <a:spLocks noGrp="1"/>
          </p:cNvSpPr>
          <p:nvPr>
            <p:ph type="body" idx="8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marL="914400" lvl="1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47"/>
          <p:cNvSpPr txBox="1">
            <a:spLocks noGrp="1"/>
          </p:cNvSpPr>
          <p:nvPr>
            <p:ph type="body" idx="9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marL="914400" lvl="1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_1">
  <p:cSld name="Таблица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8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48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5" name="Google Shape;115;p48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6" name="Google Shape;116;p48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48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48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9" name="Google Shape;119;p48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48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48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48"/>
          <p:cNvSpPr txBox="1">
            <a:spLocks noGrp="1"/>
          </p:cNvSpPr>
          <p:nvPr>
            <p:ph type="body" idx="4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8"/>
          <p:cNvSpPr txBox="1">
            <a:spLocks noGrp="1"/>
          </p:cNvSpPr>
          <p:nvPr>
            <p:ph type="body" idx="5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_2">
  <p:cSld name="Таблица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4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49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" name="Google Shape;127;p49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" name="Google Shape;128;p49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9" name="Google Shape;129;p49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49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1" name="Google Shape;131;p49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49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49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49"/>
          <p:cNvSpPr txBox="1">
            <a:spLocks noGrp="1"/>
          </p:cNvSpPr>
          <p:nvPr>
            <p:ph type="body" idx="4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49"/>
          <p:cNvSpPr txBox="1">
            <a:spLocks noGrp="1"/>
          </p:cNvSpPr>
          <p:nvPr>
            <p:ph type="body" idx="5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49"/>
          <p:cNvSpPr txBox="1">
            <a:spLocks noGrp="1"/>
          </p:cNvSpPr>
          <p:nvPr>
            <p:ph type="body" idx="6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_2">
  <p:cSld name="чистый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50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50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0" name="Google Shape;140;p50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1" name="Google Shape;141;p50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2" name="Google Shape;142;p50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50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50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50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50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5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51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51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1" name="Google Shape;151;p51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2" name="Google Shape;152;p51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51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4" name="Google Shape;154;p51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51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51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51"/>
          <p:cNvSpPr txBox="1">
            <a:spLocks noGrp="1"/>
          </p:cNvSpPr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1"/>
          <p:cNvSpPr txBox="1">
            <a:spLocks noGrp="1"/>
          </p:cNvSpPr>
          <p:nvPr>
            <p:ph type="body" idx="4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51"/>
          <p:cNvSpPr/>
          <p:nvPr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1"/>
          <p:cNvSpPr/>
          <p:nvPr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1"/>
          <p:cNvSpPr/>
          <p:nvPr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1"/>
          <p:cNvSpPr/>
          <p:nvPr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1"/>
          <p:cNvSpPr/>
          <p:nvPr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1"/>
          <p:cNvSpPr/>
          <p:nvPr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1"/>
          <p:cNvSpPr/>
          <p:nvPr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1"/>
          <p:cNvSpPr/>
          <p:nvPr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1"/>
          <p:cNvSpPr/>
          <p:nvPr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1"/>
          <p:cNvSpPr/>
          <p:nvPr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1"/>
          <p:cNvSpPr/>
          <p:nvPr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1"/>
          <p:cNvSpPr/>
          <p:nvPr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1"/>
          <p:cNvSpPr/>
          <p:nvPr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1"/>
          <p:cNvSpPr/>
          <p:nvPr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1"/>
          <p:cNvSpPr/>
          <p:nvPr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1"/>
          <p:cNvSpPr/>
          <p:nvPr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1"/>
          <p:cNvSpPr/>
          <p:nvPr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1"/>
          <p:cNvSpPr/>
          <p:nvPr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1"/>
          <p:cNvSpPr/>
          <p:nvPr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1"/>
          <p:cNvSpPr/>
          <p:nvPr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na531/Fuzzy-Agile-Development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systems11070341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d8sveBeF56fo5aUc0ToMKTChP4s1HwBn/view?usp=drive_link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ogle.com/spreadsheets/d/19LgAIZoDm3VNZLRM6TtRB7lNih_42OYG/edit?usp=drive_link&amp;ouid=111580538807072465554&amp;rtpof=true&amp;sd=true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"/>
          <p:cNvSpPr txBox="1">
            <a:spLocks noGrp="1"/>
          </p:cNvSpPr>
          <p:nvPr>
            <p:ph type="title"/>
          </p:nvPr>
        </p:nvSpPr>
        <p:spPr>
          <a:xfrm>
            <a:off x="1027966" y="2159714"/>
            <a:ext cx="9255285" cy="1597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</a:pPr>
            <a:r>
              <a:rPr lang="ru-RU" sz="3600" dirty="0"/>
              <a:t>Подходы к управлению требованиями при гибкой разработке ПО с использованием аппарата нечетких множеств</a:t>
            </a:r>
            <a:br>
              <a:rPr lang="ru-RU" sz="3600" dirty="0"/>
            </a:br>
            <a:br>
              <a:rPr lang="ru-RU" sz="3600" dirty="0"/>
            </a:br>
            <a:br>
              <a:rPr lang="ru-RU" dirty="0"/>
            </a:br>
            <a:endParaRPr dirty="0"/>
          </a:p>
        </p:txBody>
      </p:sp>
      <p:sp>
        <p:nvSpPr>
          <p:cNvPr id="184" name="Google Shape;184;p1"/>
          <p:cNvSpPr txBox="1">
            <a:spLocks noGrp="1"/>
          </p:cNvSpPr>
          <p:nvPr>
            <p:ph type="body" idx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Факультет компьютерных наук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185" name="Google Shape;185;p1"/>
          <p:cNvSpPr txBox="1">
            <a:spLocks noGrp="1"/>
          </p:cNvSpPr>
          <p:nvPr>
            <p:ph type="body" idx="2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/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86" name="Google Shape;186;p1"/>
          <p:cNvSpPr txBox="1">
            <a:spLocks noGrp="1"/>
          </p:cNvSpPr>
          <p:nvPr>
            <p:ph type="body" idx="3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/>
              <a:t>Москва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/>
              <a:t>2025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87" name="Google Shape;187;p1"/>
          <p:cNvSpPr txBox="1">
            <a:spLocks noGrp="1"/>
          </p:cNvSpPr>
          <p:nvPr>
            <p:ph type="body" idx="4"/>
          </p:nvPr>
        </p:nvSpPr>
        <p:spPr>
          <a:xfrm>
            <a:off x="1027966" y="4554282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2000"/>
              <a:buFont typeface="Arial"/>
              <a:buNone/>
            </a:pPr>
            <a:r>
              <a:rPr lang="ru-RU" sz="2000" b="1" dirty="0"/>
              <a:t>Автор работы: Понаровская Инна Сергеевна</a:t>
            </a:r>
            <a:endParaRPr b="1" dirty="0"/>
          </a:p>
        </p:txBody>
      </p:sp>
      <p:sp>
        <p:nvSpPr>
          <p:cNvPr id="2" name="Google Shape;187;p1">
            <a:extLst>
              <a:ext uri="{FF2B5EF4-FFF2-40B4-BE49-F238E27FC236}">
                <a16:creationId xmlns:a16="http://schemas.microsoft.com/office/drawing/2014/main" id="{F36011B4-5827-DD52-73DA-F91AA487DB9B}"/>
              </a:ext>
            </a:extLst>
          </p:cNvPr>
          <p:cNvSpPr txBox="1">
            <a:spLocks/>
          </p:cNvSpPr>
          <p:nvPr/>
        </p:nvSpPr>
        <p:spPr>
          <a:xfrm>
            <a:off x="1027966" y="3901422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2000"/>
            </a:pPr>
            <a:r>
              <a:rPr lang="ru-RU" sz="2000" dirty="0"/>
              <a:t>Предварительное описание проекта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193" name="Google Shape;193;p2"/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194" name="Google Shape;194;p2"/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"/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9841724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Arial"/>
              <a:buNone/>
            </a:pPr>
            <a:r>
              <a:rPr lang="ru-RU" sz="3200" b="1" dirty="0">
                <a:solidFill>
                  <a:srgbClr val="1F3864"/>
                </a:solidFill>
              </a:rPr>
              <a:t>Содержание доклада</a:t>
            </a:r>
            <a:endParaRPr dirty="0"/>
          </a:p>
        </p:txBody>
      </p:sp>
      <p:sp>
        <p:nvSpPr>
          <p:cNvPr id="196" name="Google Shape;196;p2"/>
          <p:cNvSpPr txBox="1"/>
          <p:nvPr/>
        </p:nvSpPr>
        <p:spPr>
          <a:xfrm>
            <a:off x="553374" y="1898150"/>
            <a:ext cx="10764199" cy="4418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1. Описание предметной области, актуальность, постановка задачи</a:t>
            </a:r>
            <a:endParaRPr sz="2400" dirty="0"/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2. Ключевые слова</a:t>
            </a:r>
            <a:endParaRPr sz="2400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3. Цель работы, исследовательские вопросы</a:t>
            </a:r>
            <a:endParaRPr sz="2400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4. Задачи работы</a:t>
            </a:r>
            <a:endParaRPr sz="2400" dirty="0"/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5. Ожидаемые результаты</a:t>
            </a:r>
            <a:endParaRPr sz="2400" dirty="0"/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6. Применяемые методы (подходы)</a:t>
            </a:r>
            <a:endParaRPr sz="2400" dirty="0"/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8. Дополнение</a:t>
            </a:r>
            <a:endParaRPr sz="2400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9. Список источников</a:t>
            </a:r>
            <a:endParaRPr sz="2400" dirty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/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/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9DB4A62C-A2D2-5B2D-7C68-F02D550A59A8}"/>
              </a:ext>
            </a:extLst>
          </p:cNvPr>
          <p:cNvSpPr txBox="1"/>
          <p:nvPr/>
        </p:nvSpPr>
        <p:spPr>
          <a:xfrm>
            <a:off x="183112" y="1403131"/>
            <a:ext cx="11825775" cy="5055855"/>
          </a:xfrm>
          <a:prstGeom prst="rect">
            <a:avLst/>
          </a:prstGeom>
          <a:solidFill>
            <a:srgbClr val="DDEAF6">
              <a:alpha val="42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1. Описание предметной области, актуальность, постановка задачи</a:t>
            </a:r>
            <a:endParaRPr sz="2600" b="1" dirty="0"/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2. Ключевые слова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3. Цель работы, исследовательские вопросы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4. Задачи работы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5. Ожидаемые результаты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6. Применяемые методы (подходы)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8. Дополнение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/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/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1.1. Предметная область и актуальность исследования</a:t>
            </a:r>
            <a:endParaRPr dirty="0"/>
          </a:p>
        </p:txBody>
      </p:sp>
      <p:sp>
        <p:nvSpPr>
          <p:cNvPr id="213" name="Google Shape;213;p4"/>
          <p:cNvSpPr txBox="1"/>
          <p:nvPr/>
        </p:nvSpPr>
        <p:spPr>
          <a:xfrm>
            <a:off x="553375" y="1745225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772">
              <a:lnSpc>
                <a:spcPct val="105000"/>
              </a:lnSpc>
              <a:buClr>
                <a:srgbClr val="1F3864"/>
              </a:buClr>
              <a:buSzPct val="100000"/>
            </a:pPr>
            <a:r>
              <a:rPr lang="ru-RU" sz="2400" b="1" dirty="0">
                <a:solidFill>
                  <a:srgbClr val="FF0000"/>
                </a:solidFill>
              </a:rPr>
              <a:t>Актуальность</a:t>
            </a:r>
            <a:r>
              <a:rPr lang="ru-RU" sz="2400" dirty="0">
                <a:solidFill>
                  <a:srgbClr val="FF0000"/>
                </a:solidFill>
              </a:rPr>
              <a:t> (</a:t>
            </a:r>
            <a:r>
              <a:rPr lang="en-US" sz="2400" dirty="0">
                <a:solidFill>
                  <a:srgbClr val="FF0000"/>
                </a:solidFill>
              </a:rPr>
              <a:t>gap to knowledge</a:t>
            </a:r>
            <a:r>
              <a:rPr lang="ru-RU" sz="2400" dirty="0">
                <a:solidFill>
                  <a:srgbClr val="FF0000"/>
                </a:solidFill>
              </a:rPr>
              <a:t>) – вопрос еще не решен…</a:t>
            </a:r>
          </a:p>
          <a:p>
            <a:pPr marL="74772">
              <a:lnSpc>
                <a:spcPct val="105000"/>
              </a:lnSpc>
              <a:buClr>
                <a:srgbClr val="1F3864"/>
              </a:buClr>
              <a:buSzPct val="100000"/>
            </a:pPr>
            <a:r>
              <a:rPr lang="ru-RU" sz="2400" b="1" dirty="0">
                <a:solidFill>
                  <a:srgbClr val="FF0000"/>
                </a:solidFill>
              </a:rPr>
              <a:t>Новизна</a:t>
            </a:r>
            <a:r>
              <a:rPr lang="ru-RU" sz="2400" dirty="0">
                <a:solidFill>
                  <a:srgbClr val="FF0000"/>
                </a:solidFill>
              </a:rPr>
              <a:t> – не обязательно научная…</a:t>
            </a:r>
          </a:p>
          <a:p>
            <a:pPr marL="74772">
              <a:lnSpc>
                <a:spcPct val="105000"/>
              </a:lnSpc>
              <a:buClr>
                <a:srgbClr val="1F3864"/>
              </a:buClr>
              <a:buSzPct val="100000"/>
            </a:pPr>
            <a:r>
              <a:rPr lang="ru-RU" sz="2400" dirty="0">
                <a:solidFill>
                  <a:srgbClr val="FF0000"/>
                </a:solidFill>
              </a:rPr>
              <a:t>Обязательно дать </a:t>
            </a:r>
            <a:r>
              <a:rPr lang="ru-RU" sz="2400" b="1" dirty="0">
                <a:solidFill>
                  <a:srgbClr val="FF0000"/>
                </a:solidFill>
              </a:rPr>
              <a:t>ссылки на литературу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BDAE2675-3188-1DFD-DA4D-D6A716BA2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781A4346-6613-C833-F8D2-077C5A6934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B81D6A01-8688-68D6-31A1-B22910DC382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C2DAC7E6-5C51-73AE-594E-1383DB3C304A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CA1FEC74-AF21-5072-E651-F07F98C856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1.2. Предмет и объект исследования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F0886496-2DDA-0E5C-749E-F70D3905CB19}"/>
              </a:ext>
            </a:extLst>
          </p:cNvPr>
          <p:cNvSpPr txBox="1"/>
          <p:nvPr/>
        </p:nvSpPr>
        <p:spPr>
          <a:xfrm>
            <a:off x="398796" y="2076301"/>
            <a:ext cx="10851900" cy="2243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772">
              <a:lnSpc>
                <a:spcPct val="105000"/>
              </a:lnSpc>
              <a:buClr>
                <a:srgbClr val="1F3864"/>
              </a:buClr>
              <a:buSzPct val="100000"/>
            </a:pPr>
            <a:r>
              <a:rPr lang="ru-RU" sz="2400" b="1" dirty="0">
                <a:solidFill>
                  <a:srgbClr val="FF0000"/>
                </a:solidFill>
              </a:rPr>
              <a:t>Объектом исследования </a:t>
            </a:r>
            <a:r>
              <a:rPr lang="ru-RU" sz="2400" dirty="0">
                <a:solidFill>
                  <a:srgbClr val="FF0000"/>
                </a:solidFill>
              </a:rPr>
              <a:t>являются подходы к управлению требованиями при гибкой разработке программного обеспечения (ПО).</a:t>
            </a:r>
          </a:p>
          <a:p>
            <a:pPr marL="74772">
              <a:lnSpc>
                <a:spcPct val="105000"/>
              </a:lnSpc>
              <a:buClr>
                <a:srgbClr val="1F3864"/>
              </a:buClr>
              <a:buSzPct val="100000"/>
            </a:pPr>
            <a:r>
              <a:rPr lang="ru-RU" sz="2400" b="1" dirty="0">
                <a:solidFill>
                  <a:srgbClr val="FF0000"/>
                </a:solidFill>
              </a:rPr>
              <a:t>Предметом исследования </a:t>
            </a:r>
            <a:r>
              <a:rPr lang="ru-RU" sz="2400" dirty="0">
                <a:solidFill>
                  <a:srgbClr val="FF0000"/>
                </a:solidFill>
              </a:rPr>
              <a:t>является аппарат нечетких множеств.</a:t>
            </a:r>
          </a:p>
        </p:txBody>
      </p:sp>
    </p:spTree>
    <p:extLst>
      <p:ext uri="{BB962C8B-B14F-4D97-AF65-F5344CB8AC3E}">
        <p14:creationId xmlns:p14="http://schemas.microsoft.com/office/powerpoint/2010/main" val="759668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20E5233D-AE2B-EC45-20D1-730400FF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F09B1AB2-19CB-8183-B50B-0074CD02FA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504A6692-1549-989C-ECB4-3D696D9E639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18A49470-6F81-0C48-5BE5-76C4941E7161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F08D56C5-7D50-E697-A7D9-222B5E99A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1.3. Постановка задачи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C4B36C78-EF6B-705E-F02C-BA9958E3FCA0}"/>
              </a:ext>
            </a:extLst>
          </p:cNvPr>
          <p:cNvSpPr txBox="1"/>
          <p:nvPr/>
        </p:nvSpPr>
        <p:spPr>
          <a:xfrm>
            <a:off x="398796" y="1905969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772">
              <a:lnSpc>
                <a:spcPct val="105000"/>
              </a:lnSpc>
              <a:buClr>
                <a:srgbClr val="1F3864"/>
              </a:buClr>
              <a:buSzPct val="100000"/>
            </a:pPr>
            <a:r>
              <a:rPr lang="ru-RU" sz="2400" dirty="0">
                <a:solidFill>
                  <a:srgbClr val="FF0000"/>
                </a:solidFill>
              </a:rPr>
              <a:t>Анализ того, что есть, что уже сделано и что надо сделать</a:t>
            </a:r>
          </a:p>
          <a:p>
            <a:pPr marL="74772">
              <a:lnSpc>
                <a:spcPct val="105000"/>
              </a:lnSpc>
              <a:buClr>
                <a:srgbClr val="1F3864"/>
              </a:buClr>
              <a:buSzPct val="100000"/>
            </a:pPr>
            <a:r>
              <a:rPr lang="ru-RU" sz="2400" dirty="0">
                <a:solidFill>
                  <a:srgbClr val="FF0000"/>
                </a:solidFill>
              </a:rPr>
              <a:t>Наглядно представить, что достижение той цели, которая поставлена, позволит решить проблему</a:t>
            </a:r>
          </a:p>
        </p:txBody>
      </p:sp>
    </p:spTree>
    <p:extLst>
      <p:ext uri="{BB962C8B-B14F-4D97-AF65-F5344CB8AC3E}">
        <p14:creationId xmlns:p14="http://schemas.microsoft.com/office/powerpoint/2010/main" val="1243256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B8C49A36-41F8-860F-D6B6-F03653958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C331D1C8-99C6-C084-8EA0-5689687BFC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67B16452-54A1-00F4-BDDE-9A7A5E603EA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7FFC47CB-AA24-BB92-4B8A-D775A9D0FC29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58A41CF1-E856-ADBF-3876-2AE1763BBAA3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2. Ключевые слова</a:t>
            </a:r>
            <a:endParaRPr sz="2600" b="1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3. Цель работы, исследовательские вопросы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4. Задачи работы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5. Ожидаемые результаты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6. Применяемые методы (подходы)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8. Дополнение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6746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CF172071-4137-E274-C319-C2C84830A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5D8A3C14-FBE1-54F3-5C7B-5425E78A6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5D333400-6601-C951-3970-20728DA2AE4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10E4B763-D5EF-02FB-A394-5EDC9CECF83A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B4B8352D-8180-EE85-0231-E918F806CC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2. Ключевые слова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6C485F59-6341-585B-6817-4BD52C5ED506}"/>
              </a:ext>
            </a:extLst>
          </p:cNvPr>
          <p:cNvSpPr txBox="1"/>
          <p:nvPr/>
        </p:nvSpPr>
        <p:spPr>
          <a:xfrm>
            <a:off x="553375" y="1745225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772">
              <a:lnSpc>
                <a:spcPct val="115000"/>
              </a:lnSpc>
              <a:buClr>
                <a:srgbClr val="1F3864"/>
              </a:buClr>
              <a:buSzPct val="100000"/>
            </a:pPr>
            <a:r>
              <a:rPr lang="ru-RU" sz="2800" dirty="0">
                <a:solidFill>
                  <a:srgbClr val="FF0000"/>
                </a:solidFill>
              </a:rPr>
              <a:t>Гибкая разработка ПО; сбор требований; формализация требований; приоритизация требований; нечеткие множества; нечеткие числа; размытость; </a:t>
            </a:r>
            <a:r>
              <a:rPr lang="ru-RU" sz="2800" dirty="0" err="1">
                <a:solidFill>
                  <a:srgbClr val="FF0000"/>
                </a:solidFill>
              </a:rPr>
              <a:t>дефаззификация</a:t>
            </a:r>
            <a:r>
              <a:rPr lang="ru-RU" sz="2800" dirty="0">
                <a:solidFill>
                  <a:srgbClr val="FF0000"/>
                </a:solidFill>
              </a:rPr>
              <a:t>; оценки стейкхолдеров.</a:t>
            </a:r>
          </a:p>
        </p:txBody>
      </p:sp>
    </p:spTree>
    <p:extLst>
      <p:ext uri="{BB962C8B-B14F-4D97-AF65-F5344CB8AC3E}">
        <p14:creationId xmlns:p14="http://schemas.microsoft.com/office/powerpoint/2010/main" val="3972876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9E137046-72BB-AAAD-19C3-993D7406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79FDCBAF-953D-342C-C285-4339FB247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30308348-C169-99FE-CE09-273E8598770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19DF0F02-EF3B-8C00-E647-F4752FA4A269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F59A74CA-97EB-5FE5-C3B1-9A5AC63A4242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2. Ключевые слова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3. Цель работы, исследовательские вопросы</a:t>
            </a:r>
            <a:endParaRPr sz="2600" b="1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4. Задачи работы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5. Ожидаемые результаты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6. Применяемые методы (подходы)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8. Дополнение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8325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D7FAC398-30A7-D614-F93F-8DC5E1F1D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2B5BC410-68EC-C773-F824-D31542FAF5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39D75DA7-B5F1-9F01-6E40-4B25669B65C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E2E92290-3436-91B9-3EE9-69BB12B78BBF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90BF2F4A-0822-79C6-085D-B2B89617BF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3.1. Цель работы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838A5A19-370C-B11D-77F1-E01FDA23BEF7}"/>
              </a:ext>
            </a:extLst>
          </p:cNvPr>
          <p:cNvSpPr txBox="1"/>
          <p:nvPr/>
        </p:nvSpPr>
        <p:spPr>
          <a:xfrm>
            <a:off x="553375" y="1745225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772">
              <a:lnSpc>
                <a:spcPct val="115000"/>
              </a:lnSpc>
              <a:buClr>
                <a:srgbClr val="1F3864"/>
              </a:buClr>
              <a:buSzPct val="100000"/>
            </a:pPr>
            <a:r>
              <a:rPr lang="ru-RU" sz="2800" dirty="0">
                <a:solidFill>
                  <a:srgbClr val="FF0000"/>
                </a:solidFill>
              </a:rPr>
              <a:t>Целью данной работы является исследование возможности и способов применения аппарата нечеткой логики к процессу управления требованиями при гибкой разработке ПО</a:t>
            </a:r>
          </a:p>
          <a:p>
            <a:pPr marL="74772">
              <a:lnSpc>
                <a:spcPct val="115000"/>
              </a:lnSpc>
              <a:buClr>
                <a:srgbClr val="1F3864"/>
              </a:buClr>
              <a:buSzPct val="100000"/>
            </a:pPr>
            <a:r>
              <a:rPr lang="ru-RU" sz="2800" dirty="0">
                <a:solidFill>
                  <a:srgbClr val="FF0000"/>
                </a:solidFill>
              </a:rPr>
              <a:t>или</a:t>
            </a:r>
          </a:p>
          <a:p>
            <a:pPr marL="74772">
              <a:lnSpc>
                <a:spcPct val="115000"/>
              </a:lnSpc>
              <a:buClr>
                <a:srgbClr val="1F3864"/>
              </a:buClr>
              <a:buSzPct val="100000"/>
            </a:pPr>
            <a:r>
              <a:rPr lang="ru-RU" sz="2800" dirty="0">
                <a:solidFill>
                  <a:srgbClr val="FF0000"/>
                </a:solidFill>
              </a:rPr>
              <a:t>Исследование и анализ результатов применения нечеткого подхода к процессу управлению требованиями при гибкой разработке ПО.</a:t>
            </a:r>
          </a:p>
          <a:p>
            <a:pPr marL="74772">
              <a:lnSpc>
                <a:spcPct val="115000"/>
              </a:lnSpc>
              <a:buClr>
                <a:srgbClr val="1F3864"/>
              </a:buClr>
              <a:buSzPct val="100000"/>
            </a:pPr>
            <a:endParaRPr lang="ru-RU" sz="2800" dirty="0">
              <a:solidFill>
                <a:srgbClr val="FF0000"/>
              </a:solidFill>
            </a:endParaRPr>
          </a:p>
          <a:p>
            <a:pPr marL="74772">
              <a:lnSpc>
                <a:spcPct val="115000"/>
              </a:lnSpc>
              <a:buClr>
                <a:srgbClr val="1F3864"/>
              </a:buClr>
              <a:buSzPct val="100000"/>
            </a:pPr>
            <a:endParaRPr lang="ru-RU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649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A5108D9A-37E4-8448-E884-128306B4C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85AB66B5-F99E-76A6-8304-C22EC7218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A9C297D7-1C5E-5CF8-5244-5A96A8A75AF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0563F39B-B6E1-0946-F84D-544B2CA84197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3657ABDC-7662-6812-1DE1-782DC2A0F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3.2. Исследовательские вопросы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436B77D0-00C7-D91D-6D01-E47D6DEF5CD4}"/>
              </a:ext>
            </a:extLst>
          </p:cNvPr>
          <p:cNvSpPr txBox="1"/>
          <p:nvPr/>
        </p:nvSpPr>
        <p:spPr>
          <a:xfrm>
            <a:off x="553375" y="1745225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sz="2000" i="1" dirty="0">
                <a:solidFill>
                  <a:srgbClr val="FF0000"/>
                </a:solidFill>
              </a:rPr>
              <a:t>Что такое гибкие требования при разработке ПО и почему они возникли?</a:t>
            </a:r>
            <a:endParaRPr lang="ru-RU" sz="2000" dirty="0">
              <a:solidFill>
                <a:srgbClr val="FF0000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000" i="1" dirty="0">
                <a:solidFill>
                  <a:srgbClr val="FF0000"/>
                </a:solidFill>
              </a:rPr>
              <a:t>В чем специфика и сложность работы с требованиями в гибкой разработке по сравнению с традиционной?</a:t>
            </a:r>
            <a:endParaRPr lang="ru-RU" sz="2000" dirty="0">
              <a:solidFill>
                <a:srgbClr val="FF0000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000" i="1" dirty="0">
                <a:solidFill>
                  <a:srgbClr val="FF0000"/>
                </a:solidFill>
              </a:rPr>
              <a:t>Какие условия и ограничения накладывает ли </a:t>
            </a:r>
            <a:r>
              <a:rPr lang="en-US" sz="2000" i="1" dirty="0">
                <a:solidFill>
                  <a:srgbClr val="FF0000"/>
                </a:solidFill>
              </a:rPr>
              <a:t>Agile</a:t>
            </a:r>
            <a:r>
              <a:rPr lang="ru-RU" sz="2000" i="1" dirty="0">
                <a:solidFill>
                  <a:srgbClr val="FF0000"/>
                </a:solidFill>
              </a:rPr>
              <a:t>-подход на требования к ПО?</a:t>
            </a:r>
            <a:endParaRPr lang="ru-RU" sz="2000" dirty="0">
              <a:solidFill>
                <a:srgbClr val="FF0000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000" i="1" dirty="0">
                <a:solidFill>
                  <a:srgbClr val="FF0000"/>
                </a:solidFill>
              </a:rPr>
              <a:t>В каких областях управления требованиями уме</a:t>
            </a:r>
            <a:r>
              <a:rPr lang="en-US" sz="2000" i="1" dirty="0">
                <a:solidFill>
                  <a:srgbClr val="FF0000"/>
                </a:solidFill>
              </a:rPr>
              <a:t>c</a:t>
            </a:r>
            <a:r>
              <a:rPr lang="ru-RU" sz="2000" i="1" dirty="0" err="1">
                <a:solidFill>
                  <a:srgbClr val="FF0000"/>
                </a:solidFill>
              </a:rPr>
              <a:t>тно</a:t>
            </a:r>
            <a:r>
              <a:rPr lang="ru-RU" sz="2000" i="1" dirty="0">
                <a:solidFill>
                  <a:srgbClr val="FF0000"/>
                </a:solidFill>
              </a:rPr>
              <a:t> применение нечеткой логики?</a:t>
            </a:r>
            <a:endParaRPr lang="ru-RU" sz="2000" dirty="0">
              <a:solidFill>
                <a:srgbClr val="FF0000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000" b="1" i="1" dirty="0">
                <a:solidFill>
                  <a:srgbClr val="FF0000"/>
                </a:solidFill>
              </a:rPr>
              <a:t>Позволяет ли нечеткое моделирование предоставить больше информации о требованиях при гибкой разработке ПО?</a:t>
            </a:r>
            <a:endParaRPr lang="ru-RU" sz="2000" dirty="0">
              <a:solidFill>
                <a:srgbClr val="FF0000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000" i="1" dirty="0">
                <a:solidFill>
                  <a:srgbClr val="FF0000"/>
                </a:solidFill>
              </a:rPr>
              <a:t>Какие элементы разработки ПО можно формализовать с использованием нечеткого подхода без «потери» гибкости и противоречия принципам </a:t>
            </a:r>
            <a:r>
              <a:rPr lang="en-US" sz="2000" i="1" dirty="0">
                <a:solidFill>
                  <a:srgbClr val="FF0000"/>
                </a:solidFill>
              </a:rPr>
              <a:t>Agile</a:t>
            </a:r>
            <a:r>
              <a:rPr lang="ru-RU" sz="2000" i="1" dirty="0">
                <a:solidFill>
                  <a:srgbClr val="FF0000"/>
                </a:solidFill>
              </a:rPr>
              <a:t>?</a:t>
            </a:r>
            <a:endParaRPr lang="ru-RU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273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015138A0-8957-938A-80FE-46C30D32D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E51C4016-4119-A44D-2454-8D56617D1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EBA1086D-54F8-4BAD-3E26-138202BCB57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3ADC6C25-4604-81EB-4D9D-EEBFBF9B31B6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BAFEF820-6C94-D309-BC79-C452D8E41216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2. Ключевые слова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3. Цель работы, исследовательские вопросы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4. Задачи работы</a:t>
            </a:r>
            <a:endParaRPr sz="2600" b="1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5. Ожидаемые результаты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6. Применяемые методы (подходы)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8. Дополнение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4337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41F88A3A-A1C7-AB77-4548-793485750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BBFD6CAC-978B-E890-21EE-9358B06647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A88F52FF-1EFC-40C0-C0A3-4C61070DA36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2C5F555D-2D1C-C4E1-6BFB-777A96C642F2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A7F65F87-79FE-A05C-EF44-03A7E9CE30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4. Задачи работы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6C4B834B-DD3D-8C63-F1DC-3596C5DBBA2F}"/>
              </a:ext>
            </a:extLst>
          </p:cNvPr>
          <p:cNvSpPr txBox="1"/>
          <p:nvPr/>
        </p:nvSpPr>
        <p:spPr>
          <a:xfrm>
            <a:off x="553375" y="1745225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1"/>
            <a:r>
              <a:rPr lang="ru-RU" sz="1800" b="1" dirty="0">
                <a:solidFill>
                  <a:srgbClr val="FF0000"/>
                </a:solidFill>
              </a:rPr>
              <a:t>По этапам управления требований</a:t>
            </a:r>
            <a:r>
              <a:rPr lang="ru-RU" sz="1800" dirty="0">
                <a:solidFill>
                  <a:srgbClr val="FF0000"/>
                </a:solidFill>
              </a:rPr>
              <a:t>, в которых определили целесообразность нечеткого моделирования </a:t>
            </a:r>
            <a:r>
              <a:rPr lang="ru-RU" sz="1800" b="1" dirty="0">
                <a:solidFill>
                  <a:srgbClr val="FF0000"/>
                </a:solidFill>
              </a:rPr>
              <a:t>определить</a:t>
            </a:r>
            <a:r>
              <a:rPr lang="ru-RU" sz="1800" dirty="0">
                <a:solidFill>
                  <a:srgbClr val="FF0000"/>
                </a:solidFill>
              </a:rPr>
              <a:t> </a:t>
            </a:r>
            <a:r>
              <a:rPr lang="ru-RU" sz="1800" b="1" dirty="0">
                <a:solidFill>
                  <a:srgbClr val="FF0000"/>
                </a:solidFill>
              </a:rPr>
              <a:t>механизм применения нечетких множеств: в сборе и приоритизации требований.</a:t>
            </a:r>
            <a:endParaRPr lang="ru-RU" sz="1800" dirty="0">
              <a:solidFill>
                <a:srgbClr val="FF0000"/>
              </a:solidFill>
            </a:endParaRPr>
          </a:p>
          <a:p>
            <a:pPr lvl="1"/>
            <a:r>
              <a:rPr lang="ru-RU" sz="1800" b="1" dirty="0">
                <a:solidFill>
                  <a:srgbClr val="FF0000"/>
                </a:solidFill>
              </a:rPr>
              <a:t>В сборе требований рассмотреть процесс формализации требований</a:t>
            </a:r>
            <a:r>
              <a:rPr lang="ru-RU" sz="1800" dirty="0">
                <a:solidFill>
                  <a:srgbClr val="FF0000"/>
                </a:solidFill>
              </a:rPr>
              <a:t> для включения в бэклог разработки. Как выполнить переход от зафиксированной информации от стейкхолдера к формальным требованиям к разрабатываемому ПО. Предложенный подход, с одной стороны, должен быть четко и ясно формализован, с другой – сохранять гибкость подхода к разработке (соблюдение принципов </a:t>
            </a:r>
            <a:r>
              <a:rPr lang="en-US" sz="1800" dirty="0">
                <a:solidFill>
                  <a:srgbClr val="FF0000"/>
                </a:solidFill>
              </a:rPr>
              <a:t>Agile</a:t>
            </a:r>
            <a:r>
              <a:rPr lang="ru-RU" sz="1800" dirty="0">
                <a:solidFill>
                  <a:srgbClr val="FF0000"/>
                </a:solidFill>
              </a:rPr>
              <a:t>-методологии). Здесь полностью алгоритмический подход вряд ли возможен, Элемент субъективности в описании требований вероятнее всего останется, человеческий фактор останется. Дать сравнение результатов с применением нечетких множеств и без них.</a:t>
            </a:r>
          </a:p>
          <a:p>
            <a:pPr lvl="1"/>
            <a:r>
              <a:rPr lang="ru-RU" sz="1800" b="1" dirty="0">
                <a:solidFill>
                  <a:srgbClr val="FF0000"/>
                </a:solidFill>
              </a:rPr>
              <a:t>В процессе приоритизации требований </a:t>
            </a:r>
            <a:r>
              <a:rPr lang="ru-RU" sz="1800" dirty="0">
                <a:solidFill>
                  <a:srgbClr val="FF0000"/>
                </a:solidFill>
              </a:rPr>
              <a:t>(как уже рассмотрено выше – речь пойдет о коллективном принятии решений, в случае частичного консенсуса или его полного отсутствия, выбор метода приоритизации также будет сделан в теоретической главе, возможно это будет </a:t>
            </a:r>
            <a:r>
              <a:rPr lang="en-US" sz="1800" dirty="0" err="1">
                <a:solidFill>
                  <a:srgbClr val="FF0000"/>
                </a:solidFill>
              </a:rPr>
              <a:t>MoSCoW</a:t>
            </a:r>
            <a:r>
              <a:rPr lang="ru-RU" sz="1800" dirty="0">
                <a:solidFill>
                  <a:srgbClr val="FF0000"/>
                </a:solidFill>
              </a:rPr>
              <a:t>) будет рассмотрен нечеткий подход и его сравнение с традиционным (четким подходом).</a:t>
            </a:r>
          </a:p>
        </p:txBody>
      </p:sp>
    </p:spTree>
    <p:extLst>
      <p:ext uri="{BB962C8B-B14F-4D97-AF65-F5344CB8AC3E}">
        <p14:creationId xmlns:p14="http://schemas.microsoft.com/office/powerpoint/2010/main" val="209198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D050DEFD-0DCB-A79E-432E-3A1B89A7B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F26A9063-DA90-C85D-E9F9-AAD63EFCA2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8D9138E2-7A3A-DA9A-890A-40531CC8D59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5F9846A0-FBC7-92C4-0CF0-FB8B5412D394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07E894B9-085A-C91F-438F-A58D20F65136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2. Ключевые слова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3. Цель работы, исследовательские вопросы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4. Задачи работы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5. Ожидаемые результаты</a:t>
            </a:r>
            <a:endParaRPr sz="2600" b="1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6. Применяемые методы (подходы)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8. Дополнение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175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DDFCA3F3-B343-2090-0818-F3C6C6C3F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C7B94318-D28C-4F3A-FEC7-562AD407AA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9C2A4DB8-AA29-56A5-4AE9-4CB4FBFD259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0EE9F64C-3684-915A-319B-469BEBECC871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8CD7BBDF-A7CB-904C-4882-F975E1287F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5. Ожидаемые результаты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EEE1F05A-9FE9-7C5E-28F5-BEDF69D3D720}"/>
              </a:ext>
            </a:extLst>
          </p:cNvPr>
          <p:cNvSpPr txBox="1"/>
          <p:nvPr/>
        </p:nvSpPr>
        <p:spPr>
          <a:xfrm>
            <a:off x="553375" y="1745225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solidFill>
                  <a:srgbClr val="FF0000"/>
                </a:solidFill>
              </a:rPr>
              <a:t>Выполнен сравнительный анализ подходов к управлению требований в гибком и традиционном подходе к разработке ПО;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solidFill>
                  <a:srgbClr val="FF0000"/>
                </a:solidFill>
              </a:rPr>
              <a:t>Выполнено описание этапов гибкого управления требований и обоснованные рекомендации по применением нечеткого подхода к тем разделам, где он целесообразен;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solidFill>
                  <a:srgbClr val="FF0000"/>
                </a:solidFill>
              </a:rPr>
              <a:t>Выполнено описание методов приоритизации требований при коллективном принятии решений и методические подходы к задаче принятия коллективных решений при отсутствии начального полного консенсуса;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solidFill>
                  <a:srgbClr val="FF0000"/>
                </a:solidFill>
              </a:rPr>
              <a:t>Дана классификация типов нечетких множеств и выполнено обоснование целесообразности их применения к решению задач данного исследования;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solidFill>
                  <a:srgbClr val="FF0000"/>
                </a:solidFill>
              </a:rPr>
              <a:t>Сформулированы методологические подходы применения теории нечетких множеств в процессе формализации и приоритизации требований к разрабатываемому ПО;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solidFill>
                  <a:srgbClr val="FF0000"/>
                </a:solidFill>
              </a:rPr>
              <a:t>Выполнено обоснование целесообразности применение нечеткого подхода в процессе управления требованиями в виде сравнения результатов нечетких вычислений и традиционного четкого подхода;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solidFill>
                  <a:srgbClr val="FF0000"/>
                </a:solidFill>
              </a:rPr>
              <a:t>Отмечены возможные дальнейшие направления исследований применения теории нечетких множеств в </a:t>
            </a:r>
            <a:r>
              <a:rPr lang="en-US" sz="1800" dirty="0">
                <a:solidFill>
                  <a:srgbClr val="FF0000"/>
                </a:solidFill>
              </a:rPr>
              <a:t>Agile</a:t>
            </a:r>
            <a:r>
              <a:rPr lang="ru-RU" sz="1800" dirty="0">
                <a:solidFill>
                  <a:srgbClr val="FF0000"/>
                </a:solidFill>
              </a:rPr>
              <a:t>-в общем и инженерии требований в частности</a:t>
            </a:r>
            <a:r>
              <a:rPr lang="ru-RU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1734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65B007BC-3972-BB9B-1823-E9C07A31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5B8F1360-2917-8E00-72D7-7A627F83A2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9673C9B0-027F-C411-A02C-4C65A2FD1EA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9E1578B6-10DB-1760-7DE1-7AA60A3AF332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EC13A764-D3F9-7886-70F4-648132F6185A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2. Ключевые слова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3. Цель работы, исследовательские вопросы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4. Задачи работы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5. Ожидаемые результаты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6. Применяемые методы (подходы)</a:t>
            </a:r>
            <a:endParaRPr sz="2600" b="1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8. Дополнение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3402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1DBAB375-DAD2-E511-D7AE-D0C36B5A7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AFCEF295-D393-EBD6-EE84-0B4D2554B8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5C4241C3-0E6F-7645-01AF-8783F0D2A7B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73794F5D-17EF-2C63-959A-6105E904ABD4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FC889D27-FCA2-2C11-E618-3A60E42379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6. Применяемые методы (подходы)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AD5AC2C7-0804-8CCF-196C-52C6FD5AF23F}"/>
              </a:ext>
            </a:extLst>
          </p:cNvPr>
          <p:cNvSpPr txBox="1"/>
          <p:nvPr/>
        </p:nvSpPr>
        <p:spPr>
          <a:xfrm>
            <a:off x="553375" y="1745225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sz="2400" dirty="0">
                <a:solidFill>
                  <a:srgbClr val="FF0000"/>
                </a:solidFill>
              </a:rPr>
              <a:t>Для выполнения расчетов будет использован аппарат </a:t>
            </a:r>
            <a:r>
              <a:rPr lang="ru-RU" sz="2400" b="1" dirty="0">
                <a:solidFill>
                  <a:srgbClr val="FF0000"/>
                </a:solidFill>
              </a:rPr>
              <a:t>нечетких множеств</a:t>
            </a:r>
            <a:r>
              <a:rPr lang="ru-RU" sz="2400" dirty="0">
                <a:solidFill>
                  <a:srgbClr val="FF0000"/>
                </a:solidFill>
              </a:rPr>
              <a:t> (англ. </a:t>
            </a:r>
            <a:r>
              <a:rPr lang="en-US" sz="2400" i="1" dirty="0">
                <a:solidFill>
                  <a:srgbClr val="FF0000"/>
                </a:solidFill>
              </a:rPr>
              <a:t>Fuzzy Sets</a:t>
            </a:r>
            <a:r>
              <a:rPr lang="ru-RU" sz="2400" dirty="0">
                <a:solidFill>
                  <a:srgbClr val="FF0000"/>
                </a:solidFill>
              </a:rPr>
              <a:t>, </a:t>
            </a:r>
            <a:r>
              <a:rPr lang="ru-RU" sz="2400" dirty="0" err="1">
                <a:solidFill>
                  <a:srgbClr val="FF0000"/>
                </a:solidFill>
              </a:rPr>
              <a:t>аббр</a:t>
            </a:r>
            <a:r>
              <a:rPr lang="ru-RU" sz="2400" dirty="0">
                <a:solidFill>
                  <a:srgbClr val="FF0000"/>
                </a:solidFill>
              </a:rPr>
              <a:t>. </a:t>
            </a:r>
            <a:r>
              <a:rPr lang="en-US" sz="2400" i="1" dirty="0">
                <a:solidFill>
                  <a:srgbClr val="FF0000"/>
                </a:solidFill>
              </a:rPr>
              <a:t>FS</a:t>
            </a:r>
            <a:r>
              <a:rPr lang="ru-RU" sz="2400" dirty="0">
                <a:solidFill>
                  <a:srgbClr val="FF0000"/>
                </a:solidFill>
              </a:rPr>
              <a:t>), для </a:t>
            </a:r>
            <a:r>
              <a:rPr lang="ru-RU" sz="2400" dirty="0" err="1">
                <a:solidFill>
                  <a:srgbClr val="FF0000"/>
                </a:solidFill>
              </a:rPr>
              <a:t>д</a:t>
            </a:r>
            <a:r>
              <a:rPr lang="ru-RU" sz="2400" b="1" dirty="0" err="1">
                <a:solidFill>
                  <a:srgbClr val="FF0000"/>
                </a:solidFill>
              </a:rPr>
              <a:t>ефаззификации</a:t>
            </a:r>
            <a:r>
              <a:rPr lang="ru-RU" sz="2400" dirty="0">
                <a:solidFill>
                  <a:srgbClr val="FF0000"/>
                </a:solidFill>
              </a:rPr>
              <a:t> нечетких результатов планируется применение </a:t>
            </a:r>
            <a:r>
              <a:rPr lang="en-US" sz="2400" b="1" dirty="0">
                <a:solidFill>
                  <a:srgbClr val="FF0000"/>
                </a:solidFill>
              </a:rPr>
              <a:t>α</a:t>
            </a:r>
            <a:r>
              <a:rPr lang="ru-RU" sz="2400" b="1" dirty="0">
                <a:solidFill>
                  <a:srgbClr val="FF0000"/>
                </a:solidFill>
              </a:rPr>
              <a:t>-срезов</a:t>
            </a:r>
            <a:r>
              <a:rPr lang="ru-RU" sz="2400" i="1" dirty="0">
                <a:solidFill>
                  <a:srgbClr val="FF0000"/>
                </a:solidFill>
              </a:rPr>
              <a:t>.</a:t>
            </a:r>
            <a:endParaRPr lang="ru-RU" sz="2400" dirty="0">
              <a:solidFill>
                <a:srgbClr val="FF0000"/>
              </a:solidFill>
            </a:endParaRPr>
          </a:p>
          <a:p>
            <a:r>
              <a:rPr lang="ru-RU" sz="2400" dirty="0">
                <a:solidFill>
                  <a:srgbClr val="FF0000"/>
                </a:solidFill>
              </a:rPr>
              <a:t> </a:t>
            </a:r>
          </a:p>
          <a:p>
            <a:r>
              <a:rPr lang="ru-RU" sz="2400" dirty="0">
                <a:solidFill>
                  <a:srgbClr val="FF0000"/>
                </a:solidFill>
              </a:rPr>
              <a:t>В качестве метода приоритизации требований будет использован </a:t>
            </a:r>
            <a:r>
              <a:rPr lang="ru-RU" sz="2400" b="1" dirty="0">
                <a:solidFill>
                  <a:srgbClr val="FF0000"/>
                </a:solidFill>
              </a:rPr>
              <a:t>метод </a:t>
            </a:r>
            <a:r>
              <a:rPr lang="en-US" sz="2400" b="1" dirty="0" err="1">
                <a:solidFill>
                  <a:srgbClr val="FF0000"/>
                </a:solidFill>
              </a:rPr>
              <a:t>MoSCoW</a:t>
            </a:r>
            <a:r>
              <a:rPr lang="ru-RU" sz="2400" dirty="0">
                <a:solidFill>
                  <a:srgbClr val="FF0000"/>
                </a:solidFill>
              </a:rPr>
              <a:t>, как достаточно простой и наглядный инструмент, позволяющий оперативно получить искомый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765057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E512ADFC-4DED-777F-46B8-39075EF4A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0898E575-DF26-E34A-A7F7-7D96A346B2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9ECD5C18-EFD0-640D-1E59-ECD5EB6B4DD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8ECA4356-2B28-90A3-F180-377D7E7D9209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27900E28-56C5-34D4-4686-D8579BBA9129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2. Ключевые слова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3. Цель работы, исследовательские вопросы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4. Задачи работы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5. Ожидаемые результаты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6. Применяемые методы (подходы)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8. Дополнение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6564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A3010CB9-7286-722A-BA86-709F2D8BA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067989FC-8F5F-4306-08D0-D0DEE4F38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02F01219-F8AD-7E0E-62CD-53E4B644A29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0723B8C6-F956-C7D9-5C8E-12DD97587F65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6DBEC3A8-D8EF-337E-BE81-9CE6527F7D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7. Используемые инструменты (технологии)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D7C15FBF-7165-377C-E6F7-F621D9737EBA}"/>
              </a:ext>
            </a:extLst>
          </p:cNvPr>
          <p:cNvSpPr txBox="1"/>
          <p:nvPr/>
        </p:nvSpPr>
        <p:spPr>
          <a:xfrm>
            <a:off x="553375" y="1745225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sz="1800" dirty="0">
                <a:solidFill>
                  <a:srgbClr val="FF0000"/>
                </a:solidFill>
              </a:rPr>
              <a:t>Программная реализация расчетов будет выполнена на языке </a:t>
            </a:r>
            <a:r>
              <a:rPr lang="en-US" sz="1800" i="1" dirty="0">
                <a:solidFill>
                  <a:srgbClr val="FF0000"/>
                </a:solidFill>
              </a:rPr>
              <a:t>Python</a:t>
            </a:r>
            <a:r>
              <a:rPr lang="ru-RU" sz="1800" i="1" dirty="0">
                <a:solidFill>
                  <a:srgbClr val="FF0000"/>
                </a:solidFill>
              </a:rPr>
              <a:t>, </a:t>
            </a:r>
            <a:r>
              <a:rPr lang="ru-RU" sz="1800" dirty="0">
                <a:solidFill>
                  <a:srgbClr val="FF0000"/>
                </a:solidFill>
              </a:rPr>
              <a:t>что позволит представить расчетный механизм в виде алгоритма, сделать процесс вычисления быстрым и гибким, так как входные параметры могут легко меняться пользователем в зависимости от решаемой задачи. При необходимости данные для наглядности могут быть представлены в виде таблиц </a:t>
            </a:r>
            <a:r>
              <a:rPr lang="en-US" sz="1800" dirty="0">
                <a:solidFill>
                  <a:srgbClr val="FF0000"/>
                </a:solidFill>
              </a:rPr>
              <a:t>Excel</a:t>
            </a:r>
            <a:r>
              <a:rPr lang="ru-RU" sz="1800" dirty="0">
                <a:solidFill>
                  <a:srgbClr val="FF0000"/>
                </a:solidFill>
              </a:rPr>
              <a:t>. На все электронные таблицы, программный код будут даны ссылки в приложениях к данной выпускной квалификационной работе. Сами файлы будут размещены на сайте </a:t>
            </a:r>
            <a:r>
              <a:rPr lang="ru-RU" sz="1800" u="sng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</a:t>
            </a:r>
            <a:r>
              <a:rPr lang="ru-RU" sz="1800" dirty="0">
                <a:solidFill>
                  <a:srgbClr val="FF0000"/>
                </a:solidFill>
              </a:rPr>
              <a:t>, в репозитории «</a:t>
            </a:r>
            <a:r>
              <a:rPr lang="en-US" sz="1800" i="1" dirty="0">
                <a:solidFill>
                  <a:srgbClr val="FF0000"/>
                </a:solidFill>
              </a:rPr>
              <a:t>Fuzzy Agile Development</a:t>
            </a:r>
            <a:r>
              <a:rPr lang="ru-RU" sz="1800" dirty="0">
                <a:solidFill>
                  <a:srgbClr val="FF0000"/>
                </a:solidFill>
              </a:rPr>
              <a:t>». Ссылка на репозиторий: </a:t>
            </a:r>
            <a:r>
              <a:rPr lang="ru-RU" sz="1800" u="sng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https://github.com/inna531/Fuzzy-Agile-Development</a:t>
            </a:r>
            <a:r>
              <a:rPr lang="ru-RU" sz="1800" dirty="0">
                <a:solidFill>
                  <a:srgbClr val="FF0000"/>
                </a:solidFill>
              </a:rPr>
              <a:t>.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PERT</a:t>
            </a:r>
            <a:r>
              <a:rPr lang="ru-RU" sz="1800" b="1" dirty="0">
                <a:solidFill>
                  <a:srgbClr val="FF0000"/>
                </a:solidFill>
              </a:rPr>
              <a:t> диаграмма</a:t>
            </a:r>
            <a:r>
              <a:rPr lang="ru-RU" sz="1800" dirty="0">
                <a:solidFill>
                  <a:srgbClr val="FF0000"/>
                </a:solidFill>
              </a:rPr>
              <a:t> проекта будет выполнена в таблице </a:t>
            </a:r>
            <a:r>
              <a:rPr lang="en-US" sz="1800" dirty="0">
                <a:solidFill>
                  <a:srgbClr val="FF0000"/>
                </a:solidFill>
              </a:rPr>
              <a:t>Excel</a:t>
            </a:r>
            <a:r>
              <a:rPr lang="ru-RU" sz="1800" dirty="0">
                <a:solidFill>
                  <a:srgbClr val="FF0000"/>
                </a:solidFill>
              </a:rPr>
              <a:t>, что позволит оперативно корректировать план работы над исследованием.</a:t>
            </a:r>
          </a:p>
          <a:p>
            <a:r>
              <a:rPr lang="ru-RU" sz="1800" dirty="0">
                <a:solidFill>
                  <a:srgbClr val="FF0000"/>
                </a:solidFill>
              </a:rPr>
              <a:t>Инструмент для построения </a:t>
            </a:r>
            <a:r>
              <a:rPr lang="ru-RU" sz="1800" b="1" dirty="0">
                <a:solidFill>
                  <a:srgbClr val="FF0000"/>
                </a:solidFill>
              </a:rPr>
              <a:t>ментальной карты</a:t>
            </a:r>
            <a:r>
              <a:rPr lang="ru-RU" sz="1800" dirty="0">
                <a:solidFill>
                  <a:srgbClr val="FF0000"/>
                </a:solidFill>
              </a:rPr>
              <a:t> (англ.</a:t>
            </a:r>
            <a:r>
              <a:rPr lang="ru-RU" sz="1800" i="1" dirty="0">
                <a:solidFill>
                  <a:srgbClr val="FF0000"/>
                </a:solidFill>
              </a:rPr>
              <a:t> </a:t>
            </a:r>
            <a:r>
              <a:rPr lang="en-US" sz="1800" i="1" dirty="0">
                <a:solidFill>
                  <a:srgbClr val="FF0000"/>
                </a:solidFill>
              </a:rPr>
              <a:t>Mind Map</a:t>
            </a:r>
            <a:r>
              <a:rPr lang="ru-RU" sz="1800" dirty="0">
                <a:solidFill>
                  <a:srgbClr val="FF0000"/>
                </a:solidFill>
              </a:rPr>
              <a:t>) еще предстоит выбрать.</a:t>
            </a:r>
          </a:p>
          <a:p>
            <a:r>
              <a:rPr lang="ru-RU" sz="1800" dirty="0">
                <a:solidFill>
                  <a:srgbClr val="FF0000"/>
                </a:solidFill>
              </a:rPr>
              <a:t>Для построения </a:t>
            </a:r>
            <a:r>
              <a:rPr lang="ru-RU" sz="1800" b="1" dirty="0">
                <a:solidFill>
                  <a:srgbClr val="FF0000"/>
                </a:solidFill>
              </a:rPr>
              <a:t>«дерева источников»</a:t>
            </a:r>
            <a:r>
              <a:rPr lang="ru-RU" sz="1800" dirty="0">
                <a:solidFill>
                  <a:srgbClr val="FF0000"/>
                </a:solidFill>
              </a:rPr>
              <a:t> (в разделе Список источников (</a:t>
            </a:r>
            <a:r>
              <a:rPr lang="ru-RU" sz="1800" dirty="0" err="1">
                <a:solidFill>
                  <a:srgbClr val="FF0000"/>
                </a:solidFill>
              </a:rPr>
              <a:t>references</a:t>
            </a:r>
            <a:r>
              <a:rPr lang="ru-RU" sz="1800" dirty="0">
                <a:solidFill>
                  <a:srgbClr val="FF0000"/>
                </a:solidFill>
              </a:rPr>
              <a:t>)) использованы электронные таблицы </a:t>
            </a:r>
            <a:r>
              <a:rPr lang="en-US" sz="1800" dirty="0">
                <a:solidFill>
                  <a:srgbClr val="FF0000"/>
                </a:solidFill>
              </a:rPr>
              <a:t>Excel</a:t>
            </a:r>
            <a:r>
              <a:rPr lang="ru-RU" sz="1800" dirty="0">
                <a:solidFill>
                  <a:srgbClr val="FF0000"/>
                </a:solidFill>
              </a:rPr>
              <a:t> – инструмент, позволяющий просто и наглядно проиллюстрировать работу с используемой литературой. Также для анализа исследований по теме работы будет использован индекс цитируемости источников.</a:t>
            </a:r>
          </a:p>
        </p:txBody>
      </p:sp>
    </p:spTree>
    <p:extLst>
      <p:ext uri="{BB962C8B-B14F-4D97-AF65-F5344CB8AC3E}">
        <p14:creationId xmlns:p14="http://schemas.microsoft.com/office/powerpoint/2010/main" val="2856229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6E75DB25-6A95-ECB9-0D7D-C914ED51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BD88A0B8-F237-AF90-5853-50218C65A5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D89ED626-86E9-7C83-74C3-5D279EADDF3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D788B656-A13E-DC2B-138E-F4BDD67D64CE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3E606950-0D15-28D6-71B0-8EF1688570F4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2. Ключевые слова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3. Цель работы, исследовательские вопросы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4. Задачи работы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5. Ожидаемые результаты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6. Применяемые методы (подходы)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8. Дополнение</a:t>
            </a:r>
            <a:endParaRPr sz="2600" b="1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9426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57D3476D-4C67-32A0-DD20-8AA1EA1E9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F0F39E2F-E18C-3312-F23D-81B11A9C86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5C684409-B01F-4C48-F68A-C2A1F824F99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37BE9365-B1B4-641F-4B44-F24C4F156E6A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EEC202D2-DC30-D602-4C53-8F7086CFB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8. Дополнение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3F5F25FD-EB79-F1C0-E33D-5D80069A2227}"/>
              </a:ext>
            </a:extLst>
          </p:cNvPr>
          <p:cNvSpPr txBox="1"/>
          <p:nvPr/>
        </p:nvSpPr>
        <p:spPr>
          <a:xfrm>
            <a:off x="553375" y="1745225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ru-RU" b="1" dirty="0">
                <a:solidFill>
                  <a:srgbClr val="FF0000"/>
                </a:solidFill>
              </a:rPr>
              <a:t>Формулировка и утверждение темы</a:t>
            </a:r>
            <a:r>
              <a:rPr lang="ru-RU" dirty="0">
                <a:solidFill>
                  <a:srgbClr val="FF0000"/>
                </a:solidFill>
              </a:rPr>
              <a:t> выпускной работы магистра – 15.11.2025;</a:t>
            </a:r>
          </a:p>
          <a:p>
            <a:pPr lvl="0"/>
            <a:r>
              <a:rPr lang="ru-RU" b="1" dirty="0">
                <a:solidFill>
                  <a:srgbClr val="FF0000"/>
                </a:solidFill>
              </a:rPr>
              <a:t>Создание репозитория на </a:t>
            </a:r>
            <a:r>
              <a:rPr lang="en-US" b="1" dirty="0">
                <a:solidFill>
                  <a:srgbClr val="FF0000"/>
                </a:solidFill>
              </a:rPr>
              <a:t>GitHub</a:t>
            </a:r>
            <a:r>
              <a:rPr lang="ru-RU" dirty="0">
                <a:solidFill>
                  <a:srgbClr val="FF0000"/>
                </a:solidFill>
              </a:rPr>
              <a:t>, размещение документации (собранных исследовательских статей, таблицы с «деревом источников», файла описания проекта (</a:t>
            </a:r>
            <a:r>
              <a:rPr lang="en-US" dirty="0">
                <a:solidFill>
                  <a:srgbClr val="FF0000"/>
                </a:solidFill>
              </a:rPr>
              <a:t>Project Proposal</a:t>
            </a:r>
            <a:r>
              <a:rPr lang="ru-RU" dirty="0">
                <a:solidFill>
                  <a:srgbClr val="FF0000"/>
                </a:solidFill>
              </a:rPr>
              <a:t>) для дальнейшего дополнения и корректировки материалов в процессе работы над исследованием) – </a:t>
            </a:r>
            <a:r>
              <a:rPr lang="ru-RU" b="1" dirty="0">
                <a:solidFill>
                  <a:srgbClr val="FF0000"/>
                </a:solidFill>
              </a:rPr>
              <a:t>18.11.2025</a:t>
            </a:r>
            <a:r>
              <a:rPr lang="ru-RU" dirty="0">
                <a:solidFill>
                  <a:srgbClr val="FF0000"/>
                </a:solidFill>
              </a:rPr>
              <a:t>;</a:t>
            </a:r>
          </a:p>
          <a:p>
            <a:pPr lvl="0"/>
            <a:r>
              <a:rPr lang="ru-RU" dirty="0">
                <a:solidFill>
                  <a:srgbClr val="FF0000"/>
                </a:solidFill>
              </a:rPr>
              <a:t>Изучение предметной области и постановка задачи, сбор литературы по теме исследования, предмета и объекта исследования, формулировка цели, исследовательских вопросов, задач, планируемых результатов работы и перспектив дальнейших исследований, определение методов (подходов) и инструментов исследования – </a:t>
            </a:r>
            <a:r>
              <a:rPr lang="ru-RU" b="1" dirty="0">
                <a:solidFill>
                  <a:srgbClr val="FF0000"/>
                </a:solidFill>
              </a:rPr>
              <a:t>формирование предварительного описания проекта (</a:t>
            </a:r>
            <a:r>
              <a:rPr lang="en-US" b="1" dirty="0">
                <a:solidFill>
                  <a:srgbClr val="FF0000"/>
                </a:solidFill>
              </a:rPr>
              <a:t>Project Proposal</a:t>
            </a:r>
            <a:r>
              <a:rPr lang="ru-RU" b="1" dirty="0">
                <a:solidFill>
                  <a:srgbClr val="FF0000"/>
                </a:solidFill>
              </a:rPr>
              <a:t>)</a:t>
            </a:r>
            <a:r>
              <a:rPr lang="ru-RU" dirty="0">
                <a:solidFill>
                  <a:srgbClr val="FF0000"/>
                </a:solidFill>
              </a:rPr>
              <a:t> – 01.12.2025;</a:t>
            </a:r>
          </a:p>
          <a:p>
            <a:pPr lvl="0"/>
            <a:r>
              <a:rPr lang="ru-RU" dirty="0">
                <a:solidFill>
                  <a:srgbClr val="FF0000"/>
                </a:solidFill>
              </a:rPr>
              <a:t>Работа с вспомогательными инструментами планирования и визуализации результатов работы над проектом, создание первой ментальной карты (</a:t>
            </a:r>
            <a:r>
              <a:rPr lang="en-US" dirty="0">
                <a:solidFill>
                  <a:srgbClr val="FF0000"/>
                </a:solidFill>
              </a:rPr>
              <a:t>Mind Map</a:t>
            </a:r>
            <a:r>
              <a:rPr lang="ru-RU" dirty="0">
                <a:solidFill>
                  <a:srgbClr val="FF0000"/>
                </a:solidFill>
              </a:rPr>
              <a:t>) целей проекта, предварительной </a:t>
            </a:r>
            <a:r>
              <a:rPr lang="en-US" dirty="0">
                <a:solidFill>
                  <a:srgbClr val="FF0000"/>
                </a:solidFill>
              </a:rPr>
              <a:t>PERT</a:t>
            </a:r>
            <a:r>
              <a:rPr lang="ru-RU" dirty="0">
                <a:solidFill>
                  <a:srgbClr val="FF0000"/>
                </a:solidFill>
              </a:rPr>
              <a:t>- диаграммы – 04.12.2025;</a:t>
            </a:r>
          </a:p>
          <a:p>
            <a:pPr lvl="0"/>
            <a:r>
              <a:rPr lang="ru-RU" b="1" dirty="0">
                <a:solidFill>
                  <a:srgbClr val="FF0000"/>
                </a:solidFill>
              </a:rPr>
              <a:t>Презентация предварительного описания проекта</a:t>
            </a:r>
            <a:r>
              <a:rPr lang="ru-RU" dirty="0">
                <a:solidFill>
                  <a:srgbClr val="FF0000"/>
                </a:solidFill>
              </a:rPr>
              <a:t> (</a:t>
            </a:r>
            <a:r>
              <a:rPr lang="en-US" dirty="0">
                <a:solidFill>
                  <a:srgbClr val="FF0000"/>
                </a:solidFill>
              </a:rPr>
              <a:t>Project Proposal</a:t>
            </a:r>
            <a:r>
              <a:rPr lang="ru-RU" dirty="0">
                <a:solidFill>
                  <a:srgbClr val="FF0000"/>
                </a:solidFill>
              </a:rPr>
              <a:t>) – 04.12.2025;</a:t>
            </a:r>
          </a:p>
          <a:p>
            <a:pPr lvl="0"/>
            <a:r>
              <a:rPr lang="ru-RU" b="1" dirty="0">
                <a:solidFill>
                  <a:srgbClr val="FF0000"/>
                </a:solidFill>
              </a:rPr>
              <a:t>Контрольная точка 1:</a:t>
            </a:r>
            <a:r>
              <a:rPr lang="ru-RU" dirty="0">
                <a:solidFill>
                  <a:srgbClr val="FF0000"/>
                </a:solidFill>
              </a:rPr>
              <a:t> презентация прогресса работы и обратная связь от экспертов. На этом этапе должны быть сформулирован цели, задачи, гипотезы. Определена методология и используемый технологический стек - середина марта 2026;</a:t>
            </a:r>
          </a:p>
          <a:p>
            <a:pPr lvl="0"/>
            <a:r>
              <a:rPr lang="ru-RU" b="1" dirty="0">
                <a:solidFill>
                  <a:srgbClr val="FF0000"/>
                </a:solidFill>
              </a:rPr>
              <a:t>Контрольная точка 2:</a:t>
            </a:r>
            <a:r>
              <a:rPr lang="ru-RU" dirty="0">
                <a:solidFill>
                  <a:srgbClr val="FF0000"/>
                </a:solidFill>
              </a:rPr>
              <a:t> предварительная защита работы и обратная связь от экспертов. На этом этапе основная часть работы практически выполнена. Готовность работы 80% - конец апреля 2026;</a:t>
            </a:r>
          </a:p>
          <a:p>
            <a:pPr lvl="0"/>
            <a:r>
              <a:rPr lang="ru-RU" b="1" dirty="0">
                <a:solidFill>
                  <a:srgbClr val="FF0000"/>
                </a:solidFill>
              </a:rPr>
              <a:t>Представление завершенной работы научному руководителю</a:t>
            </a:r>
            <a:r>
              <a:rPr lang="ru-RU" dirty="0">
                <a:solidFill>
                  <a:srgbClr val="FF0000"/>
                </a:solidFill>
              </a:rPr>
              <a:t> - середина мая 2026;</a:t>
            </a:r>
          </a:p>
          <a:p>
            <a:pPr lvl="0"/>
            <a:r>
              <a:rPr lang="ru-RU" b="1" dirty="0">
                <a:solidFill>
                  <a:srgbClr val="FF0000"/>
                </a:solidFill>
              </a:rPr>
              <a:t>Подготовка презентационных материалов. Защита работы</a:t>
            </a:r>
            <a:r>
              <a:rPr lang="ru-RU" dirty="0">
                <a:solidFill>
                  <a:srgbClr val="FF0000"/>
                </a:solidFill>
              </a:rPr>
              <a:t> - июнь 2026.</a:t>
            </a:r>
          </a:p>
        </p:txBody>
      </p:sp>
    </p:spTree>
    <p:extLst>
      <p:ext uri="{BB962C8B-B14F-4D97-AF65-F5344CB8AC3E}">
        <p14:creationId xmlns:p14="http://schemas.microsoft.com/office/powerpoint/2010/main" val="3859953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0D0F1760-0DE3-090A-4F81-F581BC2CF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F07C1DE7-6AB4-B2A8-653C-38A6CF8A5E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95910AEE-EB63-A895-C5ED-53449A3FAE9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76226ADA-82DF-D927-060A-861400AA41BB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45CCEB9A-6C24-1C57-5CF1-32B24AE91FDB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2. Ключевые слова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3. Цель работы, исследовательские вопросы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4. Задачи работы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5. Ожидаемые результаты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6. Применяемые методы (подходы)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8. Дополнение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9. Список источников</a:t>
            </a:r>
            <a:endParaRPr sz="2600" b="1" dirty="0">
              <a:solidFill>
                <a:srgbClr val="102D69"/>
              </a:solidFill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4580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F3F5EFB7-0DFB-67EE-2BC2-E1988B4B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81CDC8EE-9254-E76A-AC19-28ECB82DB7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419CA9B0-93C8-0E1D-F0F6-8D1B6FBA04B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BE43479D-5854-9F0C-000D-5664AA0A826B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80220007-3EEC-7902-AF69-D12F487CE1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9. Список источников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7BF8EB61-7D74-3293-7084-183CEE362B42}"/>
              </a:ext>
            </a:extLst>
          </p:cNvPr>
          <p:cNvSpPr txBox="1"/>
          <p:nvPr/>
        </p:nvSpPr>
        <p:spPr>
          <a:xfrm>
            <a:off x="409903" y="1745225"/>
            <a:ext cx="11177752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1. Khan A. A., Shameem M., Nadeem M., Akbar M. A. Agile trends in Chinese global software development industry: Fuzzy AHP based conceptual mapping //Applied Soft Computing, 2021, 102 (107090), P. 24.</a:t>
            </a:r>
            <a:endParaRPr lang="ru-RU" sz="1600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2. </a:t>
            </a:r>
            <a:r>
              <a:rPr lang="en-US" sz="1600" b="1" dirty="0">
                <a:solidFill>
                  <a:srgbClr val="FF0000"/>
                </a:solidFill>
              </a:rPr>
              <a:t>Saini A., Ahuja L., Khatri S. K. Effort estimation of agile development using fuzzy logic //2018 7th International Conference on Reliability, Infocom Technologies and Optimization (Trends and Future Directions) (ICRITO). – IEEE, 2018, P. 779-783.</a:t>
            </a:r>
            <a:endParaRPr lang="ru-RU" sz="1600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3. </a:t>
            </a:r>
            <a:r>
              <a:rPr lang="en-US" sz="1600" u="sng" dirty="0">
                <a:solidFill>
                  <a:srgbClr val="FF0000"/>
                </a:solidFill>
              </a:rPr>
              <a:t>Lin C.T., Chiu H., Tseng Y.H. Agility evaluation using fuzzy logic //International journal of production economics, 2006, 101 (2), P. 353-368.</a:t>
            </a:r>
            <a:endParaRPr lang="ru-RU" sz="1600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4. Marín Díaz G, </a:t>
            </a:r>
            <a:r>
              <a:rPr lang="en-US" sz="1600" dirty="0" err="1">
                <a:solidFill>
                  <a:srgbClr val="FF0000"/>
                </a:solidFill>
              </a:rPr>
              <a:t>Galdón</a:t>
            </a:r>
            <a:r>
              <a:rPr lang="en-US" sz="1600" dirty="0">
                <a:solidFill>
                  <a:srgbClr val="FF0000"/>
                </a:solidFill>
              </a:rPr>
              <a:t> Salvador JL. Group Decision-Making Model Based on 2-Tuple Fuzzy Linguistic Model and AHP Applied to Measuring Digital Maturity Level of Organizations // Systems, 2023, 11(7):341, P. 32, </a:t>
            </a:r>
            <a:r>
              <a:rPr lang="en-US" sz="1600" u="sng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https://doi.org/10.3390/systems11070341</a:t>
            </a:r>
            <a:r>
              <a:rPr lang="ru-RU" sz="1600" dirty="0">
                <a:solidFill>
                  <a:srgbClr val="FF0000"/>
                </a:solidFill>
              </a:rPr>
              <a:t>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5. Yan W., Chen C. H., Khoo L. P. An integrated approach to the elicitation of customer requirements for engineering design using picture sorts and fuzzy evaluation //Ai Edam, 2002, 16 (2), P. 59-71.</a:t>
            </a:r>
            <a:endParaRPr lang="ru-RU" sz="1600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6. Sadiq M., Jain S. K. A fuzzy based approach for the selection of goals in goal oriented requirements elicitation process //International Journal of System Assurance Engineering and Management, 2015, 6 (2), P. 157-164.</a:t>
            </a:r>
            <a:endParaRPr lang="ru-RU" sz="1600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7. </a:t>
            </a:r>
            <a:r>
              <a:rPr lang="en-US" sz="1600" b="1" dirty="0">
                <a:solidFill>
                  <a:srgbClr val="FF0000"/>
                </a:solidFill>
              </a:rPr>
              <a:t>Gondal A. N., Kausar M., Mazhar N., Amjad M. Prioritization of Agile Requirement Elicitation Techniques Using Fuzzy Logic //International Journal of Fuzzy Systems, 2025, P. 1-21.</a:t>
            </a:r>
            <a:endParaRPr lang="ru-RU" sz="1600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8. Zamudio L., Aguilar J. A., Tripp C., Misra S. A requirements engineering techniques review in agile software development methods // In International Conference on Computational Science and Its Applications. Springer, Cham, 2017, PP. 683-698</a:t>
            </a:r>
            <a:endParaRPr lang="ru-RU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FF0000"/>
                </a:solidFill>
              </a:rPr>
              <a:t>9. Alflen N. C., Prado E. P. V. Requirements elicitation techniques for software development: a systematic review of literature // </a:t>
            </a:r>
            <a:r>
              <a:rPr lang="en-US" sz="1600" dirty="0" err="1">
                <a:solidFill>
                  <a:srgbClr val="FF0000"/>
                </a:solidFill>
              </a:rPr>
              <a:t>AtoZ</a:t>
            </a:r>
            <a:r>
              <a:rPr lang="en-US" sz="1600" dirty="0">
                <a:solidFill>
                  <a:srgbClr val="FF0000"/>
                </a:solidFill>
              </a:rPr>
              <a:t>: </a:t>
            </a:r>
            <a:r>
              <a:rPr lang="en-US" sz="1600" dirty="0" err="1">
                <a:solidFill>
                  <a:srgbClr val="FF0000"/>
                </a:solidFill>
              </a:rPr>
              <a:t>novas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práticas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em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informação</a:t>
            </a:r>
            <a:r>
              <a:rPr lang="en-US" sz="1600" dirty="0">
                <a:solidFill>
                  <a:srgbClr val="FF0000"/>
                </a:solidFill>
              </a:rPr>
              <a:t> e </a:t>
            </a:r>
            <a:r>
              <a:rPr lang="en-US" sz="1600" dirty="0" err="1">
                <a:solidFill>
                  <a:srgbClr val="FF0000"/>
                </a:solidFill>
              </a:rPr>
              <a:t>conhecimento</a:t>
            </a:r>
            <a:r>
              <a:rPr lang="en-US" sz="1600" dirty="0">
                <a:solidFill>
                  <a:srgbClr val="FF0000"/>
                </a:solidFill>
              </a:rPr>
              <a:t>. 2021. </a:t>
            </a:r>
            <a:r>
              <a:rPr lang="ru-RU" sz="1600" dirty="0">
                <a:solidFill>
                  <a:srgbClr val="FF0000"/>
                </a:solidFill>
              </a:rPr>
              <a:t>Т</a:t>
            </a:r>
            <a:r>
              <a:rPr lang="en-US" sz="1600" dirty="0">
                <a:solidFill>
                  <a:srgbClr val="FF0000"/>
                </a:solidFill>
              </a:rPr>
              <a:t>. 10. №. 1. PP. 118-128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ru-RU" dirty="0">
              <a:solidFill>
                <a:srgbClr val="FF0000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4651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23137554-E283-4696-C0FA-E43488C5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6E2CF24C-D5F5-C554-FB96-6C0827E0B2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138976BB-70BB-7B76-6BDD-C63896B5FDF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7B6613BF-3439-8BB9-184F-ED8A05CEC5FC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63A8FE97-335C-0A0E-9B53-5DA08D9F01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9. Список источников (продолжение)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9EF04649-CBD7-ED83-1894-78979D39342C}"/>
              </a:ext>
            </a:extLst>
          </p:cNvPr>
          <p:cNvSpPr txBox="1"/>
          <p:nvPr/>
        </p:nvSpPr>
        <p:spPr>
          <a:xfrm>
            <a:off x="378372" y="1745225"/>
            <a:ext cx="11382703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0000"/>
                </a:solidFill>
              </a:rPr>
              <a:t>10. Asghar, A.R., Tabassum, A., Bhatti, S.N. and Jadi, A.M. Impact and challenges of requirements elicitation &amp; prioritization in quality to agile process: Scrum as a case scenario //2017 International Conference on Communication Technologies (</a:t>
            </a:r>
            <a:r>
              <a:rPr lang="en-US" sz="1500" dirty="0" err="1">
                <a:solidFill>
                  <a:srgbClr val="FF0000"/>
                </a:solidFill>
              </a:rPr>
              <a:t>ComTech</a:t>
            </a:r>
            <a:r>
              <a:rPr lang="en-US" sz="1500" dirty="0">
                <a:solidFill>
                  <a:srgbClr val="FF0000"/>
                </a:solidFill>
              </a:rPr>
              <a:t>). IEEE, 2017. PP. 50-55.</a:t>
            </a:r>
            <a:endParaRPr lang="ru-RU" sz="15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0000"/>
                </a:solidFill>
              </a:rPr>
              <a:t>11. </a:t>
            </a:r>
            <a:r>
              <a:rPr lang="en-US" sz="1500" dirty="0" err="1">
                <a:solidFill>
                  <a:srgbClr val="FF0000"/>
                </a:solidFill>
              </a:rPr>
              <a:t>Egesoy</a:t>
            </a:r>
            <a:r>
              <a:rPr lang="en-US" sz="1500" dirty="0">
                <a:solidFill>
                  <a:srgbClr val="FF0000"/>
                </a:solidFill>
              </a:rPr>
              <a:t> A, Güzel A. Fuzzy Logic Support for Requirements Engineering // International Journal of Innovative Research in Computer Science &amp; Technology (IJIRCST) ISSN. 2021:2347-5552.</a:t>
            </a:r>
            <a:endParaRPr lang="ru-RU" sz="15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0000"/>
                </a:solidFill>
              </a:rPr>
              <a:t>12. Dongmo C. A Review of Non-Functional Requirements Analysis Throughout the SDLC //Computers.  2024.  </a:t>
            </a:r>
            <a:r>
              <a:rPr lang="ru-RU" sz="1500" dirty="0">
                <a:solidFill>
                  <a:srgbClr val="FF0000"/>
                </a:solidFill>
              </a:rPr>
              <a:t>Т</a:t>
            </a:r>
            <a:r>
              <a:rPr lang="en-US" sz="1500" dirty="0">
                <a:solidFill>
                  <a:srgbClr val="FF0000"/>
                </a:solidFill>
              </a:rPr>
              <a:t>. 13.  №. 12.  </a:t>
            </a:r>
            <a:r>
              <a:rPr lang="ru-RU" sz="1500" dirty="0">
                <a:solidFill>
                  <a:srgbClr val="FF0000"/>
                </a:solidFill>
              </a:rPr>
              <a:t>С</a:t>
            </a:r>
            <a:r>
              <a:rPr lang="en-US" sz="1500" dirty="0">
                <a:solidFill>
                  <a:srgbClr val="FF0000"/>
                </a:solidFill>
              </a:rPr>
              <a:t>. 308.</a:t>
            </a:r>
            <a:endParaRPr lang="ru-RU" sz="15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0000"/>
                </a:solidFill>
              </a:rPr>
              <a:t>13. El Beggar O. IFEJM: new intuitionistic fuzzy expert judgment method for effort estimation in agile software development //Arabian Journal for Science and Engineering. 2024. </a:t>
            </a:r>
            <a:r>
              <a:rPr lang="ru-RU" sz="1500" dirty="0">
                <a:solidFill>
                  <a:srgbClr val="FF0000"/>
                </a:solidFill>
              </a:rPr>
              <a:t>Т</a:t>
            </a:r>
            <a:r>
              <a:rPr lang="en-US" sz="1500" dirty="0">
                <a:solidFill>
                  <a:srgbClr val="FF0000"/>
                </a:solidFill>
              </a:rPr>
              <a:t>. 49. №. 3. P. 2887-2908.</a:t>
            </a:r>
            <a:endParaRPr lang="ru-RU" sz="15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0000"/>
                </a:solidFill>
              </a:rPr>
              <a:t>14. Gul M., Alam K. A. Identifying contemporary challenges pertaining to Distributed Software Development using Fuzzy Delphi Method. 2023. PP. 1-23 researchgate.com (</a:t>
            </a:r>
            <a:r>
              <a:rPr lang="ru-RU" sz="1500" dirty="0">
                <a:solidFill>
                  <a:srgbClr val="FF0000"/>
                </a:solidFill>
              </a:rPr>
              <a:t>препринт</a:t>
            </a:r>
            <a:r>
              <a:rPr lang="en-US" sz="1500" dirty="0">
                <a:solidFill>
                  <a:srgbClr val="FF0000"/>
                </a:solidFill>
              </a:rPr>
              <a:t>)</a:t>
            </a:r>
            <a:endParaRPr lang="ru-RU" sz="15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0000"/>
                </a:solidFill>
              </a:rPr>
              <a:t>15. Kumar A., Nadeem M., Shameem M. Multicriteria decision‐making–based framework for implementing DevOps practices: A fuzzy best–worst approach //Journal of Software: Evolution and Process. 2024. </a:t>
            </a:r>
            <a:r>
              <a:rPr lang="ru-RU" sz="1500" dirty="0">
                <a:solidFill>
                  <a:srgbClr val="FF0000"/>
                </a:solidFill>
              </a:rPr>
              <a:t>Т</a:t>
            </a:r>
            <a:r>
              <a:rPr lang="en-US" sz="1500" dirty="0">
                <a:solidFill>
                  <a:srgbClr val="FF0000"/>
                </a:solidFill>
              </a:rPr>
              <a:t>. 36. №. 6. PP.1-31.</a:t>
            </a:r>
            <a:endParaRPr lang="ru-RU" sz="15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0000"/>
                </a:solidFill>
              </a:rPr>
              <a:t>16. </a:t>
            </a:r>
            <a:r>
              <a:rPr lang="en-US" sz="1500" dirty="0" err="1">
                <a:solidFill>
                  <a:srgbClr val="FF0000"/>
                </a:solidFill>
              </a:rPr>
              <a:t>Semenkovich</a:t>
            </a:r>
            <a:r>
              <a:rPr lang="en-US" sz="1500" dirty="0">
                <a:solidFill>
                  <a:srgbClr val="FF0000"/>
                </a:solidFill>
              </a:rPr>
              <a:t>, S. A. A Modified Scrum Story Points Estimation Method Based on Fuzzy Logic Approach / S. A. </a:t>
            </a:r>
            <a:r>
              <a:rPr lang="en-US" sz="1500" dirty="0" err="1">
                <a:solidFill>
                  <a:srgbClr val="FF0000"/>
                </a:solidFill>
              </a:rPr>
              <a:t>Semenkovich</a:t>
            </a:r>
            <a:r>
              <a:rPr lang="en-US" sz="1500" dirty="0">
                <a:solidFill>
                  <a:srgbClr val="FF0000"/>
                </a:solidFill>
              </a:rPr>
              <a:t>, O. I. </a:t>
            </a:r>
            <a:r>
              <a:rPr lang="en-US" sz="1500" dirty="0" err="1">
                <a:solidFill>
                  <a:srgbClr val="FF0000"/>
                </a:solidFill>
              </a:rPr>
              <a:t>Kolekonova</a:t>
            </a:r>
            <a:r>
              <a:rPr lang="en-US" sz="1500" dirty="0">
                <a:solidFill>
                  <a:srgbClr val="FF0000"/>
                </a:solidFill>
              </a:rPr>
              <a:t>, K. Y. </a:t>
            </a:r>
            <a:r>
              <a:rPr lang="en-US" sz="1500" dirty="0" err="1">
                <a:solidFill>
                  <a:srgbClr val="FF0000"/>
                </a:solidFill>
              </a:rPr>
              <a:t>Degtiarev</a:t>
            </a:r>
            <a:r>
              <a:rPr lang="en-US" sz="1500" dirty="0">
                <a:solidFill>
                  <a:srgbClr val="FF0000"/>
                </a:solidFill>
              </a:rPr>
              <a:t> // Proceedings of the Institute for System Programming of the RAS. 2017. Vol. 29, No. 5. P. 19-38. – DOI 10.15514/ISPRAS-2017-29(5)-2. – EDN ZWZZRF.</a:t>
            </a:r>
            <a:endParaRPr lang="ru-RU" sz="1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690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72AB3165-CA00-F732-7D73-F6827F77C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16BF659C-9C61-A1D6-EA27-E809AFF607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5551D5BF-D9B2-6CEA-F80B-DCEA346504B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F35065B2-85BF-E5D4-CD56-9D294529D8D0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542A7714-A687-11A9-16BA-81DA61EF2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9. Список источников (окончание)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A7B9A905-4E3F-8E5F-8C96-BC94F74E6F71}"/>
              </a:ext>
            </a:extLst>
          </p:cNvPr>
          <p:cNvSpPr txBox="1"/>
          <p:nvPr/>
        </p:nvSpPr>
        <p:spPr>
          <a:xfrm>
            <a:off x="302172" y="1692804"/>
            <a:ext cx="11587655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0000"/>
                </a:solidFill>
              </a:rPr>
              <a:t>17. International </a:t>
            </a:r>
            <a:r>
              <a:rPr lang="en-US" sz="1500" dirty="0" err="1">
                <a:solidFill>
                  <a:srgbClr val="FF0000"/>
                </a:solidFill>
              </a:rPr>
              <a:t>Standart</a:t>
            </a:r>
            <a:r>
              <a:rPr lang="en-US" sz="1500" dirty="0">
                <a:solidFill>
                  <a:srgbClr val="FF0000"/>
                </a:solidFill>
              </a:rPr>
              <a:t> ISO/IEC/IEEE 29148 (second edition 2018-11) Systems and software engineering - Life cycle processes – Requirements engineering</a:t>
            </a:r>
            <a:endParaRPr lang="ru-RU" sz="15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0000"/>
                </a:solidFill>
              </a:rPr>
              <a:t>18. International </a:t>
            </a:r>
            <a:r>
              <a:rPr lang="en-US" sz="1500" dirty="0" err="1">
                <a:solidFill>
                  <a:srgbClr val="FF0000"/>
                </a:solidFill>
              </a:rPr>
              <a:t>Standart</a:t>
            </a:r>
            <a:r>
              <a:rPr lang="en-US" sz="1500" dirty="0">
                <a:solidFill>
                  <a:srgbClr val="FF0000"/>
                </a:solidFill>
              </a:rPr>
              <a:t> ISO/IEC/IEEE 26515 (second edition 2018-12) Systems and software engineering - Developing information for users in an agile environment</a:t>
            </a:r>
            <a:endParaRPr lang="ru-RU" sz="15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0000"/>
                </a:solidFill>
              </a:rPr>
              <a:t>19. Zadeh L.A. Fuzzy sets // Information and Control. 1965. Vol. 8. P. 338–353.</a:t>
            </a:r>
            <a:endParaRPr lang="ru-RU" sz="15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0000"/>
                </a:solidFill>
              </a:rPr>
              <a:t>20. </a:t>
            </a:r>
            <a:r>
              <a:rPr lang="en-US" sz="1500" dirty="0" err="1">
                <a:solidFill>
                  <a:srgbClr val="FF0000"/>
                </a:solidFill>
              </a:rPr>
              <a:t>Klir</a:t>
            </a:r>
            <a:r>
              <a:rPr lang="en-US" sz="1500" dirty="0">
                <a:solidFill>
                  <a:srgbClr val="FF0000"/>
                </a:solidFill>
              </a:rPr>
              <a:t> George J. Fuzzy logic. Unearthing its meaning and significance // IEEE Potentials/ October/November 1995. P.10-15</a:t>
            </a:r>
            <a:endParaRPr lang="ru-RU" sz="15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0000"/>
                </a:solidFill>
              </a:rPr>
              <a:t>21. Mendel J.M., John R.I. and Liu F. Interval Type-2 Fuzzy Logic Systems Made Simple // IEEE TRANSACTIONS ON FUZZY SYSTEMS, 14(6), 2006. P.808-821.</a:t>
            </a:r>
            <a:endParaRPr lang="ru-RU" sz="15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0000"/>
                </a:solidFill>
              </a:rPr>
              <a:t>22. Mendel J.M. Type-2 Fuzzy Sets and Systems: An Overview // IEEE Computational Intelligence Magazine, 2(1), 2007. P. 20-29.</a:t>
            </a:r>
            <a:endParaRPr lang="ru-RU" sz="15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0000"/>
                </a:solidFill>
              </a:rPr>
              <a:t>23. Mendel J.M. Type-2 Fuzzy Sets as Well as Computing with Words // IEEE Computational Intelligence Magazine, 14(1), 2019. P</a:t>
            </a:r>
            <a:r>
              <a:rPr lang="ru-RU" sz="1500" dirty="0">
                <a:solidFill>
                  <a:srgbClr val="FF0000"/>
                </a:solidFill>
              </a:rPr>
              <a:t>. 82-95.</a:t>
            </a:r>
          </a:p>
          <a:p>
            <a:pPr>
              <a:spcAft>
                <a:spcPts val="600"/>
              </a:spcAft>
            </a:pPr>
            <a:r>
              <a:rPr lang="ru-RU" sz="1500" dirty="0">
                <a:solidFill>
                  <a:srgbClr val="FF0000"/>
                </a:solidFill>
              </a:rPr>
              <a:t>24. Понаровская И.С. Методы оценки затрат на разработку ПО с использованием аппарата нечетких множеств // курсовой проект, 2025, 96 с. – </a:t>
            </a:r>
            <a:r>
              <a:rPr lang="ru-RU" sz="1500" u="sng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ru-RU" sz="1500" u="sng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://drive.google.com/file/d/1d8sveBeF56fo5aUc0ToMKTChP4s1HwBn/view?usp=drive_link</a:t>
            </a:r>
            <a:endParaRPr lang="ru-RU" sz="15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endParaRPr lang="ru-RU" sz="8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ru-RU" sz="1500" dirty="0">
                <a:solidFill>
                  <a:srgbClr val="FF0000"/>
                </a:solidFill>
              </a:rPr>
              <a:t>Указанные выше статьи (1 -16) проанализированы с точки зрения общих источников. С результатом анализа можно ознакомиться по ссылке –</a:t>
            </a:r>
            <a:r>
              <a:rPr lang="en-US" sz="1500" u="sng" dirty="0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sz="1500" u="sng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://docs.google.com/spreadsheets/d/19LgAIZoDm3VNZLRM6TtRB7lNih_42OYG/edit?usp=drive_link&amp;ouid=111580538807072465554&amp;rtpof=true&amp;sd=true</a:t>
            </a:r>
            <a:endParaRPr lang="ru-RU" sz="1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743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3197</Words>
  <Application>Microsoft Office PowerPoint</Application>
  <PresentationFormat>Широкоэкранный</PresentationFormat>
  <Paragraphs>253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Подходы к управлению требованиями при гибкой разработке ПО с использованием аппарата нечетких множеств   </vt:lpstr>
      <vt:lpstr>Содержание доклада</vt:lpstr>
      <vt:lpstr>Презентация PowerPoint</vt:lpstr>
      <vt:lpstr>1.1. Предметная область и актуальность исследования</vt:lpstr>
      <vt:lpstr>1.2. Предмет и объект исследования</vt:lpstr>
      <vt:lpstr>1.3. Постановка задачи</vt:lpstr>
      <vt:lpstr>Презентация PowerPoint</vt:lpstr>
      <vt:lpstr>2. Ключевые слова</vt:lpstr>
      <vt:lpstr>Презентация PowerPoint</vt:lpstr>
      <vt:lpstr>3.1. Цель работы</vt:lpstr>
      <vt:lpstr>3.2. Исследовательские вопросы</vt:lpstr>
      <vt:lpstr>Презентация PowerPoint</vt:lpstr>
      <vt:lpstr>4. Задачи работы</vt:lpstr>
      <vt:lpstr>Презентация PowerPoint</vt:lpstr>
      <vt:lpstr>5. Ожидаемые результаты</vt:lpstr>
      <vt:lpstr>Презентация PowerPoint</vt:lpstr>
      <vt:lpstr>6. Применяемые методы (подходы)</vt:lpstr>
      <vt:lpstr>Презентация PowerPoint</vt:lpstr>
      <vt:lpstr>7. Используемые инструменты (технологии)</vt:lpstr>
      <vt:lpstr>Презентация PowerPoint</vt:lpstr>
      <vt:lpstr>8. Дополнение</vt:lpstr>
      <vt:lpstr>Презентация PowerPoint</vt:lpstr>
      <vt:lpstr>9. Список источников</vt:lpstr>
      <vt:lpstr>9. Список источников (продолжение)</vt:lpstr>
      <vt:lpstr>9. Список источников (окончание)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Кутьков Юрий Юрьевич</dc:creator>
  <cp:lastModifiedBy>Инна Понаровская</cp:lastModifiedBy>
  <cp:revision>1</cp:revision>
  <dcterms:created xsi:type="dcterms:W3CDTF">2021-11-11T08:52:47Z</dcterms:created>
  <dcterms:modified xsi:type="dcterms:W3CDTF">2025-11-25T23:24:43Z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
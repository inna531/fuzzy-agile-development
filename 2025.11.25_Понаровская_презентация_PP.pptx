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92" r:id="rId6"/>
    <p:sldId id="293" r:id="rId7"/>
    <p:sldId id="284" r:id="rId8"/>
    <p:sldId id="294" r:id="rId9"/>
    <p:sldId id="285" r:id="rId10"/>
    <p:sldId id="295" r:id="rId11"/>
    <p:sldId id="296" r:id="rId12"/>
    <p:sldId id="286" r:id="rId13"/>
    <p:sldId id="297" r:id="rId14"/>
    <p:sldId id="287" r:id="rId15"/>
    <p:sldId id="298" r:id="rId16"/>
    <p:sldId id="288" r:id="rId17"/>
    <p:sldId id="299" r:id="rId18"/>
    <p:sldId id="289" r:id="rId19"/>
    <p:sldId id="300" r:id="rId20"/>
    <p:sldId id="290" r:id="rId21"/>
    <p:sldId id="301" r:id="rId22"/>
    <p:sldId id="291" r:id="rId23"/>
    <p:sldId id="302" r:id="rId24"/>
    <p:sldId id="303" r:id="rId25"/>
    <p:sldId id="304" r:id="rId26"/>
    <p:sldId id="283" r:id="rId2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25">
          <p15:clr>
            <a:srgbClr val="A4A3A4"/>
          </p15:clr>
        </p15:guide>
        <p15:guide id="2" pos="1209">
          <p15:clr>
            <a:srgbClr val="A4A3A4"/>
          </p15:clr>
        </p15:guide>
        <p15:guide id="3" pos="2955">
          <p15:clr>
            <a:srgbClr val="A4A3A4"/>
          </p15:clr>
        </p15:guide>
        <p15:guide id="4" pos="2071">
          <p15:clr>
            <a:srgbClr val="A4A3A4"/>
          </p15:clr>
        </p15:guide>
        <p15:guide id="5" pos="3840">
          <p15:clr>
            <a:srgbClr val="A4A3A4"/>
          </p15:clr>
        </p15:guide>
        <p15:guide id="6" pos="4702">
          <p15:clr>
            <a:srgbClr val="A4A3A4"/>
          </p15:clr>
        </p15:guide>
        <p15:guide id="7" pos="5586">
          <p15:clr>
            <a:srgbClr val="A4A3A4"/>
          </p15:clr>
        </p15:guide>
        <p15:guide id="8" pos="7333">
          <p15:clr>
            <a:srgbClr val="A4A3A4"/>
          </p15:clr>
        </p15:guide>
        <p15:guide id="9" orient="horz" pos="3952">
          <p15:clr>
            <a:srgbClr val="A4A3A4"/>
          </p15:clr>
        </p15:guide>
        <p15:guide id="10" pos="6471">
          <p15:clr>
            <a:srgbClr val="A4A3A4"/>
          </p15:clr>
        </p15:guide>
        <p15:guide id="11" orient="horz" pos="913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5" roundtripDataSignature="AMtx7mj0Gfr9P8OBLq1rLeX4Dnnm+YC/m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C2C12F4-25BA-4372-8E1A-A5CDCF251B66}">
  <a:tblStyle styleId="{CC2C12F4-25BA-4372-8E1A-A5CDCF251B6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876" y="60"/>
      </p:cViewPr>
      <p:guideLst>
        <p:guide pos="325"/>
        <p:guide pos="1209"/>
        <p:guide pos="2955"/>
        <p:guide pos="2071"/>
        <p:guide pos="3840"/>
        <p:guide pos="4702"/>
        <p:guide pos="5586"/>
        <p:guide pos="7333"/>
        <p:guide orient="horz" pos="3952"/>
        <p:guide pos="6471"/>
        <p:guide orient="horz" pos="91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5" Type="http://customschemas.google.com/relationships/presentationmetadata" Target="meta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>
          <a:extLst>
            <a:ext uri="{FF2B5EF4-FFF2-40B4-BE49-F238E27FC236}">
              <a16:creationId xmlns:a16="http://schemas.microsoft.com/office/drawing/2014/main" id="{75B70FCF-F378-FDCD-E27B-62A04E0C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:notes">
            <a:extLst>
              <a:ext uri="{FF2B5EF4-FFF2-40B4-BE49-F238E27FC236}">
                <a16:creationId xmlns:a16="http://schemas.microsoft.com/office/drawing/2014/main" id="{F843BAC2-DE74-920E-14CF-59EADF9DDD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4:notes">
            <a:extLst>
              <a:ext uri="{FF2B5EF4-FFF2-40B4-BE49-F238E27FC236}">
                <a16:creationId xmlns:a16="http://schemas.microsoft.com/office/drawing/2014/main" id="{169B94CB-30DD-A357-CB5F-799AA1EA04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425956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>
          <a:extLst>
            <a:ext uri="{FF2B5EF4-FFF2-40B4-BE49-F238E27FC236}">
              <a16:creationId xmlns:a16="http://schemas.microsoft.com/office/drawing/2014/main" id="{62130F3E-3287-8967-C959-837A7E13F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:notes">
            <a:extLst>
              <a:ext uri="{FF2B5EF4-FFF2-40B4-BE49-F238E27FC236}">
                <a16:creationId xmlns:a16="http://schemas.microsoft.com/office/drawing/2014/main" id="{E60E357F-9FA2-854C-775B-19C4A89946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4:notes">
            <a:extLst>
              <a:ext uri="{FF2B5EF4-FFF2-40B4-BE49-F238E27FC236}">
                <a16:creationId xmlns:a16="http://schemas.microsoft.com/office/drawing/2014/main" id="{E3086A90-44ED-3685-060A-BF8B1BAF72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785610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9173BA3F-0B09-94F4-1E8D-5B65AB324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:notes">
            <a:extLst>
              <a:ext uri="{FF2B5EF4-FFF2-40B4-BE49-F238E27FC236}">
                <a16:creationId xmlns:a16="http://schemas.microsoft.com/office/drawing/2014/main" id="{311C672C-EA1D-1B96-56DA-B22048C496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3:notes">
            <a:extLst>
              <a:ext uri="{FF2B5EF4-FFF2-40B4-BE49-F238E27FC236}">
                <a16:creationId xmlns:a16="http://schemas.microsoft.com/office/drawing/2014/main" id="{E76977A6-95A3-8023-9691-C116E9C3BE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70176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>
          <a:extLst>
            <a:ext uri="{FF2B5EF4-FFF2-40B4-BE49-F238E27FC236}">
              <a16:creationId xmlns:a16="http://schemas.microsoft.com/office/drawing/2014/main" id="{EE95284F-4403-2038-F392-10D8FCAEF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:notes">
            <a:extLst>
              <a:ext uri="{FF2B5EF4-FFF2-40B4-BE49-F238E27FC236}">
                <a16:creationId xmlns:a16="http://schemas.microsoft.com/office/drawing/2014/main" id="{F17FB8F5-C4CB-30BC-D670-6DA738C8F3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4:notes">
            <a:extLst>
              <a:ext uri="{FF2B5EF4-FFF2-40B4-BE49-F238E27FC236}">
                <a16:creationId xmlns:a16="http://schemas.microsoft.com/office/drawing/2014/main" id="{2ECA5A45-B49E-5EC9-0D2C-27822388B6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40709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0F90681D-5636-B3E5-8015-69A2554DC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:notes">
            <a:extLst>
              <a:ext uri="{FF2B5EF4-FFF2-40B4-BE49-F238E27FC236}">
                <a16:creationId xmlns:a16="http://schemas.microsoft.com/office/drawing/2014/main" id="{F2A81838-9B00-8AF4-63A1-3BA6CAADE5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3:notes">
            <a:extLst>
              <a:ext uri="{FF2B5EF4-FFF2-40B4-BE49-F238E27FC236}">
                <a16:creationId xmlns:a16="http://schemas.microsoft.com/office/drawing/2014/main" id="{90C13DA3-46B9-63B7-F970-19A4090743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39092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>
          <a:extLst>
            <a:ext uri="{FF2B5EF4-FFF2-40B4-BE49-F238E27FC236}">
              <a16:creationId xmlns:a16="http://schemas.microsoft.com/office/drawing/2014/main" id="{646E63C4-BE3E-0087-10CD-318F3FB8F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:notes">
            <a:extLst>
              <a:ext uri="{FF2B5EF4-FFF2-40B4-BE49-F238E27FC236}">
                <a16:creationId xmlns:a16="http://schemas.microsoft.com/office/drawing/2014/main" id="{1C386FDC-070C-FDCB-3B0C-EECB46E8A8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4:notes">
            <a:extLst>
              <a:ext uri="{FF2B5EF4-FFF2-40B4-BE49-F238E27FC236}">
                <a16:creationId xmlns:a16="http://schemas.microsoft.com/office/drawing/2014/main" id="{AFE8F26A-4F77-9DCB-7FA8-CD53FCB532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16263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>
          <a:extLst>
            <a:ext uri="{FF2B5EF4-FFF2-40B4-BE49-F238E27FC236}">
              <a16:creationId xmlns:a16="http://schemas.microsoft.com/office/drawing/2014/main" id="{C2DB479F-197B-45F8-B107-208E4C5C8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:notes">
            <a:extLst>
              <a:ext uri="{FF2B5EF4-FFF2-40B4-BE49-F238E27FC236}">
                <a16:creationId xmlns:a16="http://schemas.microsoft.com/office/drawing/2014/main" id="{0781308E-43A9-5A43-33C4-EEB6371086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4:notes">
            <a:extLst>
              <a:ext uri="{FF2B5EF4-FFF2-40B4-BE49-F238E27FC236}">
                <a16:creationId xmlns:a16="http://schemas.microsoft.com/office/drawing/2014/main" id="{C2167EAE-3DA8-9A39-99B5-A056371973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34049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AFBF3E74-0D8C-EDAE-2D49-7C202146F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:notes">
            <a:extLst>
              <a:ext uri="{FF2B5EF4-FFF2-40B4-BE49-F238E27FC236}">
                <a16:creationId xmlns:a16="http://schemas.microsoft.com/office/drawing/2014/main" id="{B945F7D2-11B0-AA42-1CDB-96DED0A29B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3:notes">
            <a:extLst>
              <a:ext uri="{FF2B5EF4-FFF2-40B4-BE49-F238E27FC236}">
                <a16:creationId xmlns:a16="http://schemas.microsoft.com/office/drawing/2014/main" id="{69EA0341-D184-94E4-3A1D-4923372292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18853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>
          <a:extLst>
            <a:ext uri="{FF2B5EF4-FFF2-40B4-BE49-F238E27FC236}">
              <a16:creationId xmlns:a16="http://schemas.microsoft.com/office/drawing/2014/main" id="{E773C618-4D2B-DCCF-FAD4-8A5AE9A08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:notes">
            <a:extLst>
              <a:ext uri="{FF2B5EF4-FFF2-40B4-BE49-F238E27FC236}">
                <a16:creationId xmlns:a16="http://schemas.microsoft.com/office/drawing/2014/main" id="{B38ACB9F-6527-5D19-DF01-10869BBFE1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4:notes">
            <a:extLst>
              <a:ext uri="{FF2B5EF4-FFF2-40B4-BE49-F238E27FC236}">
                <a16:creationId xmlns:a16="http://schemas.microsoft.com/office/drawing/2014/main" id="{6993F5A5-0807-E696-B5F3-2FD06E99EC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25566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6FCC5287-27F2-5071-BEBF-5765878A5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:notes">
            <a:extLst>
              <a:ext uri="{FF2B5EF4-FFF2-40B4-BE49-F238E27FC236}">
                <a16:creationId xmlns:a16="http://schemas.microsoft.com/office/drawing/2014/main" id="{875BDFED-F27A-49BF-BE9B-653B33B080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3:notes">
            <a:extLst>
              <a:ext uri="{FF2B5EF4-FFF2-40B4-BE49-F238E27FC236}">
                <a16:creationId xmlns:a16="http://schemas.microsoft.com/office/drawing/2014/main" id="{8123CB85-AF06-5D1C-3F7D-EF97B79F86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422259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>
          <a:extLst>
            <a:ext uri="{FF2B5EF4-FFF2-40B4-BE49-F238E27FC236}">
              <a16:creationId xmlns:a16="http://schemas.microsoft.com/office/drawing/2014/main" id="{38FC8DD5-C50A-A801-ECED-108CE05AF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:notes">
            <a:extLst>
              <a:ext uri="{FF2B5EF4-FFF2-40B4-BE49-F238E27FC236}">
                <a16:creationId xmlns:a16="http://schemas.microsoft.com/office/drawing/2014/main" id="{5FF106F7-1936-7416-271F-40381F077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4:notes">
            <a:extLst>
              <a:ext uri="{FF2B5EF4-FFF2-40B4-BE49-F238E27FC236}">
                <a16:creationId xmlns:a16="http://schemas.microsoft.com/office/drawing/2014/main" id="{79541B75-7A45-804A-96B9-4FADD8F36D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973508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B9186504-313C-6F6A-D87B-324E2621B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:notes">
            <a:extLst>
              <a:ext uri="{FF2B5EF4-FFF2-40B4-BE49-F238E27FC236}">
                <a16:creationId xmlns:a16="http://schemas.microsoft.com/office/drawing/2014/main" id="{A4A6206E-927D-E1D6-164C-1B41C0E45B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3:notes">
            <a:extLst>
              <a:ext uri="{FF2B5EF4-FFF2-40B4-BE49-F238E27FC236}">
                <a16:creationId xmlns:a16="http://schemas.microsoft.com/office/drawing/2014/main" id="{8215792D-A71C-2733-540C-37AECCAC23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01255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>
          <a:extLst>
            <a:ext uri="{FF2B5EF4-FFF2-40B4-BE49-F238E27FC236}">
              <a16:creationId xmlns:a16="http://schemas.microsoft.com/office/drawing/2014/main" id="{F9BE3869-99FF-91FC-F21C-DE34F93A2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:notes">
            <a:extLst>
              <a:ext uri="{FF2B5EF4-FFF2-40B4-BE49-F238E27FC236}">
                <a16:creationId xmlns:a16="http://schemas.microsoft.com/office/drawing/2014/main" id="{04696575-C6CD-7DFF-A76C-B9A7ED89D1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4:notes">
            <a:extLst>
              <a:ext uri="{FF2B5EF4-FFF2-40B4-BE49-F238E27FC236}">
                <a16:creationId xmlns:a16="http://schemas.microsoft.com/office/drawing/2014/main" id="{8AC9C964-6643-C8F7-720E-B099686625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028631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6B83E64A-E4FB-88FC-0028-FDB715D36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:notes">
            <a:extLst>
              <a:ext uri="{FF2B5EF4-FFF2-40B4-BE49-F238E27FC236}">
                <a16:creationId xmlns:a16="http://schemas.microsoft.com/office/drawing/2014/main" id="{9805AA31-31CD-CAA9-67D7-A47B7BD137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3:notes">
            <a:extLst>
              <a:ext uri="{FF2B5EF4-FFF2-40B4-BE49-F238E27FC236}">
                <a16:creationId xmlns:a16="http://schemas.microsoft.com/office/drawing/2014/main" id="{25627F9E-104A-2135-62DC-5B344418B1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490475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>
          <a:extLst>
            <a:ext uri="{FF2B5EF4-FFF2-40B4-BE49-F238E27FC236}">
              <a16:creationId xmlns:a16="http://schemas.microsoft.com/office/drawing/2014/main" id="{724B64EA-5C2D-312E-4B88-B84279913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:notes">
            <a:extLst>
              <a:ext uri="{FF2B5EF4-FFF2-40B4-BE49-F238E27FC236}">
                <a16:creationId xmlns:a16="http://schemas.microsoft.com/office/drawing/2014/main" id="{3C94CC19-6803-66A1-BB12-8858262958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4:notes">
            <a:extLst>
              <a:ext uri="{FF2B5EF4-FFF2-40B4-BE49-F238E27FC236}">
                <a16:creationId xmlns:a16="http://schemas.microsoft.com/office/drawing/2014/main" id="{E6EB92AB-0B00-AC6A-6911-475687366C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65583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45E44BDB-9C90-2194-38D2-4AEA8B631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:notes">
            <a:extLst>
              <a:ext uri="{FF2B5EF4-FFF2-40B4-BE49-F238E27FC236}">
                <a16:creationId xmlns:a16="http://schemas.microsoft.com/office/drawing/2014/main" id="{84B1D449-4B11-6769-978A-C57A3F47AD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3:notes">
            <a:extLst>
              <a:ext uri="{FF2B5EF4-FFF2-40B4-BE49-F238E27FC236}">
                <a16:creationId xmlns:a16="http://schemas.microsoft.com/office/drawing/2014/main" id="{8F2754FA-67FE-5412-02B7-C390688D90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912646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>
          <a:extLst>
            <a:ext uri="{FF2B5EF4-FFF2-40B4-BE49-F238E27FC236}">
              <a16:creationId xmlns:a16="http://schemas.microsoft.com/office/drawing/2014/main" id="{5813DC34-966C-81B1-4DEC-2F2B6864E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:notes">
            <a:extLst>
              <a:ext uri="{FF2B5EF4-FFF2-40B4-BE49-F238E27FC236}">
                <a16:creationId xmlns:a16="http://schemas.microsoft.com/office/drawing/2014/main" id="{95D581C3-5D7B-469C-817F-F92F0FEB0A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4:notes">
            <a:extLst>
              <a:ext uri="{FF2B5EF4-FFF2-40B4-BE49-F238E27FC236}">
                <a16:creationId xmlns:a16="http://schemas.microsoft.com/office/drawing/2014/main" id="{FFC7053E-9D8B-5D1B-614D-32DCAFD941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323568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A55674D7-669F-8835-6A5C-36ECABA18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:notes">
            <a:extLst>
              <a:ext uri="{FF2B5EF4-FFF2-40B4-BE49-F238E27FC236}">
                <a16:creationId xmlns:a16="http://schemas.microsoft.com/office/drawing/2014/main" id="{25180787-9D65-9E38-E3D1-12C4908FB6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3:notes">
            <a:extLst>
              <a:ext uri="{FF2B5EF4-FFF2-40B4-BE49-F238E27FC236}">
                <a16:creationId xmlns:a16="http://schemas.microsoft.com/office/drawing/2014/main" id="{CDB46B1A-C6A2-EC1C-1247-D9AE67D9C5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02314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>
          <a:extLst>
            <a:ext uri="{FF2B5EF4-FFF2-40B4-BE49-F238E27FC236}">
              <a16:creationId xmlns:a16="http://schemas.microsoft.com/office/drawing/2014/main" id="{4D1DA5ED-75EC-E24E-D229-892C22D62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:notes">
            <a:extLst>
              <a:ext uri="{FF2B5EF4-FFF2-40B4-BE49-F238E27FC236}">
                <a16:creationId xmlns:a16="http://schemas.microsoft.com/office/drawing/2014/main" id="{6C1420F6-4A48-A7B7-D695-D04A724957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4:notes">
            <a:extLst>
              <a:ext uri="{FF2B5EF4-FFF2-40B4-BE49-F238E27FC236}">
                <a16:creationId xmlns:a16="http://schemas.microsoft.com/office/drawing/2014/main" id="{477FF038-B90F-797D-D1C1-A832799633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3449974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>
          <a:extLst>
            <a:ext uri="{FF2B5EF4-FFF2-40B4-BE49-F238E27FC236}">
              <a16:creationId xmlns:a16="http://schemas.microsoft.com/office/drawing/2014/main" id="{FAE9F7B5-2EC3-5444-62D9-307DB39ED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:notes">
            <a:extLst>
              <a:ext uri="{FF2B5EF4-FFF2-40B4-BE49-F238E27FC236}">
                <a16:creationId xmlns:a16="http://schemas.microsoft.com/office/drawing/2014/main" id="{BDAC2D4A-584F-0155-CDBD-22ACCA48ED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4:notes">
            <a:extLst>
              <a:ext uri="{FF2B5EF4-FFF2-40B4-BE49-F238E27FC236}">
                <a16:creationId xmlns:a16="http://schemas.microsoft.com/office/drawing/2014/main" id="{888BA754-DA9D-D637-2EAE-6A8C0DD86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152466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>
          <a:extLst>
            <a:ext uri="{FF2B5EF4-FFF2-40B4-BE49-F238E27FC236}">
              <a16:creationId xmlns:a16="http://schemas.microsoft.com/office/drawing/2014/main" id="{FB3AC7C5-7868-B822-CD7C-3B9D5E409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:notes">
            <a:extLst>
              <a:ext uri="{FF2B5EF4-FFF2-40B4-BE49-F238E27FC236}">
                <a16:creationId xmlns:a16="http://schemas.microsoft.com/office/drawing/2014/main" id="{75C89E34-1E2E-4AC4-7977-B1CB8795A9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4:notes">
            <a:extLst>
              <a:ext uri="{FF2B5EF4-FFF2-40B4-BE49-F238E27FC236}">
                <a16:creationId xmlns:a16="http://schemas.microsoft.com/office/drawing/2014/main" id="{1489FE78-45B8-D86E-66CC-7E2F3FCFC3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81467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ложка">
  <p:cSld name="Обложка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40" descr="A blue circle with white text&#10;&#10;Description automatically generated with low confidenc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3859" y="962173"/>
            <a:ext cx="886499" cy="8864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" name="Google Shape;17;p40"/>
          <p:cNvCxnSpPr/>
          <p:nvPr/>
        </p:nvCxnSpPr>
        <p:spPr>
          <a:xfrm>
            <a:off x="6090212" y="985336"/>
            <a:ext cx="0" cy="840173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8" name="Google Shape;18;p40"/>
          <p:cNvCxnSpPr/>
          <p:nvPr/>
        </p:nvCxnSpPr>
        <p:spPr>
          <a:xfrm>
            <a:off x="8642581" y="985336"/>
            <a:ext cx="0" cy="840173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9" name="Google Shape;19;p40"/>
          <p:cNvCxnSpPr/>
          <p:nvPr/>
        </p:nvCxnSpPr>
        <p:spPr>
          <a:xfrm>
            <a:off x="11179047" y="985336"/>
            <a:ext cx="0" cy="840173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0" name="Google Shape;20;p40"/>
          <p:cNvSpPr txBox="1">
            <a:spLocks noGrp="1"/>
          </p:cNvSpPr>
          <p:nvPr>
            <p:ph type="title"/>
          </p:nvPr>
        </p:nvSpPr>
        <p:spPr>
          <a:xfrm>
            <a:off x="1027967" y="2404670"/>
            <a:ext cx="7634059" cy="1978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4300"/>
              <a:buFont typeface="Arial"/>
              <a:buNone/>
              <a:defRPr sz="4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0"/>
          <p:cNvSpPr txBox="1">
            <a:spLocks noGrp="1"/>
          </p:cNvSpPr>
          <p:nvPr>
            <p:ph type="body" idx="1"/>
          </p:nvPr>
        </p:nvSpPr>
        <p:spPr>
          <a:xfrm>
            <a:off x="2074947" y="1187841"/>
            <a:ext cx="3848717" cy="435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40"/>
          <p:cNvSpPr txBox="1">
            <a:spLocks noGrp="1"/>
          </p:cNvSpPr>
          <p:nvPr>
            <p:ph type="body" idx="2"/>
          </p:nvPr>
        </p:nvSpPr>
        <p:spPr>
          <a:xfrm>
            <a:off x="6259420" y="1173829"/>
            <a:ext cx="2278063" cy="463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200"/>
              <a:buFont typeface="Arial"/>
              <a:buNone/>
              <a:defRPr sz="12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40"/>
          <p:cNvSpPr txBox="1">
            <a:spLocks noGrp="1"/>
          </p:cNvSpPr>
          <p:nvPr>
            <p:ph type="body" idx="3"/>
          </p:nvPr>
        </p:nvSpPr>
        <p:spPr>
          <a:xfrm>
            <a:off x="8786720" y="1173829"/>
            <a:ext cx="2217738" cy="463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200"/>
              <a:buFont typeface="Arial"/>
              <a:buNone/>
              <a:defRPr sz="12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0"/>
          <p:cNvSpPr txBox="1">
            <a:spLocks noGrp="1"/>
          </p:cNvSpPr>
          <p:nvPr>
            <p:ph type="body" idx="4"/>
          </p:nvPr>
        </p:nvSpPr>
        <p:spPr>
          <a:xfrm>
            <a:off x="1027967" y="4824914"/>
            <a:ext cx="7625267" cy="652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600"/>
              <a:buFont typeface="Arial"/>
              <a:buNone/>
              <a:defRPr sz="16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кст_2">
  <p:cSld name="Текст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41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" name="Google Shape;27;p41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8" name="Google Shape;28;p41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9" name="Google Shape;29;p41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0" name="Google Shape;30;p41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 b="0" i="0" u="none" strike="noStrike" cap="none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" name="Google Shape;31;p41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2" name="Google Shape;32;p41"/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41"/>
          <p:cNvSpPr txBox="1">
            <a:spLocks noGrp="1"/>
          </p:cNvSpPr>
          <p:nvPr>
            <p:ph type="body" idx="2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41"/>
          <p:cNvSpPr txBox="1">
            <a:spLocks noGrp="1"/>
          </p:cNvSpPr>
          <p:nvPr>
            <p:ph type="title"/>
          </p:nvPr>
        </p:nvSpPr>
        <p:spPr>
          <a:xfrm>
            <a:off x="585897" y="1447790"/>
            <a:ext cx="11057955" cy="777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1"/>
          <p:cNvSpPr txBox="1">
            <a:spLocks noGrp="1"/>
          </p:cNvSpPr>
          <p:nvPr>
            <p:ph type="body" idx="3"/>
          </p:nvPr>
        </p:nvSpPr>
        <p:spPr>
          <a:xfrm>
            <a:off x="585897" y="2379663"/>
            <a:ext cx="11057971" cy="37450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41"/>
          <p:cNvSpPr txBox="1">
            <a:spLocks noGrp="1"/>
          </p:cNvSpPr>
          <p:nvPr>
            <p:ph type="body" idx="4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чистый">
  <p:cSld name="чистый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/>
          </a:solidFill>
          <a:ln w="12700" cap="flat" cmpd="sng">
            <a:solidFill>
              <a:srgbClr val="0A204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" name="Google Shape;39;p4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10809" y="2643809"/>
            <a:ext cx="1570383" cy="15703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кст_1">
  <p:cSld name="Текст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43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2" name="Google Shape;42;p43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" name="Google Shape;43;p43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4" name="Google Shape;44;p43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5" name="Google Shape;45;p43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" name="Google Shape;46;p43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7" name="Google Shape;47;p43"/>
          <p:cNvSpPr>
            <a:spLocks noGrp="1"/>
          </p:cNvSpPr>
          <p:nvPr>
            <p:ph type="pic" idx="2"/>
          </p:nvPr>
        </p:nvSpPr>
        <p:spPr>
          <a:xfrm>
            <a:off x="6684653" y="1447790"/>
            <a:ext cx="4325167" cy="4325107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48" name="Google Shape;48;p43"/>
          <p:cNvSpPr txBox="1">
            <a:spLocks noGrp="1"/>
          </p:cNvSpPr>
          <p:nvPr>
            <p:ph type="title"/>
          </p:nvPr>
        </p:nvSpPr>
        <p:spPr>
          <a:xfrm>
            <a:off x="585898" y="1447790"/>
            <a:ext cx="5245560" cy="777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43"/>
          <p:cNvSpPr txBox="1">
            <a:spLocks noGrp="1"/>
          </p:cNvSpPr>
          <p:nvPr>
            <p:ph type="body" idx="1"/>
          </p:nvPr>
        </p:nvSpPr>
        <p:spPr>
          <a:xfrm>
            <a:off x="585897" y="2379663"/>
            <a:ext cx="5245561" cy="3393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43"/>
          <p:cNvSpPr txBox="1">
            <a:spLocks noGrp="1"/>
          </p:cNvSpPr>
          <p:nvPr>
            <p:ph type="body" idx="3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43"/>
          <p:cNvSpPr txBox="1">
            <a:spLocks noGrp="1"/>
          </p:cNvSpPr>
          <p:nvPr>
            <p:ph type="body" idx="4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43"/>
          <p:cNvSpPr txBox="1">
            <a:spLocks noGrp="1"/>
          </p:cNvSpPr>
          <p:nvPr>
            <p:ph type="body" idx="5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кст_3">
  <p:cSld name="Текст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44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44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44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7" name="Google Shape;57;p44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8" name="Google Shape;58;p44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9" name="Google Shape;59;p44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0" name="Google Shape;60;p44"/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44"/>
          <p:cNvSpPr txBox="1">
            <a:spLocks noGrp="1"/>
          </p:cNvSpPr>
          <p:nvPr>
            <p:ph type="body" idx="2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44"/>
          <p:cNvSpPr txBox="1">
            <a:spLocks noGrp="1"/>
          </p:cNvSpPr>
          <p:nvPr>
            <p:ph type="body" idx="3"/>
          </p:nvPr>
        </p:nvSpPr>
        <p:spPr>
          <a:xfrm>
            <a:off x="585898" y="2379663"/>
            <a:ext cx="4322531" cy="2399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44"/>
          <p:cNvSpPr txBox="1">
            <a:spLocks noGrp="1"/>
          </p:cNvSpPr>
          <p:nvPr>
            <p:ph type="body" idx="4"/>
          </p:nvPr>
        </p:nvSpPr>
        <p:spPr>
          <a:xfrm>
            <a:off x="585897" y="5183249"/>
            <a:ext cx="393434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44"/>
          <p:cNvSpPr txBox="1">
            <a:spLocks noGrp="1"/>
          </p:cNvSpPr>
          <p:nvPr>
            <p:ph type="body" idx="5"/>
          </p:nvPr>
        </p:nvSpPr>
        <p:spPr>
          <a:xfrm>
            <a:off x="6259892" y="2379663"/>
            <a:ext cx="5383968" cy="3451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3200"/>
              <a:buFont typeface="Arial"/>
              <a:buNone/>
              <a:defRPr sz="32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44"/>
          <p:cNvSpPr txBox="1">
            <a:spLocks noGrp="1"/>
          </p:cNvSpPr>
          <p:nvPr>
            <p:ph type="body" idx="6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44"/>
          <p:cNvSpPr txBox="1">
            <a:spLocks noGrp="1"/>
          </p:cNvSpPr>
          <p:nvPr>
            <p:ph type="title"/>
          </p:nvPr>
        </p:nvSpPr>
        <p:spPr>
          <a:xfrm>
            <a:off x="585897" y="1447790"/>
            <a:ext cx="11057955" cy="777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График_1">
  <p:cSld name="График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45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9" name="Google Shape;69;p45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70" name="Google Shape;70;p45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71" name="Google Shape;71;p45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72" name="Google Shape;72;p45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3" name="Google Shape;73;p45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5"/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45"/>
          <p:cNvSpPr txBox="1">
            <a:spLocks noGrp="1"/>
          </p:cNvSpPr>
          <p:nvPr>
            <p:ph type="body" idx="2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45"/>
          <p:cNvSpPr txBox="1">
            <a:spLocks noGrp="1"/>
          </p:cNvSpPr>
          <p:nvPr>
            <p:ph type="body" idx="3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45"/>
          <p:cNvSpPr txBox="1">
            <a:spLocks noGrp="1"/>
          </p:cNvSpPr>
          <p:nvPr>
            <p:ph type="title"/>
          </p:nvPr>
        </p:nvSpPr>
        <p:spPr>
          <a:xfrm>
            <a:off x="585899" y="1447790"/>
            <a:ext cx="4322530" cy="777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45"/>
          <p:cNvSpPr txBox="1">
            <a:spLocks noGrp="1"/>
          </p:cNvSpPr>
          <p:nvPr>
            <p:ph type="body" idx="4"/>
          </p:nvPr>
        </p:nvSpPr>
        <p:spPr>
          <a:xfrm>
            <a:off x="585898" y="2379663"/>
            <a:ext cx="4322531" cy="2399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45"/>
          <p:cNvSpPr txBox="1">
            <a:spLocks noGrp="1"/>
          </p:cNvSpPr>
          <p:nvPr>
            <p:ph type="body" idx="5"/>
          </p:nvPr>
        </p:nvSpPr>
        <p:spPr>
          <a:xfrm>
            <a:off x="585897" y="5183249"/>
            <a:ext cx="393434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45"/>
          <p:cNvSpPr>
            <a:spLocks noGrp="1"/>
          </p:cNvSpPr>
          <p:nvPr>
            <p:ph type="chart" idx="6"/>
          </p:nvPr>
        </p:nvSpPr>
        <p:spPr>
          <a:xfrm>
            <a:off x="5272097" y="1447790"/>
            <a:ext cx="6371768" cy="4289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График_2">
  <p:cSld name="График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46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3" name="Google Shape;83;p46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84" name="Google Shape;84;p46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85" name="Google Shape;85;p46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6" name="Google Shape;86;p46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" name="Google Shape;87;p46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8" name="Google Shape;88;p46"/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46"/>
          <p:cNvSpPr txBox="1">
            <a:spLocks noGrp="1"/>
          </p:cNvSpPr>
          <p:nvPr>
            <p:ph type="body" idx="2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46"/>
          <p:cNvSpPr txBox="1">
            <a:spLocks noGrp="1"/>
          </p:cNvSpPr>
          <p:nvPr>
            <p:ph type="body" idx="3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46"/>
          <p:cNvSpPr txBox="1">
            <a:spLocks noGrp="1"/>
          </p:cNvSpPr>
          <p:nvPr>
            <p:ph type="body" idx="4"/>
          </p:nvPr>
        </p:nvSpPr>
        <p:spPr>
          <a:xfrm>
            <a:off x="585897" y="5183249"/>
            <a:ext cx="393434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2" name="Google Shape;92;p46"/>
          <p:cNvSpPr>
            <a:spLocks noGrp="1"/>
          </p:cNvSpPr>
          <p:nvPr>
            <p:ph type="chart" idx="5"/>
          </p:nvPr>
        </p:nvSpPr>
        <p:spPr>
          <a:xfrm>
            <a:off x="5272097" y="1447790"/>
            <a:ext cx="6371768" cy="4289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3" name="Google Shape;93;p46"/>
          <p:cNvSpPr txBox="1">
            <a:spLocks noGrp="1"/>
          </p:cNvSpPr>
          <p:nvPr>
            <p:ph type="body" idx="6"/>
          </p:nvPr>
        </p:nvSpPr>
        <p:spPr>
          <a:xfrm>
            <a:off x="585788" y="1447064"/>
            <a:ext cx="4322762" cy="7032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600"/>
              <a:buNone/>
              <a:defRPr sz="16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sz="16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sz="16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sz="16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sz="16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4" name="Google Shape;94;p46"/>
          <p:cNvSpPr txBox="1">
            <a:spLocks noGrp="1"/>
          </p:cNvSpPr>
          <p:nvPr>
            <p:ph type="body" idx="7"/>
          </p:nvPr>
        </p:nvSpPr>
        <p:spPr>
          <a:xfrm>
            <a:off x="585898" y="2379663"/>
            <a:ext cx="4322531" cy="2399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фры">
  <p:cSld name="Цифры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47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7" name="Google Shape;97;p47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98" name="Google Shape;98;p47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99" name="Google Shape;99;p47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0" name="Google Shape;100;p47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1" name="Google Shape;101;p47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2" name="Google Shape;102;p47"/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3" name="Google Shape;103;p47"/>
          <p:cNvSpPr txBox="1">
            <a:spLocks noGrp="1"/>
          </p:cNvSpPr>
          <p:nvPr>
            <p:ph type="body" idx="2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" name="Google Shape;104;p47"/>
          <p:cNvSpPr txBox="1">
            <a:spLocks noGrp="1"/>
          </p:cNvSpPr>
          <p:nvPr>
            <p:ph type="body" idx="3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5" name="Google Shape;105;p47"/>
          <p:cNvSpPr txBox="1">
            <a:spLocks noGrp="1"/>
          </p:cNvSpPr>
          <p:nvPr>
            <p:ph type="title"/>
          </p:nvPr>
        </p:nvSpPr>
        <p:spPr>
          <a:xfrm>
            <a:off x="585897" y="1447790"/>
            <a:ext cx="11057955" cy="777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47"/>
          <p:cNvSpPr txBox="1">
            <a:spLocks noGrp="1"/>
          </p:cNvSpPr>
          <p:nvPr>
            <p:ph type="body" idx="4"/>
          </p:nvPr>
        </p:nvSpPr>
        <p:spPr>
          <a:xfrm>
            <a:off x="575076" y="4103994"/>
            <a:ext cx="2758143" cy="156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7" name="Google Shape;107;p47"/>
          <p:cNvSpPr txBox="1">
            <a:spLocks noGrp="1"/>
          </p:cNvSpPr>
          <p:nvPr>
            <p:ph type="body" idx="5"/>
          </p:nvPr>
        </p:nvSpPr>
        <p:spPr>
          <a:xfrm>
            <a:off x="4047007" y="4103994"/>
            <a:ext cx="2757612" cy="156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8" name="Google Shape;108;p47"/>
          <p:cNvSpPr txBox="1">
            <a:spLocks noGrp="1"/>
          </p:cNvSpPr>
          <p:nvPr>
            <p:ph type="body" idx="6"/>
          </p:nvPr>
        </p:nvSpPr>
        <p:spPr>
          <a:xfrm>
            <a:off x="7518938" y="4103994"/>
            <a:ext cx="2757612" cy="156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47"/>
          <p:cNvSpPr txBox="1">
            <a:spLocks noGrp="1"/>
          </p:cNvSpPr>
          <p:nvPr>
            <p:ph type="body" idx="7"/>
          </p:nvPr>
        </p:nvSpPr>
        <p:spPr>
          <a:xfrm>
            <a:off x="575076" y="2710235"/>
            <a:ext cx="2758143" cy="1164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>
                <a:latin typeface="Arial"/>
                <a:ea typeface="Arial"/>
                <a:cs typeface="Arial"/>
                <a:sym typeface="Arial"/>
              </a:defRPr>
            </a:lvl1pPr>
            <a:lvl2pPr marL="914400" lvl="1" indent="-838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2pPr>
            <a:lvl3pPr marL="1371600" lvl="2" indent="-838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3pPr>
            <a:lvl4pPr marL="1828800" lvl="3" indent="-838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4pPr>
            <a:lvl5pPr marL="2286000" lvl="4" indent="-838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7"/>
          <p:cNvSpPr txBox="1">
            <a:spLocks noGrp="1"/>
          </p:cNvSpPr>
          <p:nvPr>
            <p:ph type="body" idx="8"/>
          </p:nvPr>
        </p:nvSpPr>
        <p:spPr>
          <a:xfrm>
            <a:off x="4047007" y="2710235"/>
            <a:ext cx="2758143" cy="1164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>
                <a:latin typeface="Arial"/>
                <a:ea typeface="Arial"/>
                <a:cs typeface="Arial"/>
                <a:sym typeface="Arial"/>
              </a:defRPr>
            </a:lvl1pPr>
            <a:lvl2pPr marL="914400" lvl="1" indent="-838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2pPr>
            <a:lvl3pPr marL="1371600" lvl="2" indent="-838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3pPr>
            <a:lvl4pPr marL="1828800" lvl="3" indent="-838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4pPr>
            <a:lvl5pPr marL="2286000" lvl="4" indent="-838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47"/>
          <p:cNvSpPr txBox="1">
            <a:spLocks noGrp="1"/>
          </p:cNvSpPr>
          <p:nvPr>
            <p:ph type="body" idx="9"/>
          </p:nvPr>
        </p:nvSpPr>
        <p:spPr>
          <a:xfrm>
            <a:off x="7518938" y="2710235"/>
            <a:ext cx="2758143" cy="1164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>
                <a:latin typeface="Arial"/>
                <a:ea typeface="Arial"/>
                <a:cs typeface="Arial"/>
                <a:sym typeface="Arial"/>
              </a:defRPr>
            </a:lvl1pPr>
            <a:lvl2pPr marL="914400" lvl="1" indent="-838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2pPr>
            <a:lvl3pPr marL="1371600" lvl="2" indent="-838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3pPr>
            <a:lvl4pPr marL="1828800" lvl="3" indent="-838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4pPr>
            <a:lvl5pPr marL="2286000" lvl="4" indent="-838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_1">
  <p:cSld name="Таблица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48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4" name="Google Shape;114;p48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15" name="Google Shape;115;p48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16" name="Google Shape;116;p48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7" name="Google Shape;117;p48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8" name="Google Shape;118;p48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9" name="Google Shape;119;p48"/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48"/>
          <p:cNvSpPr txBox="1">
            <a:spLocks noGrp="1"/>
          </p:cNvSpPr>
          <p:nvPr>
            <p:ph type="body" idx="2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8"/>
          <p:cNvSpPr txBox="1">
            <a:spLocks noGrp="1"/>
          </p:cNvSpPr>
          <p:nvPr>
            <p:ph type="body" idx="3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48"/>
          <p:cNvSpPr txBox="1">
            <a:spLocks noGrp="1"/>
          </p:cNvSpPr>
          <p:nvPr>
            <p:ph type="body" idx="4"/>
          </p:nvPr>
        </p:nvSpPr>
        <p:spPr>
          <a:xfrm>
            <a:off x="585787" y="1447065"/>
            <a:ext cx="11058065" cy="307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600"/>
              <a:buNone/>
              <a:defRPr sz="16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sz="16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sz="16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sz="16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sz="16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48"/>
          <p:cNvSpPr txBox="1">
            <a:spLocks noGrp="1"/>
          </p:cNvSpPr>
          <p:nvPr>
            <p:ph type="body" idx="5"/>
          </p:nvPr>
        </p:nvSpPr>
        <p:spPr>
          <a:xfrm>
            <a:off x="585788" y="5739189"/>
            <a:ext cx="6824303" cy="7032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111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300"/>
              <a:buChar char="•"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111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300"/>
              <a:buChar char="•"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3111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300"/>
              <a:buChar char="•"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3111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300"/>
              <a:buChar char="•"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_2">
  <p:cSld name="Таблица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49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6" name="Google Shape;126;p49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27" name="Google Shape;127;p49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28" name="Google Shape;128;p49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9" name="Google Shape;129;p49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0" name="Google Shape;130;p49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31" name="Google Shape;131;p49"/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49"/>
          <p:cNvSpPr txBox="1">
            <a:spLocks noGrp="1"/>
          </p:cNvSpPr>
          <p:nvPr>
            <p:ph type="body" idx="2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49"/>
          <p:cNvSpPr txBox="1">
            <a:spLocks noGrp="1"/>
          </p:cNvSpPr>
          <p:nvPr>
            <p:ph type="body" idx="3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9"/>
          <p:cNvSpPr txBox="1">
            <a:spLocks noGrp="1"/>
          </p:cNvSpPr>
          <p:nvPr>
            <p:ph type="body" idx="4"/>
          </p:nvPr>
        </p:nvSpPr>
        <p:spPr>
          <a:xfrm>
            <a:off x="585787" y="1447064"/>
            <a:ext cx="7617877" cy="5370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600"/>
              <a:buNone/>
              <a:defRPr sz="16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sz="16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sz="16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sz="16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sz="16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49"/>
          <p:cNvSpPr txBox="1">
            <a:spLocks noGrp="1"/>
          </p:cNvSpPr>
          <p:nvPr>
            <p:ph type="body" idx="5"/>
          </p:nvPr>
        </p:nvSpPr>
        <p:spPr>
          <a:xfrm>
            <a:off x="585788" y="5739189"/>
            <a:ext cx="6824303" cy="7032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111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300"/>
              <a:buChar char="•"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111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300"/>
              <a:buChar char="•"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3111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300"/>
              <a:buChar char="•"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3111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300"/>
              <a:buChar char="•"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9"/>
          <p:cNvSpPr txBox="1">
            <a:spLocks noGrp="1"/>
          </p:cNvSpPr>
          <p:nvPr>
            <p:ph type="body" idx="6"/>
          </p:nvPr>
        </p:nvSpPr>
        <p:spPr>
          <a:xfrm>
            <a:off x="8686807" y="2208363"/>
            <a:ext cx="2930666" cy="2570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чистый_2">
  <p:cSld name="чистый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50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9" name="Google Shape;139;p50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40" name="Google Shape;140;p50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41" name="Google Shape;141;p50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2" name="Google Shape;142;p50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3" name="Google Shape;143;p50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4" name="Google Shape;144;p50"/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50"/>
          <p:cNvSpPr txBox="1">
            <a:spLocks noGrp="1"/>
          </p:cNvSpPr>
          <p:nvPr>
            <p:ph type="body" idx="2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50"/>
          <p:cNvSpPr txBox="1">
            <a:spLocks noGrp="1"/>
          </p:cNvSpPr>
          <p:nvPr>
            <p:ph type="body" idx="3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вет">
  <p:cSld name="цвет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51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9" name="Google Shape;149;p51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0" name="Google Shape;150;p51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1" name="Google Shape;151;p51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52" name="Google Shape;152;p51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3" name="Google Shape;153;p51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w="12700" cap="flat" cmpd="sng">
            <a:solidFill>
              <a:srgbClr val="102D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54" name="Google Shape;154;p51"/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0" i="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51"/>
          <p:cNvSpPr txBox="1">
            <a:spLocks noGrp="1"/>
          </p:cNvSpPr>
          <p:nvPr>
            <p:ph type="body" idx="2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51"/>
          <p:cNvSpPr txBox="1">
            <a:spLocks noGrp="1"/>
          </p:cNvSpPr>
          <p:nvPr>
            <p:ph type="body" idx="3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7" name="Google Shape;157;p51"/>
          <p:cNvSpPr txBox="1">
            <a:spLocks noGrp="1"/>
          </p:cNvSpPr>
          <p:nvPr>
            <p:ph type="title"/>
          </p:nvPr>
        </p:nvSpPr>
        <p:spPr>
          <a:xfrm>
            <a:off x="585899" y="1447790"/>
            <a:ext cx="4322530" cy="777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51"/>
          <p:cNvSpPr txBox="1">
            <a:spLocks noGrp="1"/>
          </p:cNvSpPr>
          <p:nvPr>
            <p:ph type="body" idx="4"/>
          </p:nvPr>
        </p:nvSpPr>
        <p:spPr>
          <a:xfrm>
            <a:off x="585898" y="2379663"/>
            <a:ext cx="4322531" cy="2399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sz="13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9" name="Google Shape;159;p51"/>
          <p:cNvSpPr/>
          <p:nvPr/>
        </p:nvSpPr>
        <p:spPr>
          <a:xfrm>
            <a:off x="5392982" y="1447790"/>
            <a:ext cx="830997" cy="830997"/>
          </a:xfrm>
          <a:prstGeom prst="ellipse">
            <a:avLst/>
          </a:prstGeom>
          <a:solidFill>
            <a:srgbClr val="0E2D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1"/>
          <p:cNvSpPr/>
          <p:nvPr/>
        </p:nvSpPr>
        <p:spPr>
          <a:xfrm>
            <a:off x="6742925" y="1447790"/>
            <a:ext cx="830997" cy="830997"/>
          </a:xfrm>
          <a:prstGeom prst="ellipse">
            <a:avLst/>
          </a:prstGeom>
          <a:solidFill>
            <a:srgbClr val="234A9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1"/>
          <p:cNvSpPr/>
          <p:nvPr/>
        </p:nvSpPr>
        <p:spPr>
          <a:xfrm>
            <a:off x="8092868" y="1447790"/>
            <a:ext cx="830997" cy="830997"/>
          </a:xfrm>
          <a:prstGeom prst="ellipse">
            <a:avLst/>
          </a:prstGeom>
          <a:solidFill>
            <a:srgbClr val="11A0D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1"/>
          <p:cNvSpPr/>
          <p:nvPr/>
        </p:nvSpPr>
        <p:spPr>
          <a:xfrm>
            <a:off x="9442811" y="1447790"/>
            <a:ext cx="830997" cy="830997"/>
          </a:xfrm>
          <a:prstGeom prst="ellipse">
            <a:avLst/>
          </a:prstGeom>
          <a:solidFill>
            <a:srgbClr val="029C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1"/>
          <p:cNvSpPr/>
          <p:nvPr/>
        </p:nvSpPr>
        <p:spPr>
          <a:xfrm>
            <a:off x="10792754" y="1447790"/>
            <a:ext cx="830997" cy="830997"/>
          </a:xfrm>
          <a:prstGeom prst="ellipse">
            <a:avLst/>
          </a:prstGeom>
          <a:solidFill>
            <a:srgbClr val="EB681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1"/>
          <p:cNvSpPr/>
          <p:nvPr/>
        </p:nvSpPr>
        <p:spPr>
          <a:xfrm>
            <a:off x="5392982" y="2708699"/>
            <a:ext cx="830997" cy="830997"/>
          </a:xfrm>
          <a:prstGeom prst="ellipse">
            <a:avLst/>
          </a:prstGeom>
          <a:solidFill>
            <a:srgbClr val="7D4EB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1"/>
          <p:cNvSpPr/>
          <p:nvPr/>
        </p:nvSpPr>
        <p:spPr>
          <a:xfrm>
            <a:off x="6742925" y="2708699"/>
            <a:ext cx="830997" cy="830997"/>
          </a:xfrm>
          <a:prstGeom prst="ellipse">
            <a:avLst/>
          </a:prstGeom>
          <a:solidFill>
            <a:srgbClr val="E61F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1"/>
          <p:cNvSpPr/>
          <p:nvPr/>
        </p:nvSpPr>
        <p:spPr>
          <a:xfrm>
            <a:off x="8092868" y="2708699"/>
            <a:ext cx="830997" cy="830997"/>
          </a:xfrm>
          <a:prstGeom prst="ellipse">
            <a:avLst/>
          </a:prstGeom>
          <a:solidFill>
            <a:srgbClr val="FBBA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51"/>
          <p:cNvSpPr/>
          <p:nvPr/>
        </p:nvSpPr>
        <p:spPr>
          <a:xfrm>
            <a:off x="9442811" y="2708699"/>
            <a:ext cx="830997" cy="830997"/>
          </a:xfrm>
          <a:prstGeom prst="ellipse">
            <a:avLst/>
          </a:prstGeom>
          <a:solidFill>
            <a:srgbClr val="7DA0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1"/>
          <p:cNvSpPr/>
          <p:nvPr/>
        </p:nvSpPr>
        <p:spPr>
          <a:xfrm>
            <a:off x="10792754" y="2708699"/>
            <a:ext cx="830997" cy="830997"/>
          </a:xfrm>
          <a:prstGeom prst="ellipse">
            <a:avLst/>
          </a:prstGeom>
          <a:solidFill>
            <a:srgbClr val="47A0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1"/>
          <p:cNvSpPr/>
          <p:nvPr/>
        </p:nvSpPr>
        <p:spPr>
          <a:xfrm>
            <a:off x="5392982" y="3969609"/>
            <a:ext cx="830997" cy="830997"/>
          </a:xfrm>
          <a:prstGeom prst="ellipse">
            <a:avLst/>
          </a:prstGeom>
          <a:solidFill>
            <a:srgbClr val="EB8C3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1"/>
          <p:cNvSpPr/>
          <p:nvPr/>
        </p:nvSpPr>
        <p:spPr>
          <a:xfrm>
            <a:off x="6742925" y="3969609"/>
            <a:ext cx="830997" cy="830997"/>
          </a:xfrm>
          <a:prstGeom prst="ellipse">
            <a:avLst/>
          </a:prstGeom>
          <a:solidFill>
            <a:srgbClr val="9662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51"/>
          <p:cNvSpPr/>
          <p:nvPr/>
        </p:nvSpPr>
        <p:spPr>
          <a:xfrm>
            <a:off x="8092868" y="3969609"/>
            <a:ext cx="830997" cy="830997"/>
          </a:xfrm>
          <a:prstGeom prst="ellipse">
            <a:avLst/>
          </a:prstGeom>
          <a:solidFill>
            <a:srgbClr val="CD5A5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1"/>
          <p:cNvSpPr/>
          <p:nvPr/>
        </p:nvSpPr>
        <p:spPr>
          <a:xfrm>
            <a:off x="9442811" y="3969609"/>
            <a:ext cx="830997" cy="830997"/>
          </a:xfrm>
          <a:prstGeom prst="ellipse">
            <a:avLst/>
          </a:prstGeom>
          <a:solidFill>
            <a:srgbClr val="FFD74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1"/>
          <p:cNvSpPr/>
          <p:nvPr/>
        </p:nvSpPr>
        <p:spPr>
          <a:xfrm>
            <a:off x="10792754" y="3969609"/>
            <a:ext cx="830997" cy="830997"/>
          </a:xfrm>
          <a:prstGeom prst="ellipse">
            <a:avLst/>
          </a:prstGeom>
          <a:solidFill>
            <a:srgbClr val="CDDD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51"/>
          <p:cNvSpPr/>
          <p:nvPr/>
        </p:nvSpPr>
        <p:spPr>
          <a:xfrm>
            <a:off x="5392982" y="5249769"/>
            <a:ext cx="830997" cy="830997"/>
          </a:xfrm>
          <a:prstGeom prst="ellipse">
            <a:avLst/>
          </a:prstGeom>
          <a:solidFill>
            <a:srgbClr val="D7EB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51"/>
          <p:cNvSpPr/>
          <p:nvPr/>
        </p:nvSpPr>
        <p:spPr>
          <a:xfrm>
            <a:off x="6742925" y="5249769"/>
            <a:ext cx="830997" cy="830997"/>
          </a:xfrm>
          <a:prstGeom prst="ellipse">
            <a:avLst/>
          </a:prstGeom>
          <a:solidFill>
            <a:srgbClr val="FFDC9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51"/>
          <p:cNvSpPr/>
          <p:nvPr/>
        </p:nvSpPr>
        <p:spPr>
          <a:xfrm>
            <a:off x="8092868" y="5249769"/>
            <a:ext cx="830997" cy="830997"/>
          </a:xfrm>
          <a:prstGeom prst="ellipse">
            <a:avLst/>
          </a:prstGeom>
          <a:solidFill>
            <a:srgbClr val="D7C3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1"/>
          <p:cNvSpPr/>
          <p:nvPr/>
        </p:nvSpPr>
        <p:spPr>
          <a:xfrm>
            <a:off x="9442811" y="5249769"/>
            <a:ext cx="830997" cy="830997"/>
          </a:xfrm>
          <a:prstGeom prst="ellipse">
            <a:avLst/>
          </a:prstGeom>
          <a:solidFill>
            <a:srgbClr val="F6C3C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51"/>
          <p:cNvSpPr/>
          <p:nvPr/>
        </p:nvSpPr>
        <p:spPr>
          <a:xfrm>
            <a:off x="10792754" y="5249769"/>
            <a:ext cx="830997" cy="830997"/>
          </a:xfrm>
          <a:prstGeom prst="ellipse">
            <a:avLst/>
          </a:prstGeom>
          <a:solidFill>
            <a:srgbClr val="FFF07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ind-map-online.ru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90/systems11070341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d8sveBeF56fo5aUc0ToMKTChP4s1HwBn/view?usp=drive_link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"/>
          <p:cNvSpPr txBox="1">
            <a:spLocks noGrp="1"/>
          </p:cNvSpPr>
          <p:nvPr>
            <p:ph type="title"/>
          </p:nvPr>
        </p:nvSpPr>
        <p:spPr>
          <a:xfrm>
            <a:off x="1027966" y="2159714"/>
            <a:ext cx="9255285" cy="15977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4300"/>
              <a:buFont typeface="Arial"/>
              <a:buNone/>
            </a:pPr>
            <a:r>
              <a:rPr lang="ru-RU" sz="3600" dirty="0"/>
              <a:t>Подходы к управлению требованиями при гибкой разработке ПО с использованием аппарата нечетких множеств</a:t>
            </a:r>
            <a:br>
              <a:rPr lang="ru-RU" sz="3600" dirty="0"/>
            </a:br>
            <a:br>
              <a:rPr lang="ru-RU" sz="3600" dirty="0"/>
            </a:br>
            <a:br>
              <a:rPr lang="ru-RU" dirty="0"/>
            </a:br>
            <a:endParaRPr dirty="0"/>
          </a:p>
        </p:txBody>
      </p:sp>
      <p:sp>
        <p:nvSpPr>
          <p:cNvPr id="184" name="Google Shape;184;p1"/>
          <p:cNvSpPr txBox="1">
            <a:spLocks noGrp="1"/>
          </p:cNvSpPr>
          <p:nvPr>
            <p:ph type="body" idx="1"/>
          </p:nvPr>
        </p:nvSpPr>
        <p:spPr>
          <a:xfrm>
            <a:off x="2074947" y="1187841"/>
            <a:ext cx="3848717" cy="435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/>
              <a:t>Факультет компьютерных наук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</p:txBody>
      </p:sp>
      <p:sp>
        <p:nvSpPr>
          <p:cNvPr id="185" name="Google Shape;185;p1"/>
          <p:cNvSpPr txBox="1">
            <a:spLocks noGrp="1"/>
          </p:cNvSpPr>
          <p:nvPr>
            <p:ph type="body" idx="2"/>
          </p:nvPr>
        </p:nvSpPr>
        <p:spPr>
          <a:xfrm>
            <a:off x="6259420" y="1173829"/>
            <a:ext cx="2278063" cy="463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200"/>
              <a:buFont typeface="Arial"/>
              <a:buNone/>
            </a:pPr>
            <a:r>
              <a:rPr lang="ru-RU"/>
              <a:t>Продуктовый подход и аналитика данных в HR-менеджменте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186" name="Google Shape;186;p1"/>
          <p:cNvSpPr txBox="1">
            <a:spLocks noGrp="1"/>
          </p:cNvSpPr>
          <p:nvPr>
            <p:ph type="body" idx="3"/>
          </p:nvPr>
        </p:nvSpPr>
        <p:spPr>
          <a:xfrm>
            <a:off x="8786720" y="1173829"/>
            <a:ext cx="2217738" cy="463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200"/>
              <a:buFont typeface="Arial"/>
              <a:buNone/>
            </a:pPr>
            <a:r>
              <a:rPr lang="ru-RU"/>
              <a:t>Москва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200"/>
              <a:buFont typeface="Arial"/>
              <a:buNone/>
            </a:pPr>
            <a:r>
              <a:rPr lang="ru-RU"/>
              <a:t>2025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187" name="Google Shape;187;p1"/>
          <p:cNvSpPr txBox="1">
            <a:spLocks noGrp="1"/>
          </p:cNvSpPr>
          <p:nvPr>
            <p:ph type="body" idx="4"/>
          </p:nvPr>
        </p:nvSpPr>
        <p:spPr>
          <a:xfrm>
            <a:off x="1027966" y="4554282"/>
            <a:ext cx="7625267" cy="652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2000"/>
              <a:buFont typeface="Arial"/>
              <a:buNone/>
            </a:pPr>
            <a:r>
              <a:rPr lang="ru-RU" sz="2000" b="1" dirty="0"/>
              <a:t>Автор работы: Понаровская Инна Сергеевна</a:t>
            </a:r>
            <a:endParaRPr b="1" dirty="0"/>
          </a:p>
        </p:txBody>
      </p:sp>
      <p:sp>
        <p:nvSpPr>
          <p:cNvPr id="2" name="Google Shape;187;p1">
            <a:extLst>
              <a:ext uri="{FF2B5EF4-FFF2-40B4-BE49-F238E27FC236}">
                <a16:creationId xmlns:a16="http://schemas.microsoft.com/office/drawing/2014/main" id="{F36011B4-5827-DD52-73DA-F91AA487DB9B}"/>
              </a:ext>
            </a:extLst>
          </p:cNvPr>
          <p:cNvSpPr txBox="1">
            <a:spLocks/>
          </p:cNvSpPr>
          <p:nvPr/>
        </p:nvSpPr>
        <p:spPr>
          <a:xfrm>
            <a:off x="1027966" y="3901422"/>
            <a:ext cx="7625267" cy="652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buSzPts val="2000"/>
            </a:pPr>
            <a:r>
              <a:rPr lang="ru-RU" sz="2000" dirty="0"/>
              <a:t>Предварительное описание проекта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"/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193" name="Google Shape;193;p2"/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194" name="Google Shape;194;p2"/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"/>
          <p:cNvSpPr txBox="1">
            <a:spLocks noGrp="1"/>
          </p:cNvSpPr>
          <p:nvPr>
            <p:ph type="title"/>
          </p:nvPr>
        </p:nvSpPr>
        <p:spPr>
          <a:xfrm>
            <a:off x="553387" y="1162178"/>
            <a:ext cx="9841724" cy="530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3864"/>
              </a:buClr>
              <a:buSzPts val="3200"/>
              <a:buFont typeface="Arial"/>
              <a:buNone/>
            </a:pPr>
            <a:r>
              <a:rPr lang="ru-RU" sz="3200" b="1" dirty="0">
                <a:solidFill>
                  <a:srgbClr val="1F3864"/>
                </a:solidFill>
              </a:rPr>
              <a:t>Содержание доклада</a:t>
            </a:r>
            <a:endParaRPr dirty="0"/>
          </a:p>
        </p:txBody>
      </p:sp>
      <p:sp>
        <p:nvSpPr>
          <p:cNvPr id="196" name="Google Shape;196;p2"/>
          <p:cNvSpPr txBox="1"/>
          <p:nvPr/>
        </p:nvSpPr>
        <p:spPr>
          <a:xfrm>
            <a:off x="553374" y="1898150"/>
            <a:ext cx="10764199" cy="4418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/>
                </a:solidFill>
              </a:rPr>
              <a:t>1. Описание предметной области, актуальность, постановка задачи</a:t>
            </a:r>
            <a:endParaRPr sz="2400" dirty="0"/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/>
                </a:solidFill>
              </a:rPr>
              <a:t>2. Ключевые слова</a:t>
            </a:r>
            <a:endParaRPr sz="2400" dirty="0">
              <a:solidFill>
                <a:srgbClr val="102D69"/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/>
                </a:solidFill>
              </a:rPr>
              <a:t>3. Цель работы, исследовательские вопросы</a:t>
            </a:r>
            <a:endParaRPr sz="2400" dirty="0">
              <a:solidFill>
                <a:srgbClr val="102D69"/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/>
                </a:solidFill>
              </a:rPr>
              <a:t>4. Задачи работы</a:t>
            </a:r>
            <a:endParaRPr sz="2400" dirty="0"/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/>
                </a:solidFill>
              </a:rPr>
              <a:t>5. Ожидаемые результаты</a:t>
            </a:r>
            <a:endParaRPr sz="2400" dirty="0"/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/>
                </a:solidFill>
              </a:rPr>
              <a:t>6. Применяемые методы (подходы)</a:t>
            </a:r>
            <a:endParaRPr sz="2400" dirty="0"/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/>
                </a:solidFill>
              </a:rPr>
              <a:t>7. Используемые инструменты (технологии)</a:t>
            </a: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/>
                </a:solidFill>
              </a:rPr>
              <a:t>8. Дополнение</a:t>
            </a:r>
            <a:endParaRPr sz="2400" dirty="0">
              <a:solidFill>
                <a:srgbClr val="102D69"/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/>
                </a:solidFill>
              </a:rPr>
              <a:t>9. Список источников</a:t>
            </a:r>
            <a:endParaRPr sz="2400" dirty="0">
              <a:solidFill>
                <a:srgbClr val="1F386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DEAF6"/>
        </a:solidFill>
        <a:effectLst/>
      </p:bgPr>
    </p:bg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"/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02" name="Google Shape;202;p3"/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03" name="Google Shape;203;p3"/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96;p2">
            <a:extLst>
              <a:ext uri="{FF2B5EF4-FFF2-40B4-BE49-F238E27FC236}">
                <a16:creationId xmlns:a16="http://schemas.microsoft.com/office/drawing/2014/main" id="{9DB4A62C-A2D2-5B2D-7C68-F02D550A59A8}"/>
              </a:ext>
            </a:extLst>
          </p:cNvPr>
          <p:cNvSpPr txBox="1"/>
          <p:nvPr/>
        </p:nvSpPr>
        <p:spPr>
          <a:xfrm>
            <a:off x="183112" y="1403131"/>
            <a:ext cx="11825775" cy="5055855"/>
          </a:xfrm>
          <a:prstGeom prst="rect">
            <a:avLst/>
          </a:prstGeom>
          <a:solidFill>
            <a:srgbClr val="DDEAF6">
              <a:alpha val="42000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600" b="1" dirty="0">
                <a:solidFill>
                  <a:srgbClr val="102D69"/>
                </a:solidFill>
              </a:rPr>
              <a:t>1. Описание предметной области, актуальность, постановка задачи</a:t>
            </a:r>
            <a:endParaRPr sz="2600" b="1" dirty="0"/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2. Ключевые слова</a:t>
            </a:r>
            <a:endParaRPr sz="2400" dirty="0">
              <a:solidFill>
                <a:srgbClr val="102D69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3. Цель работы, исследовательские вопросы</a:t>
            </a:r>
            <a:endParaRPr sz="2400" dirty="0">
              <a:solidFill>
                <a:srgbClr val="102D69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4. Задачи работы</a:t>
            </a:r>
            <a:endParaRPr sz="2400" dirty="0">
              <a:solidFill>
                <a:srgbClr val="000000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5. Ожидаемые результаты</a:t>
            </a:r>
            <a:endParaRPr sz="2400" dirty="0">
              <a:solidFill>
                <a:srgbClr val="000000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6. Применяемые методы (подходы)</a:t>
            </a:r>
            <a:endParaRPr sz="2400" dirty="0">
              <a:solidFill>
                <a:srgbClr val="000000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7. Используемые инструменты (технологии)</a:t>
            </a: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8. Дополнение</a:t>
            </a:r>
            <a:endParaRPr sz="2400" dirty="0">
              <a:solidFill>
                <a:srgbClr val="102D69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9. Список источников</a:t>
            </a:r>
            <a:endParaRPr sz="2400" dirty="0">
              <a:solidFill>
                <a:srgbClr val="1F3864">
                  <a:alpha val="57000"/>
                </a:srgb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"/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10" name="Google Shape;210;p4"/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11" name="Google Shape;211;p4"/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/>
          <p:cNvSpPr txBox="1">
            <a:spLocks noGrp="1"/>
          </p:cNvSpPr>
          <p:nvPr>
            <p:ph type="title"/>
          </p:nvPr>
        </p:nvSpPr>
        <p:spPr>
          <a:xfrm>
            <a:off x="553387" y="1162178"/>
            <a:ext cx="10703192" cy="530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/>
          </a:bodyPr>
          <a:lstStyle/>
          <a:p>
            <a:pPr marL="9525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100"/>
              <a:buFont typeface="Arial"/>
              <a:buNone/>
            </a:pPr>
            <a:r>
              <a:rPr lang="ru-RU" sz="3200" b="1" dirty="0">
                <a:solidFill>
                  <a:srgbClr val="102D69"/>
                </a:solidFill>
              </a:rPr>
              <a:t>1.1. Предметная область и актуальность исследования</a:t>
            </a:r>
            <a:endParaRPr dirty="0"/>
          </a:p>
        </p:txBody>
      </p:sp>
      <p:sp>
        <p:nvSpPr>
          <p:cNvPr id="213" name="Google Shape;213;p4"/>
          <p:cNvSpPr txBox="1"/>
          <p:nvPr/>
        </p:nvSpPr>
        <p:spPr>
          <a:xfrm>
            <a:off x="553375" y="1745225"/>
            <a:ext cx="10851900" cy="45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spcBef>
                <a:spcPts val="600"/>
              </a:spcBef>
            </a:pPr>
            <a:r>
              <a:rPr lang="ru-RU" sz="2400" dirty="0">
                <a:solidFill>
                  <a:srgbClr val="002060"/>
                </a:solidFill>
              </a:rPr>
              <a:t>В процессах разработки программного обеспечения, где также имеет место коллективная работа, вопрос </a:t>
            </a:r>
            <a:r>
              <a:rPr lang="ru-RU" sz="2400" b="1" dirty="0">
                <a:solidFill>
                  <a:srgbClr val="002060"/>
                </a:solidFill>
              </a:rPr>
              <a:t>качественного формирования информационного поля</a:t>
            </a:r>
            <a:r>
              <a:rPr lang="ru-RU" sz="2400" dirty="0">
                <a:solidFill>
                  <a:srgbClr val="002060"/>
                </a:solidFill>
              </a:rPr>
              <a:t> имеет прямое влияние на результат деятельности, поскольку </a:t>
            </a:r>
            <a:r>
              <a:rPr lang="ru-RU" sz="2400" b="1" dirty="0">
                <a:solidFill>
                  <a:srgbClr val="002060"/>
                </a:solidFill>
              </a:rPr>
              <a:t>некорректное восприятие информации </a:t>
            </a:r>
            <a:r>
              <a:rPr lang="ru-RU" sz="2400" dirty="0">
                <a:solidFill>
                  <a:srgbClr val="002060"/>
                </a:solidFill>
              </a:rPr>
              <a:t>или </a:t>
            </a:r>
            <a:r>
              <a:rPr lang="ru-RU" sz="2400" b="1" dirty="0">
                <a:solidFill>
                  <a:srgbClr val="002060"/>
                </a:solidFill>
              </a:rPr>
              <a:t>неполнота сведений </a:t>
            </a:r>
            <a:r>
              <a:rPr lang="ru-RU" sz="2400" dirty="0">
                <a:solidFill>
                  <a:srgbClr val="002060"/>
                </a:solidFill>
              </a:rPr>
              <a:t>приводят к принятию </a:t>
            </a:r>
            <a:r>
              <a:rPr lang="ru-RU" sz="2400" b="1" dirty="0">
                <a:solidFill>
                  <a:srgbClr val="002060"/>
                </a:solidFill>
              </a:rPr>
              <a:t>ошибочных решений</a:t>
            </a:r>
            <a:r>
              <a:rPr lang="ru-RU" sz="2400" dirty="0">
                <a:solidFill>
                  <a:srgbClr val="002060"/>
                </a:solidFill>
              </a:rPr>
              <a:t>, срывам сроков и удорожаниям проектов. </a:t>
            </a:r>
            <a:endParaRPr lang="en-US" sz="2400" dirty="0">
              <a:solidFill>
                <a:srgbClr val="002060"/>
              </a:solidFill>
            </a:endParaRPr>
          </a:p>
          <a:p>
            <a:pPr>
              <a:spcBef>
                <a:spcPts val="600"/>
              </a:spcBef>
            </a:pPr>
            <a:r>
              <a:rPr lang="ru-RU" sz="2400" b="1" i="1" dirty="0">
                <a:solidFill>
                  <a:srgbClr val="002060"/>
                </a:solidFill>
              </a:rPr>
              <a:t>Однозначного и окончательного решения</a:t>
            </a:r>
            <a:r>
              <a:rPr lang="ru-RU" sz="2400" i="1" dirty="0">
                <a:solidFill>
                  <a:srgbClr val="002060"/>
                </a:solidFill>
              </a:rPr>
              <a:t>, позволяющего преодолеть потери и искажения информации при устном обмене сведениями, в настоящий момент </a:t>
            </a:r>
            <a:r>
              <a:rPr lang="ru-RU" sz="2400" b="1" i="1" dirty="0">
                <a:solidFill>
                  <a:srgbClr val="002060"/>
                </a:solidFill>
              </a:rPr>
              <a:t>не существует</a:t>
            </a:r>
            <a:r>
              <a:rPr lang="ru-RU" sz="2400" i="1" dirty="0">
                <a:solidFill>
                  <a:srgbClr val="002060"/>
                </a:solidFill>
              </a:rPr>
              <a:t>.</a:t>
            </a:r>
            <a:endParaRPr lang="ru-RU" sz="2400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>
          <a:extLst>
            <a:ext uri="{FF2B5EF4-FFF2-40B4-BE49-F238E27FC236}">
              <a16:creationId xmlns:a16="http://schemas.microsoft.com/office/drawing/2014/main" id="{BDAE2675-3188-1DFD-DA4D-D6A716BA2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">
            <a:extLst>
              <a:ext uri="{FF2B5EF4-FFF2-40B4-BE49-F238E27FC236}">
                <a16:creationId xmlns:a16="http://schemas.microsoft.com/office/drawing/2014/main" id="{781A4346-6613-C833-F8D2-077C5A6934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10" name="Google Shape;210;p4">
            <a:extLst>
              <a:ext uri="{FF2B5EF4-FFF2-40B4-BE49-F238E27FC236}">
                <a16:creationId xmlns:a16="http://schemas.microsoft.com/office/drawing/2014/main" id="{B81D6A01-8688-68D6-31A1-B22910DC382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11" name="Google Shape;211;p4">
            <a:extLst>
              <a:ext uri="{FF2B5EF4-FFF2-40B4-BE49-F238E27FC236}">
                <a16:creationId xmlns:a16="http://schemas.microsoft.com/office/drawing/2014/main" id="{C2DAC7E6-5C51-73AE-594E-1383DB3C304A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>
            <a:extLst>
              <a:ext uri="{FF2B5EF4-FFF2-40B4-BE49-F238E27FC236}">
                <a16:creationId xmlns:a16="http://schemas.microsoft.com/office/drawing/2014/main" id="{CA1FEC74-AF21-5072-E651-F07F98C856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87" y="1162178"/>
            <a:ext cx="10703192" cy="530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/>
          </a:bodyPr>
          <a:lstStyle/>
          <a:p>
            <a:pPr marL="9525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100"/>
              <a:buFont typeface="Arial"/>
              <a:buNone/>
            </a:pPr>
            <a:r>
              <a:rPr lang="ru-RU" sz="3200" b="1" dirty="0">
                <a:solidFill>
                  <a:srgbClr val="102D69"/>
                </a:solidFill>
              </a:rPr>
              <a:t>1.2. Предмет и объект исследования</a:t>
            </a:r>
            <a:endParaRPr dirty="0"/>
          </a:p>
        </p:txBody>
      </p:sp>
      <p:sp>
        <p:nvSpPr>
          <p:cNvPr id="213" name="Google Shape;213;p4">
            <a:extLst>
              <a:ext uri="{FF2B5EF4-FFF2-40B4-BE49-F238E27FC236}">
                <a16:creationId xmlns:a16="http://schemas.microsoft.com/office/drawing/2014/main" id="{F0886496-2DDA-0E5C-749E-F70D3905CB19}"/>
              </a:ext>
            </a:extLst>
          </p:cNvPr>
          <p:cNvSpPr txBox="1"/>
          <p:nvPr/>
        </p:nvSpPr>
        <p:spPr>
          <a:xfrm>
            <a:off x="398796" y="2076301"/>
            <a:ext cx="10851900" cy="4240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25000" lnSpcReduction="20000"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ru-RU" sz="8000" dirty="0">
                <a:solidFill>
                  <a:srgbClr val="002060"/>
                </a:solidFill>
              </a:rPr>
              <a:t>Поскольку в </a:t>
            </a:r>
            <a:r>
              <a:rPr lang="en-US" sz="8000" dirty="0">
                <a:solidFill>
                  <a:srgbClr val="002060"/>
                </a:solidFill>
              </a:rPr>
              <a:t>Agile</a:t>
            </a:r>
            <a:r>
              <a:rPr lang="ru-RU" sz="8000" dirty="0">
                <a:solidFill>
                  <a:srgbClr val="002060"/>
                </a:solidFill>
              </a:rPr>
              <a:t>-подходах отсутствуют предварительно согласованные технические задания разрабатываемого продукта, а требования заказчика скорее носят характер запросов, потребностей или «болей», возникает фокус на </a:t>
            </a:r>
            <a:r>
              <a:rPr lang="ru-RU" sz="8000" b="1" dirty="0">
                <a:solidFill>
                  <a:srgbClr val="002060"/>
                </a:solidFill>
              </a:rPr>
              <a:t>объекте исследования</a:t>
            </a:r>
            <a:r>
              <a:rPr lang="ru-RU" sz="8000" dirty="0">
                <a:solidFill>
                  <a:srgbClr val="002060"/>
                </a:solidFill>
              </a:rPr>
              <a:t>, которым являются </a:t>
            </a:r>
            <a:r>
              <a:rPr lang="ru-RU" sz="8000" b="1" dirty="0">
                <a:solidFill>
                  <a:srgbClr val="002060"/>
                </a:solidFill>
              </a:rPr>
              <a:t>подходы к управлению требованиями при гибкой разработке программного обеспечения (ПО).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ru-RU" sz="8000" dirty="0">
                <a:solidFill>
                  <a:srgbClr val="002060"/>
                </a:solidFill>
              </a:rPr>
              <a:t>Теория нечетких множеств предлагает новый подход к человеческому знанию, сочетая в себе </a:t>
            </a:r>
            <a:r>
              <a:rPr lang="ru-RU" sz="8000" b="1" dirty="0">
                <a:solidFill>
                  <a:srgbClr val="002060"/>
                </a:solidFill>
              </a:rPr>
              <a:t>конкретику математических вычислений </a:t>
            </a:r>
            <a:r>
              <a:rPr lang="ru-RU" sz="8000" dirty="0">
                <a:solidFill>
                  <a:srgbClr val="002060"/>
                </a:solidFill>
              </a:rPr>
              <a:t>с </a:t>
            </a:r>
            <a:r>
              <a:rPr lang="ru-RU" sz="8000" b="1" dirty="0">
                <a:solidFill>
                  <a:srgbClr val="002060"/>
                </a:solidFill>
              </a:rPr>
              <a:t>гибкостью суждений</a:t>
            </a:r>
            <a:r>
              <a:rPr lang="ru-RU" sz="8000" dirty="0">
                <a:solidFill>
                  <a:srgbClr val="002060"/>
                </a:solidFill>
              </a:rPr>
              <a:t>, позволяющую формировать дополнительное </a:t>
            </a:r>
            <a:r>
              <a:rPr lang="ru-RU" sz="8000" b="1" dirty="0">
                <a:solidFill>
                  <a:srgbClr val="002060"/>
                </a:solidFill>
              </a:rPr>
              <a:t>информационное приращение («информационную гранулу»)</a:t>
            </a:r>
            <a:r>
              <a:rPr lang="ru-RU" sz="8000" dirty="0">
                <a:solidFill>
                  <a:srgbClr val="002060"/>
                </a:solidFill>
              </a:rPr>
              <a:t> за счет включения в модель принятия решений не только четкой уверенности, но и сомнений</a:t>
            </a:r>
            <a:r>
              <a:rPr lang="en-US" sz="8000" dirty="0">
                <a:solidFill>
                  <a:srgbClr val="002060"/>
                </a:solidFill>
              </a:rPr>
              <a:t>. </a:t>
            </a:r>
            <a:r>
              <a:rPr lang="ru-RU" sz="8000" dirty="0">
                <a:solidFill>
                  <a:srgbClr val="002060"/>
                </a:solidFill>
              </a:rPr>
              <a:t>Исходя из этого, </a:t>
            </a:r>
            <a:r>
              <a:rPr lang="ru-RU" sz="8000" b="1" dirty="0">
                <a:solidFill>
                  <a:srgbClr val="002060"/>
                </a:solidFill>
              </a:rPr>
              <a:t>теория нечетких множеств </a:t>
            </a:r>
            <a:r>
              <a:rPr lang="ru-RU" sz="8000" dirty="0">
                <a:solidFill>
                  <a:srgbClr val="002060"/>
                </a:solidFill>
              </a:rPr>
              <a:t>и ее математический аппарат, выбраны в качестве </a:t>
            </a:r>
            <a:r>
              <a:rPr lang="ru-RU" sz="8000" b="1" dirty="0">
                <a:solidFill>
                  <a:srgbClr val="002060"/>
                </a:solidFill>
              </a:rPr>
              <a:t>предмета исследования</a:t>
            </a:r>
            <a:r>
              <a:rPr lang="ru-RU" sz="8000" dirty="0">
                <a:solidFill>
                  <a:srgbClr val="002060"/>
                </a:solidFill>
              </a:rPr>
              <a:t> в данной работе.</a:t>
            </a:r>
          </a:p>
          <a:p>
            <a:endParaRPr lang="ru-RU" dirty="0"/>
          </a:p>
          <a:p>
            <a:pPr marL="74772">
              <a:lnSpc>
                <a:spcPct val="105000"/>
              </a:lnSpc>
              <a:buClr>
                <a:srgbClr val="1F3864"/>
              </a:buClr>
              <a:buSzPct val="100000"/>
            </a:pPr>
            <a:endParaRPr lang="ru-RU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9668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>
          <a:extLst>
            <a:ext uri="{FF2B5EF4-FFF2-40B4-BE49-F238E27FC236}">
              <a16:creationId xmlns:a16="http://schemas.microsoft.com/office/drawing/2014/main" id="{20E5233D-AE2B-EC45-20D1-730400FF6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">
            <a:extLst>
              <a:ext uri="{FF2B5EF4-FFF2-40B4-BE49-F238E27FC236}">
                <a16:creationId xmlns:a16="http://schemas.microsoft.com/office/drawing/2014/main" id="{F09B1AB2-19CB-8183-B50B-0074CD02FA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10" name="Google Shape;210;p4">
            <a:extLst>
              <a:ext uri="{FF2B5EF4-FFF2-40B4-BE49-F238E27FC236}">
                <a16:creationId xmlns:a16="http://schemas.microsoft.com/office/drawing/2014/main" id="{504A6692-1549-989C-ECB4-3D696D9E6390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11" name="Google Shape;211;p4">
            <a:extLst>
              <a:ext uri="{FF2B5EF4-FFF2-40B4-BE49-F238E27FC236}">
                <a16:creationId xmlns:a16="http://schemas.microsoft.com/office/drawing/2014/main" id="{18A49470-6F81-0C48-5BE5-76C4941E7161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>
            <a:extLst>
              <a:ext uri="{FF2B5EF4-FFF2-40B4-BE49-F238E27FC236}">
                <a16:creationId xmlns:a16="http://schemas.microsoft.com/office/drawing/2014/main" id="{F08D56C5-7D50-E697-A7D9-222B5E99AA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87" y="1162178"/>
            <a:ext cx="10703192" cy="530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/>
          </a:bodyPr>
          <a:lstStyle/>
          <a:p>
            <a:pPr marL="9525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100"/>
              <a:buFont typeface="Arial"/>
              <a:buNone/>
            </a:pPr>
            <a:r>
              <a:rPr lang="ru-RU" sz="3200" b="1" dirty="0">
                <a:solidFill>
                  <a:srgbClr val="102D69"/>
                </a:solidFill>
              </a:rPr>
              <a:t>1.3. Постановка задачи</a:t>
            </a:r>
            <a:endParaRPr dirty="0"/>
          </a:p>
        </p:txBody>
      </p:sp>
      <p:sp>
        <p:nvSpPr>
          <p:cNvPr id="213" name="Google Shape;213;p4">
            <a:extLst>
              <a:ext uri="{FF2B5EF4-FFF2-40B4-BE49-F238E27FC236}">
                <a16:creationId xmlns:a16="http://schemas.microsoft.com/office/drawing/2014/main" id="{C4B36C78-EF6B-705E-F02C-BA9958E3FCA0}"/>
              </a:ext>
            </a:extLst>
          </p:cNvPr>
          <p:cNvSpPr txBox="1"/>
          <p:nvPr/>
        </p:nvSpPr>
        <p:spPr>
          <a:xfrm>
            <a:off x="398796" y="1905969"/>
            <a:ext cx="10851900" cy="45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74772">
              <a:lnSpc>
                <a:spcPct val="105000"/>
              </a:lnSpc>
              <a:spcAft>
                <a:spcPts val="600"/>
              </a:spcAft>
              <a:buClr>
                <a:srgbClr val="1F3864"/>
              </a:buClr>
              <a:buSzPct val="100000"/>
            </a:pPr>
            <a:r>
              <a:rPr lang="ru-RU" sz="2000" dirty="0">
                <a:solidFill>
                  <a:srgbClr val="002060"/>
                </a:solidFill>
              </a:rPr>
              <a:t>Теория нечетких множеств обладает </a:t>
            </a:r>
            <a:r>
              <a:rPr lang="ru-RU" sz="2000" b="1" dirty="0">
                <a:solidFill>
                  <a:srgbClr val="002060"/>
                </a:solidFill>
              </a:rPr>
              <a:t>способностью формализовывать информацию в числовом виде</a:t>
            </a:r>
            <a:r>
              <a:rPr lang="ru-RU" sz="2000" dirty="0">
                <a:solidFill>
                  <a:srgbClr val="002060"/>
                </a:solidFill>
              </a:rPr>
              <a:t>, при этом </a:t>
            </a:r>
            <a:r>
              <a:rPr lang="ru-RU" sz="2000" b="1" dirty="0">
                <a:solidFill>
                  <a:srgbClr val="002060"/>
                </a:solidFill>
              </a:rPr>
              <a:t>сокращать потери информации</a:t>
            </a:r>
            <a:r>
              <a:rPr lang="ru-RU" sz="2000" dirty="0">
                <a:solidFill>
                  <a:srgbClr val="002060"/>
                </a:solidFill>
              </a:rPr>
              <a:t>, содержащейся в лингвистических конструкциях. которые обычная, четкая математика обрабатывать не способна. Задачей данной работы будет являться исследование </a:t>
            </a:r>
            <a:r>
              <a:rPr lang="ru-RU" sz="2000" b="1" dirty="0">
                <a:solidFill>
                  <a:srgbClr val="002060"/>
                </a:solidFill>
              </a:rPr>
              <a:t>применения нечетких подходов в управлении требованиями при гибкой разработке ПО</a:t>
            </a:r>
            <a:r>
              <a:rPr lang="ru-RU" sz="2000" dirty="0">
                <a:solidFill>
                  <a:srgbClr val="002060"/>
                </a:solidFill>
              </a:rPr>
              <a:t>, когда информация должна быть формализована и обработана, насколько возможно </a:t>
            </a:r>
            <a:r>
              <a:rPr lang="ru-RU" sz="2000" b="1" dirty="0">
                <a:solidFill>
                  <a:srgbClr val="002060"/>
                </a:solidFill>
              </a:rPr>
              <a:t>точно</a:t>
            </a:r>
            <a:r>
              <a:rPr lang="ru-RU" sz="2000" dirty="0">
                <a:solidFill>
                  <a:srgbClr val="002060"/>
                </a:solidFill>
              </a:rPr>
              <a:t>, при этом сохраняя </a:t>
            </a:r>
            <a:r>
              <a:rPr lang="ru-RU" sz="2000" b="1" dirty="0">
                <a:solidFill>
                  <a:srgbClr val="002060"/>
                </a:solidFill>
              </a:rPr>
              <a:t>гибкость</a:t>
            </a:r>
            <a:r>
              <a:rPr lang="ru-RU" sz="2000" dirty="0">
                <a:solidFill>
                  <a:srgbClr val="002060"/>
                </a:solidFill>
              </a:rPr>
              <a:t> тех формулировок, которые были изначально озвучены стейкхолдерами. </a:t>
            </a:r>
          </a:p>
          <a:p>
            <a:pPr marL="74772">
              <a:lnSpc>
                <a:spcPct val="105000"/>
              </a:lnSpc>
              <a:spcAft>
                <a:spcPts val="600"/>
              </a:spcAft>
              <a:buClr>
                <a:srgbClr val="1F3864"/>
              </a:buClr>
              <a:buSzPct val="100000"/>
            </a:pPr>
            <a:r>
              <a:rPr lang="ru-RU" sz="2000" dirty="0">
                <a:solidFill>
                  <a:srgbClr val="002060"/>
                </a:solidFill>
              </a:rPr>
              <a:t>Сохраняя все преимущества математических вычислений, </a:t>
            </a:r>
            <a:r>
              <a:rPr lang="ru-RU" sz="2000" b="1" dirty="0">
                <a:solidFill>
                  <a:srgbClr val="002060"/>
                </a:solidFill>
              </a:rPr>
              <a:t>результат нечеткого моделирования в наглядном виде может быть сравним с четкой моделью</a:t>
            </a:r>
            <a:r>
              <a:rPr lang="ru-RU" sz="2000" dirty="0">
                <a:solidFill>
                  <a:srgbClr val="002060"/>
                </a:solidFill>
              </a:rPr>
              <a:t>, что позволит сделать </a:t>
            </a:r>
            <a:r>
              <a:rPr lang="ru-RU" sz="2000" b="1" dirty="0">
                <a:solidFill>
                  <a:srgbClr val="002060"/>
                </a:solidFill>
              </a:rPr>
              <a:t>выводы о целесообразности применения данного методического подхода</a:t>
            </a:r>
            <a:r>
              <a:rPr lang="ru-RU" sz="2000" dirty="0">
                <a:solidFill>
                  <a:srgbClr val="002060"/>
                </a:solidFill>
              </a:rPr>
              <a:t> в </a:t>
            </a:r>
            <a:r>
              <a:rPr lang="en-US" sz="2000" dirty="0">
                <a:solidFill>
                  <a:srgbClr val="002060"/>
                </a:solidFill>
              </a:rPr>
              <a:t>Agile</a:t>
            </a:r>
            <a:r>
              <a:rPr lang="ru-RU" sz="2000" dirty="0">
                <a:solidFill>
                  <a:srgbClr val="002060"/>
                </a:solidFill>
              </a:rPr>
              <a:t>-методологиях и дальнейших исследованиях по данной теме.</a:t>
            </a:r>
          </a:p>
          <a:p>
            <a:pPr marL="74772">
              <a:lnSpc>
                <a:spcPct val="105000"/>
              </a:lnSpc>
              <a:buClr>
                <a:srgbClr val="1F3864"/>
              </a:buClr>
              <a:buSzPct val="100000"/>
            </a:pPr>
            <a:endParaRPr lang="ru-RU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3256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DEAF6"/>
        </a:solidFill>
        <a:effectLst/>
      </p:bgPr>
    </p:bg>
    <p:spTree>
      <p:nvGrpSpPr>
        <p:cNvPr id="1" name="Shape 200">
          <a:extLst>
            <a:ext uri="{FF2B5EF4-FFF2-40B4-BE49-F238E27FC236}">
              <a16:creationId xmlns:a16="http://schemas.microsoft.com/office/drawing/2014/main" id="{B8C49A36-41F8-860F-D6B6-F03653958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">
            <a:extLst>
              <a:ext uri="{FF2B5EF4-FFF2-40B4-BE49-F238E27FC236}">
                <a16:creationId xmlns:a16="http://schemas.microsoft.com/office/drawing/2014/main" id="{C331D1C8-99C6-C084-8EA0-5689687BFC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02" name="Google Shape;202;p3">
            <a:extLst>
              <a:ext uri="{FF2B5EF4-FFF2-40B4-BE49-F238E27FC236}">
                <a16:creationId xmlns:a16="http://schemas.microsoft.com/office/drawing/2014/main" id="{67B16452-54A1-00F4-BDDE-9A7A5E603EA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03" name="Google Shape;203;p3">
            <a:extLst>
              <a:ext uri="{FF2B5EF4-FFF2-40B4-BE49-F238E27FC236}">
                <a16:creationId xmlns:a16="http://schemas.microsoft.com/office/drawing/2014/main" id="{7FFC47CB-AA24-BB92-4B8A-D775A9D0FC29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 dirty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 dirty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96;p2">
            <a:extLst>
              <a:ext uri="{FF2B5EF4-FFF2-40B4-BE49-F238E27FC236}">
                <a16:creationId xmlns:a16="http://schemas.microsoft.com/office/drawing/2014/main" id="{58A41CF1-E856-ADBF-3876-2AE1763BBAA3}"/>
              </a:ext>
            </a:extLst>
          </p:cNvPr>
          <p:cNvSpPr txBox="1"/>
          <p:nvPr/>
        </p:nvSpPr>
        <p:spPr>
          <a:xfrm>
            <a:off x="183112" y="1434662"/>
            <a:ext cx="11825775" cy="5055855"/>
          </a:xfrm>
          <a:prstGeom prst="rect">
            <a:avLst/>
          </a:prstGeom>
          <a:solidFill>
            <a:srgbClr val="DDEAF6">
              <a:alpha val="0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1. Описание предметной области, актуальность, постановка задачи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600" b="1" dirty="0">
                <a:solidFill>
                  <a:srgbClr val="102D69"/>
                </a:solidFill>
              </a:rPr>
              <a:t>2. Ключевые слова</a:t>
            </a:r>
            <a:endParaRPr sz="2600" b="1" dirty="0">
              <a:solidFill>
                <a:srgbClr val="102D69"/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3. Цель работы, исследовательские вопросы</a:t>
            </a:r>
            <a:endParaRPr sz="2400" dirty="0">
              <a:solidFill>
                <a:srgbClr val="102D69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4. Задачи работы</a:t>
            </a:r>
            <a:endParaRPr sz="2400" dirty="0">
              <a:solidFill>
                <a:srgbClr val="000000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5. Ожидаемые результаты</a:t>
            </a:r>
            <a:endParaRPr sz="2400" dirty="0">
              <a:solidFill>
                <a:srgbClr val="000000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6. Применяемые методы (подходы)</a:t>
            </a:r>
            <a:endParaRPr sz="2400" dirty="0">
              <a:solidFill>
                <a:srgbClr val="000000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7. Используемые инструменты (технологии)</a:t>
            </a: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8. Дополнение</a:t>
            </a:r>
            <a:endParaRPr sz="2400" dirty="0">
              <a:solidFill>
                <a:srgbClr val="102D69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9. Список источников</a:t>
            </a:r>
            <a:endParaRPr sz="2400" dirty="0">
              <a:solidFill>
                <a:srgbClr val="1F3864">
                  <a:alpha val="57000"/>
                </a:srgb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36746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>
          <a:extLst>
            <a:ext uri="{FF2B5EF4-FFF2-40B4-BE49-F238E27FC236}">
              <a16:creationId xmlns:a16="http://schemas.microsoft.com/office/drawing/2014/main" id="{CF172071-4137-E274-C319-C2C84830A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">
            <a:extLst>
              <a:ext uri="{FF2B5EF4-FFF2-40B4-BE49-F238E27FC236}">
                <a16:creationId xmlns:a16="http://schemas.microsoft.com/office/drawing/2014/main" id="{5D8A3C14-FBE1-54F3-5C7B-5425E78A69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10" name="Google Shape;210;p4">
            <a:extLst>
              <a:ext uri="{FF2B5EF4-FFF2-40B4-BE49-F238E27FC236}">
                <a16:creationId xmlns:a16="http://schemas.microsoft.com/office/drawing/2014/main" id="{5D333400-6601-C951-3970-20728DA2AE4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11" name="Google Shape;211;p4">
            <a:extLst>
              <a:ext uri="{FF2B5EF4-FFF2-40B4-BE49-F238E27FC236}">
                <a16:creationId xmlns:a16="http://schemas.microsoft.com/office/drawing/2014/main" id="{10E4B763-D5EF-02FB-A394-5EDC9CECF83A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>
            <a:extLst>
              <a:ext uri="{FF2B5EF4-FFF2-40B4-BE49-F238E27FC236}">
                <a16:creationId xmlns:a16="http://schemas.microsoft.com/office/drawing/2014/main" id="{B4B8352D-8180-EE85-0231-E918F806CC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87" y="1162178"/>
            <a:ext cx="10703192" cy="530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/>
          </a:bodyPr>
          <a:lstStyle/>
          <a:p>
            <a:pPr marL="9525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100"/>
              <a:buFont typeface="Arial"/>
              <a:buNone/>
            </a:pPr>
            <a:r>
              <a:rPr lang="ru-RU" sz="3200" b="1" dirty="0">
                <a:solidFill>
                  <a:srgbClr val="102D69"/>
                </a:solidFill>
              </a:rPr>
              <a:t>2. Ключевые слова</a:t>
            </a:r>
            <a:endParaRPr dirty="0"/>
          </a:p>
        </p:txBody>
      </p:sp>
      <p:sp>
        <p:nvSpPr>
          <p:cNvPr id="213" name="Google Shape;213;p4">
            <a:extLst>
              <a:ext uri="{FF2B5EF4-FFF2-40B4-BE49-F238E27FC236}">
                <a16:creationId xmlns:a16="http://schemas.microsoft.com/office/drawing/2014/main" id="{6C485F59-6341-585B-6817-4BD52C5ED506}"/>
              </a:ext>
            </a:extLst>
          </p:cNvPr>
          <p:cNvSpPr txBox="1"/>
          <p:nvPr/>
        </p:nvSpPr>
        <p:spPr>
          <a:xfrm>
            <a:off x="553375" y="1745225"/>
            <a:ext cx="10851900" cy="45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rgbClr val="002060"/>
                </a:solidFill>
              </a:rPr>
              <a:t>гибкая разработка ПО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2060"/>
                </a:solidFill>
              </a:rPr>
              <a:t>Agile</a:t>
            </a:r>
            <a:r>
              <a:rPr lang="ru-RU" sz="2800" dirty="0">
                <a:solidFill>
                  <a:srgbClr val="002060"/>
                </a:solidFill>
              </a:rPr>
              <a:t>-методология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rgbClr val="002060"/>
                </a:solidFill>
              </a:rPr>
              <a:t>сбор требований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rgbClr val="002060"/>
                </a:solidFill>
              </a:rPr>
              <a:t>формализация требований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rgbClr val="002060"/>
                </a:solidFill>
              </a:rPr>
              <a:t>приоритизация требований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rgbClr val="002060"/>
                </a:solidFill>
              </a:rPr>
              <a:t>нечеткие множества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rgbClr val="002060"/>
                </a:solidFill>
              </a:rPr>
              <a:t>нечеткие числа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 err="1">
                <a:solidFill>
                  <a:srgbClr val="002060"/>
                </a:solidFill>
              </a:rPr>
              <a:t>дефаззификация</a:t>
            </a:r>
            <a:r>
              <a:rPr lang="ru-RU" sz="2800" dirty="0">
                <a:solidFill>
                  <a:srgbClr val="002060"/>
                </a:solidFill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rgbClr val="002060"/>
                </a:solidFill>
              </a:rPr>
              <a:t>оценки стейкхолдеров</a:t>
            </a:r>
          </a:p>
          <a:p>
            <a:r>
              <a:rPr lang="ru-RU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3972876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DEAF6"/>
        </a:solidFill>
        <a:effectLst/>
      </p:bgPr>
    </p:bg>
    <p:spTree>
      <p:nvGrpSpPr>
        <p:cNvPr id="1" name="Shape 200">
          <a:extLst>
            <a:ext uri="{FF2B5EF4-FFF2-40B4-BE49-F238E27FC236}">
              <a16:creationId xmlns:a16="http://schemas.microsoft.com/office/drawing/2014/main" id="{9E137046-72BB-AAAD-19C3-993D74068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">
            <a:extLst>
              <a:ext uri="{FF2B5EF4-FFF2-40B4-BE49-F238E27FC236}">
                <a16:creationId xmlns:a16="http://schemas.microsoft.com/office/drawing/2014/main" id="{79FDCBAF-953D-342C-C285-4339FB2477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02" name="Google Shape;202;p3">
            <a:extLst>
              <a:ext uri="{FF2B5EF4-FFF2-40B4-BE49-F238E27FC236}">
                <a16:creationId xmlns:a16="http://schemas.microsoft.com/office/drawing/2014/main" id="{30308348-C169-99FE-CE09-273E85987704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03" name="Google Shape;203;p3">
            <a:extLst>
              <a:ext uri="{FF2B5EF4-FFF2-40B4-BE49-F238E27FC236}">
                <a16:creationId xmlns:a16="http://schemas.microsoft.com/office/drawing/2014/main" id="{19DF0F02-EF3B-8C00-E647-F4752FA4A269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 dirty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 dirty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96;p2">
            <a:extLst>
              <a:ext uri="{FF2B5EF4-FFF2-40B4-BE49-F238E27FC236}">
                <a16:creationId xmlns:a16="http://schemas.microsoft.com/office/drawing/2014/main" id="{F59A74CA-97EB-5FE5-C3B1-9A5AC63A4242}"/>
              </a:ext>
            </a:extLst>
          </p:cNvPr>
          <p:cNvSpPr txBox="1"/>
          <p:nvPr/>
        </p:nvSpPr>
        <p:spPr>
          <a:xfrm>
            <a:off x="183112" y="1434662"/>
            <a:ext cx="11825775" cy="5055855"/>
          </a:xfrm>
          <a:prstGeom prst="rect">
            <a:avLst/>
          </a:prstGeom>
          <a:solidFill>
            <a:srgbClr val="DDEAF6">
              <a:alpha val="0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1. Описание предметной области, актуальность, постановка задачи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2. Ключевые слова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600" b="1" dirty="0">
                <a:solidFill>
                  <a:srgbClr val="102D69"/>
                </a:solidFill>
              </a:rPr>
              <a:t>3. Цель работы, исследовательские вопросы</a:t>
            </a:r>
            <a:endParaRPr sz="2600" b="1" dirty="0">
              <a:solidFill>
                <a:srgbClr val="102D69"/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4. Задачи работы</a:t>
            </a:r>
            <a:endParaRPr sz="2400" dirty="0">
              <a:solidFill>
                <a:srgbClr val="000000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5. Ожидаемые результаты</a:t>
            </a:r>
            <a:endParaRPr sz="2400" dirty="0">
              <a:solidFill>
                <a:srgbClr val="000000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6. Применяемые методы (подходы)</a:t>
            </a:r>
            <a:endParaRPr sz="2400" dirty="0">
              <a:solidFill>
                <a:srgbClr val="000000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7. Используемые инструменты (технологии)</a:t>
            </a: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8. Дополнение</a:t>
            </a:r>
            <a:endParaRPr sz="2400" dirty="0">
              <a:solidFill>
                <a:srgbClr val="102D69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9. Список источников</a:t>
            </a:r>
            <a:endParaRPr sz="2400" dirty="0">
              <a:solidFill>
                <a:srgbClr val="1F3864">
                  <a:alpha val="57000"/>
                </a:srgb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68325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>
          <a:extLst>
            <a:ext uri="{FF2B5EF4-FFF2-40B4-BE49-F238E27FC236}">
              <a16:creationId xmlns:a16="http://schemas.microsoft.com/office/drawing/2014/main" id="{D7FAC398-30A7-D614-F93F-8DC5E1F1D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">
            <a:extLst>
              <a:ext uri="{FF2B5EF4-FFF2-40B4-BE49-F238E27FC236}">
                <a16:creationId xmlns:a16="http://schemas.microsoft.com/office/drawing/2014/main" id="{2B5BC410-68EC-C773-F824-D31542FAF5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10" name="Google Shape;210;p4">
            <a:extLst>
              <a:ext uri="{FF2B5EF4-FFF2-40B4-BE49-F238E27FC236}">
                <a16:creationId xmlns:a16="http://schemas.microsoft.com/office/drawing/2014/main" id="{39D75DA7-B5F1-9F01-6E40-4B25669B65CF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11" name="Google Shape;211;p4">
            <a:extLst>
              <a:ext uri="{FF2B5EF4-FFF2-40B4-BE49-F238E27FC236}">
                <a16:creationId xmlns:a16="http://schemas.microsoft.com/office/drawing/2014/main" id="{E2E92290-3436-91B9-3EE9-69BB12B78BBF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>
            <a:extLst>
              <a:ext uri="{FF2B5EF4-FFF2-40B4-BE49-F238E27FC236}">
                <a16:creationId xmlns:a16="http://schemas.microsoft.com/office/drawing/2014/main" id="{90BF2F4A-0822-79C6-085D-B2B89617BF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87" y="1162178"/>
            <a:ext cx="10703192" cy="530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/>
          </a:bodyPr>
          <a:lstStyle/>
          <a:p>
            <a:pPr marL="9525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100"/>
              <a:buFont typeface="Arial"/>
              <a:buNone/>
            </a:pPr>
            <a:r>
              <a:rPr lang="ru-RU" sz="3200" b="1" dirty="0">
                <a:solidFill>
                  <a:srgbClr val="102D69"/>
                </a:solidFill>
              </a:rPr>
              <a:t>3.1. Цель работы</a:t>
            </a:r>
            <a:endParaRPr dirty="0"/>
          </a:p>
        </p:txBody>
      </p:sp>
      <p:sp>
        <p:nvSpPr>
          <p:cNvPr id="213" name="Google Shape;213;p4">
            <a:extLst>
              <a:ext uri="{FF2B5EF4-FFF2-40B4-BE49-F238E27FC236}">
                <a16:creationId xmlns:a16="http://schemas.microsoft.com/office/drawing/2014/main" id="{838A5A19-370C-B11D-77F1-E01FDA23BEF7}"/>
              </a:ext>
            </a:extLst>
          </p:cNvPr>
          <p:cNvSpPr txBox="1"/>
          <p:nvPr/>
        </p:nvSpPr>
        <p:spPr>
          <a:xfrm>
            <a:off x="553387" y="1893824"/>
            <a:ext cx="10851900" cy="4423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74772">
              <a:lnSpc>
                <a:spcPct val="115000"/>
              </a:lnSpc>
              <a:buClr>
                <a:srgbClr val="1F3864"/>
              </a:buClr>
              <a:buSzPct val="100000"/>
            </a:pPr>
            <a:r>
              <a:rPr lang="ru-RU" sz="2800" dirty="0">
                <a:solidFill>
                  <a:srgbClr val="002060"/>
                </a:solidFill>
              </a:rPr>
              <a:t>Целью данной работы является исследование возможности и способов применения </a:t>
            </a:r>
            <a:r>
              <a:rPr lang="ru-RU" sz="2800" b="1" dirty="0">
                <a:solidFill>
                  <a:srgbClr val="002060"/>
                </a:solidFill>
              </a:rPr>
              <a:t>аппарата нечеткой логики </a:t>
            </a:r>
            <a:r>
              <a:rPr lang="ru-RU" sz="2800" dirty="0">
                <a:solidFill>
                  <a:srgbClr val="002060"/>
                </a:solidFill>
              </a:rPr>
              <a:t>к процессу </a:t>
            </a:r>
            <a:r>
              <a:rPr lang="ru-RU" sz="2800" b="1" dirty="0">
                <a:solidFill>
                  <a:srgbClr val="002060"/>
                </a:solidFill>
              </a:rPr>
              <a:t>управления требованиями при гибкой разработке ПО</a:t>
            </a:r>
          </a:p>
          <a:p>
            <a:pPr marL="74772">
              <a:lnSpc>
                <a:spcPct val="115000"/>
              </a:lnSpc>
              <a:buClr>
                <a:srgbClr val="1F3864"/>
              </a:buClr>
              <a:buSzPct val="100000"/>
            </a:pPr>
            <a:endParaRPr lang="ru-RU" sz="2800" dirty="0">
              <a:solidFill>
                <a:srgbClr val="FF0000"/>
              </a:solidFill>
            </a:endParaRPr>
          </a:p>
          <a:p>
            <a:pPr marL="74772">
              <a:lnSpc>
                <a:spcPct val="115000"/>
              </a:lnSpc>
              <a:buClr>
                <a:srgbClr val="1F3864"/>
              </a:buClr>
              <a:buSzPct val="100000"/>
            </a:pPr>
            <a:endParaRPr lang="ru-RU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4649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>
          <a:extLst>
            <a:ext uri="{FF2B5EF4-FFF2-40B4-BE49-F238E27FC236}">
              <a16:creationId xmlns:a16="http://schemas.microsoft.com/office/drawing/2014/main" id="{A5108D9A-37E4-8448-E884-128306B4C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">
            <a:extLst>
              <a:ext uri="{FF2B5EF4-FFF2-40B4-BE49-F238E27FC236}">
                <a16:creationId xmlns:a16="http://schemas.microsoft.com/office/drawing/2014/main" id="{85AB66B5-F99E-76A6-8304-C22EC7218F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10" name="Google Shape;210;p4">
            <a:extLst>
              <a:ext uri="{FF2B5EF4-FFF2-40B4-BE49-F238E27FC236}">
                <a16:creationId xmlns:a16="http://schemas.microsoft.com/office/drawing/2014/main" id="{A9C297D7-1C5E-5CF8-5244-5A96A8A75A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11" name="Google Shape;211;p4">
            <a:extLst>
              <a:ext uri="{FF2B5EF4-FFF2-40B4-BE49-F238E27FC236}">
                <a16:creationId xmlns:a16="http://schemas.microsoft.com/office/drawing/2014/main" id="{0563F39B-B6E1-0946-F84D-544B2CA84197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>
            <a:extLst>
              <a:ext uri="{FF2B5EF4-FFF2-40B4-BE49-F238E27FC236}">
                <a16:creationId xmlns:a16="http://schemas.microsoft.com/office/drawing/2014/main" id="{3657ABDC-7662-6812-1DE1-782DC2A0F7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87" y="1162178"/>
            <a:ext cx="10703192" cy="530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/>
          </a:bodyPr>
          <a:lstStyle/>
          <a:p>
            <a:pPr marL="9525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100"/>
              <a:buFont typeface="Arial"/>
              <a:buNone/>
            </a:pPr>
            <a:r>
              <a:rPr lang="ru-RU" sz="3200" b="1" dirty="0">
                <a:solidFill>
                  <a:srgbClr val="102D69"/>
                </a:solidFill>
              </a:rPr>
              <a:t>3.2. Исследовательские вопросы</a:t>
            </a:r>
            <a:endParaRPr dirty="0"/>
          </a:p>
        </p:txBody>
      </p:sp>
      <p:sp>
        <p:nvSpPr>
          <p:cNvPr id="213" name="Google Shape;213;p4">
            <a:extLst>
              <a:ext uri="{FF2B5EF4-FFF2-40B4-BE49-F238E27FC236}">
                <a16:creationId xmlns:a16="http://schemas.microsoft.com/office/drawing/2014/main" id="{436B77D0-00C7-D91D-6D01-E47D6DEF5CD4}"/>
              </a:ext>
            </a:extLst>
          </p:cNvPr>
          <p:cNvSpPr txBox="1"/>
          <p:nvPr/>
        </p:nvSpPr>
        <p:spPr>
          <a:xfrm>
            <a:off x="553375" y="1745225"/>
            <a:ext cx="10851900" cy="45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>
              <a:spcBef>
                <a:spcPts val="12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2400" dirty="0">
                <a:solidFill>
                  <a:srgbClr val="002060"/>
                </a:solidFill>
              </a:rPr>
              <a:t>В чем </a:t>
            </a:r>
            <a:r>
              <a:rPr lang="ru-RU" sz="2400" b="1" dirty="0">
                <a:solidFill>
                  <a:srgbClr val="002060"/>
                </a:solidFill>
              </a:rPr>
              <a:t>специфика и сложность работы с требованиями</a:t>
            </a:r>
            <a:r>
              <a:rPr lang="ru-RU" sz="2400" dirty="0">
                <a:solidFill>
                  <a:srgbClr val="002060"/>
                </a:solidFill>
              </a:rPr>
              <a:t> в гибкой разработке программного обеспечения по сравнению с традиционной?</a:t>
            </a:r>
          </a:p>
          <a:p>
            <a:pPr marL="457200" lvl="0" indent="-457200">
              <a:spcBef>
                <a:spcPts val="12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2400" dirty="0">
                <a:solidFill>
                  <a:srgbClr val="002060"/>
                </a:solidFill>
              </a:rPr>
              <a:t>Какие </a:t>
            </a:r>
            <a:r>
              <a:rPr lang="ru-RU" sz="2400" b="1" dirty="0">
                <a:solidFill>
                  <a:srgbClr val="002060"/>
                </a:solidFill>
              </a:rPr>
              <a:t>области управления требованиями</a:t>
            </a:r>
            <a:r>
              <a:rPr lang="ru-RU" sz="2400" dirty="0">
                <a:solidFill>
                  <a:srgbClr val="002060"/>
                </a:solidFill>
              </a:rPr>
              <a:t> при разработке ПО можно формализовать с использованием нечеткого подхода без потери гибкости и противоречия принципам </a:t>
            </a:r>
            <a:r>
              <a:rPr lang="en-US" sz="2400" dirty="0">
                <a:solidFill>
                  <a:srgbClr val="002060"/>
                </a:solidFill>
              </a:rPr>
              <a:t>Agile</a:t>
            </a:r>
            <a:r>
              <a:rPr lang="ru-RU" sz="2400" dirty="0">
                <a:solidFill>
                  <a:srgbClr val="002060"/>
                </a:solidFill>
              </a:rPr>
              <a:t>?</a:t>
            </a:r>
          </a:p>
          <a:p>
            <a:pPr marL="457200" lvl="0" indent="-457200">
              <a:spcBef>
                <a:spcPts val="12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2400" b="1" dirty="0">
                <a:solidFill>
                  <a:srgbClr val="002060"/>
                </a:solidFill>
              </a:rPr>
              <a:t>Позволяет ли нечеткое моделирование предоставить больше информации о требованиях при гибкой разработке ПО?</a:t>
            </a:r>
            <a:endParaRPr lang="ru-RU" sz="2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0273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DEAF6"/>
        </a:solidFill>
        <a:effectLst/>
      </p:bgPr>
    </p:bg>
    <p:spTree>
      <p:nvGrpSpPr>
        <p:cNvPr id="1" name="Shape 200">
          <a:extLst>
            <a:ext uri="{FF2B5EF4-FFF2-40B4-BE49-F238E27FC236}">
              <a16:creationId xmlns:a16="http://schemas.microsoft.com/office/drawing/2014/main" id="{015138A0-8957-938A-80FE-46C30D32D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">
            <a:extLst>
              <a:ext uri="{FF2B5EF4-FFF2-40B4-BE49-F238E27FC236}">
                <a16:creationId xmlns:a16="http://schemas.microsoft.com/office/drawing/2014/main" id="{E51C4016-4119-A44D-2454-8D56617D16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02" name="Google Shape;202;p3">
            <a:extLst>
              <a:ext uri="{FF2B5EF4-FFF2-40B4-BE49-F238E27FC236}">
                <a16:creationId xmlns:a16="http://schemas.microsoft.com/office/drawing/2014/main" id="{EBA1086D-54F8-4BAD-3E26-138202BCB57E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03" name="Google Shape;203;p3">
            <a:extLst>
              <a:ext uri="{FF2B5EF4-FFF2-40B4-BE49-F238E27FC236}">
                <a16:creationId xmlns:a16="http://schemas.microsoft.com/office/drawing/2014/main" id="{3ADC6C25-4604-81EB-4D9D-EEBFBF9B31B6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 dirty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 dirty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96;p2">
            <a:extLst>
              <a:ext uri="{FF2B5EF4-FFF2-40B4-BE49-F238E27FC236}">
                <a16:creationId xmlns:a16="http://schemas.microsoft.com/office/drawing/2014/main" id="{BAFEF820-6C94-D309-BC79-C452D8E41216}"/>
              </a:ext>
            </a:extLst>
          </p:cNvPr>
          <p:cNvSpPr txBox="1"/>
          <p:nvPr/>
        </p:nvSpPr>
        <p:spPr>
          <a:xfrm>
            <a:off x="183112" y="1434662"/>
            <a:ext cx="11825775" cy="5055855"/>
          </a:xfrm>
          <a:prstGeom prst="rect">
            <a:avLst/>
          </a:prstGeom>
          <a:solidFill>
            <a:srgbClr val="DDEAF6">
              <a:alpha val="0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1. Описание предметной области, актуальность, постановка задачи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2. Ключевые слова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 lvl="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3. Цель работы, исследовательские вопросы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600" b="1" dirty="0">
                <a:solidFill>
                  <a:srgbClr val="102D69"/>
                </a:solidFill>
              </a:rPr>
              <a:t>4. Задачи работы</a:t>
            </a:r>
            <a:endParaRPr sz="2600" b="1" dirty="0">
              <a:solidFill>
                <a:srgbClr val="102D69"/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5. Ожидаемые результаты</a:t>
            </a:r>
            <a:endParaRPr sz="2400" dirty="0">
              <a:solidFill>
                <a:srgbClr val="000000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6. Применяемые методы (подходы)</a:t>
            </a:r>
            <a:endParaRPr sz="2400" dirty="0">
              <a:solidFill>
                <a:srgbClr val="000000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7. Используемые инструменты (технологии)</a:t>
            </a: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8. Дополнение</a:t>
            </a:r>
            <a:endParaRPr sz="2400" dirty="0">
              <a:solidFill>
                <a:srgbClr val="102D69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9. Список источников</a:t>
            </a:r>
            <a:endParaRPr sz="2400" dirty="0">
              <a:solidFill>
                <a:srgbClr val="1F3864">
                  <a:alpha val="57000"/>
                </a:srgb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843374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>
          <a:extLst>
            <a:ext uri="{FF2B5EF4-FFF2-40B4-BE49-F238E27FC236}">
              <a16:creationId xmlns:a16="http://schemas.microsoft.com/office/drawing/2014/main" id="{41F88A3A-A1C7-AB77-4548-793485750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">
            <a:extLst>
              <a:ext uri="{FF2B5EF4-FFF2-40B4-BE49-F238E27FC236}">
                <a16:creationId xmlns:a16="http://schemas.microsoft.com/office/drawing/2014/main" id="{BBFD6CAC-978B-E890-21EE-9358B06647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10" name="Google Shape;210;p4">
            <a:extLst>
              <a:ext uri="{FF2B5EF4-FFF2-40B4-BE49-F238E27FC236}">
                <a16:creationId xmlns:a16="http://schemas.microsoft.com/office/drawing/2014/main" id="{A88F52FF-1EFC-40C0-C0A3-4C61070DA36F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11" name="Google Shape;211;p4">
            <a:extLst>
              <a:ext uri="{FF2B5EF4-FFF2-40B4-BE49-F238E27FC236}">
                <a16:creationId xmlns:a16="http://schemas.microsoft.com/office/drawing/2014/main" id="{2C5F555D-2D1C-C4E1-6BFB-777A96C642F2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>
            <a:extLst>
              <a:ext uri="{FF2B5EF4-FFF2-40B4-BE49-F238E27FC236}">
                <a16:creationId xmlns:a16="http://schemas.microsoft.com/office/drawing/2014/main" id="{A7F65F87-79FE-A05C-EF44-03A7E9CE30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87" y="1162178"/>
            <a:ext cx="10703192" cy="530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/>
          </a:bodyPr>
          <a:lstStyle/>
          <a:p>
            <a:pPr marL="9525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100"/>
              <a:buFont typeface="Arial"/>
              <a:buNone/>
            </a:pPr>
            <a:r>
              <a:rPr lang="ru-RU" sz="3200" b="1" dirty="0">
                <a:solidFill>
                  <a:srgbClr val="102D69"/>
                </a:solidFill>
              </a:rPr>
              <a:t>4. Задачи работы</a:t>
            </a:r>
            <a:endParaRPr dirty="0"/>
          </a:p>
        </p:txBody>
      </p:sp>
      <p:sp>
        <p:nvSpPr>
          <p:cNvPr id="213" name="Google Shape;213;p4">
            <a:extLst>
              <a:ext uri="{FF2B5EF4-FFF2-40B4-BE49-F238E27FC236}">
                <a16:creationId xmlns:a16="http://schemas.microsoft.com/office/drawing/2014/main" id="{6C4B834B-DD3D-8C63-F1DC-3596C5DBBA2F}"/>
              </a:ext>
            </a:extLst>
          </p:cNvPr>
          <p:cNvSpPr txBox="1"/>
          <p:nvPr/>
        </p:nvSpPr>
        <p:spPr>
          <a:xfrm>
            <a:off x="553375" y="1745225"/>
            <a:ext cx="11019032" cy="45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ru-RU" sz="1600" b="1" dirty="0">
                <a:solidFill>
                  <a:srgbClr val="002060"/>
                </a:solidFill>
              </a:rPr>
              <a:t>1. Изучить статьи и регламентирующие документы</a:t>
            </a:r>
            <a:r>
              <a:rPr lang="ru-RU" sz="1600" dirty="0">
                <a:solidFill>
                  <a:srgbClr val="002060"/>
                </a:solidFill>
              </a:rPr>
              <a:t> по теме исследования. Выполнить сравнительный анализ особенностей и отличий данных подходов к разработке ПО.</a:t>
            </a:r>
          </a:p>
          <a:p>
            <a:pPr lvl="0"/>
            <a:r>
              <a:rPr lang="ru-RU" sz="1600" b="1" dirty="0">
                <a:solidFill>
                  <a:srgbClr val="002060"/>
                </a:solidFill>
              </a:rPr>
              <a:t>2. Рассмотреть этапы управления требованиями</a:t>
            </a:r>
            <a:r>
              <a:rPr lang="ru-RU" sz="1600" dirty="0">
                <a:solidFill>
                  <a:srgbClr val="002060"/>
                </a:solidFill>
              </a:rPr>
              <a:t>. Отметить те, где возможно применение теории нечетких множеств. Объяснить, почему именно на этих этапах планируется использовать нечеткий подход. </a:t>
            </a:r>
          </a:p>
          <a:p>
            <a:pPr lvl="0"/>
            <a:r>
              <a:rPr lang="ru-RU" sz="1600" b="1" dirty="0">
                <a:solidFill>
                  <a:srgbClr val="002060"/>
                </a:solidFill>
              </a:rPr>
              <a:t>3. Описать существующие методы приоритизации требований</a:t>
            </a:r>
            <a:r>
              <a:rPr lang="ru-RU" sz="1600" dirty="0">
                <a:solidFill>
                  <a:srgbClr val="002060"/>
                </a:solidFill>
              </a:rPr>
              <a:t>. Изучить подходы к коллективной приоритизации, когда команда: достигла консенсуса, частично пришла к консенсусу, не пришла к консенсусу. Выбрать метод приоритизации, который будет использован в ходе данного исследования.</a:t>
            </a:r>
          </a:p>
          <a:p>
            <a:pPr lvl="0"/>
            <a:r>
              <a:rPr lang="ru-RU" sz="1600" b="1" dirty="0">
                <a:solidFill>
                  <a:srgbClr val="002060"/>
                </a:solidFill>
              </a:rPr>
              <a:t>4. Представить ключевые аспекты теории нечетких множеств</a:t>
            </a:r>
            <a:r>
              <a:rPr lang="ru-RU" sz="1600" dirty="0">
                <a:solidFill>
                  <a:srgbClr val="002060"/>
                </a:solidFill>
              </a:rPr>
              <a:t>. Отметить виды нечетких множеств и обоснование выбора типов, которые будут использоваться в работе.</a:t>
            </a:r>
          </a:p>
          <a:p>
            <a:pPr lvl="0"/>
            <a:r>
              <a:rPr lang="ru-RU" sz="1600" b="1" dirty="0">
                <a:solidFill>
                  <a:srgbClr val="002060"/>
                </a:solidFill>
              </a:rPr>
              <a:t>5. На этапах управления требований</a:t>
            </a:r>
            <a:r>
              <a:rPr lang="ru-RU" sz="1600" dirty="0">
                <a:solidFill>
                  <a:srgbClr val="002060"/>
                </a:solidFill>
              </a:rPr>
              <a:t>, в которых отмечена целесообразность нечеткого моделирования, </a:t>
            </a:r>
            <a:r>
              <a:rPr lang="ru-RU" sz="1600" b="1" dirty="0">
                <a:solidFill>
                  <a:srgbClr val="002060"/>
                </a:solidFill>
              </a:rPr>
              <a:t>определить</a:t>
            </a:r>
            <a:r>
              <a:rPr lang="ru-RU" sz="1600" dirty="0">
                <a:solidFill>
                  <a:srgbClr val="002060"/>
                </a:solidFill>
              </a:rPr>
              <a:t> </a:t>
            </a:r>
            <a:r>
              <a:rPr lang="ru-RU" sz="1600" b="1" dirty="0">
                <a:solidFill>
                  <a:srgbClr val="002060"/>
                </a:solidFill>
              </a:rPr>
              <a:t>механизм применения нечетких множеств.</a:t>
            </a:r>
            <a:endParaRPr lang="ru-RU" sz="1600" dirty="0">
              <a:solidFill>
                <a:srgbClr val="002060"/>
              </a:solidFill>
            </a:endParaRPr>
          </a:p>
          <a:p>
            <a:pPr marL="269875" lvl="3"/>
            <a:r>
              <a:rPr lang="ru-RU" sz="1600" b="1" dirty="0">
                <a:solidFill>
                  <a:srgbClr val="002060"/>
                </a:solidFill>
              </a:rPr>
              <a:t>5.1. В сборе требований рассмотреть процесс формализации требований</a:t>
            </a:r>
            <a:r>
              <a:rPr lang="ru-RU" sz="1600" dirty="0">
                <a:solidFill>
                  <a:srgbClr val="002060"/>
                </a:solidFill>
              </a:rPr>
              <a:t> для включения в бэклог разработки. </a:t>
            </a:r>
          </a:p>
          <a:p>
            <a:pPr marL="269875" lvl="3"/>
            <a:r>
              <a:rPr lang="ru-RU" sz="1600" b="1" dirty="0">
                <a:solidFill>
                  <a:srgbClr val="002060"/>
                </a:solidFill>
              </a:rPr>
              <a:t>5.2. В процессе приоритизации требований </a:t>
            </a:r>
            <a:r>
              <a:rPr lang="ru-RU" sz="1600" dirty="0">
                <a:solidFill>
                  <a:srgbClr val="002060"/>
                </a:solidFill>
              </a:rPr>
              <a:t>будет рассмотрен нечеткий подход и его сравнение с традиционным (четким) подходом.</a:t>
            </a:r>
          </a:p>
          <a:p>
            <a:pPr lvl="2"/>
            <a:r>
              <a:rPr lang="ru-RU" sz="1600" b="1" dirty="0">
                <a:solidFill>
                  <a:srgbClr val="002060"/>
                </a:solidFill>
              </a:rPr>
              <a:t>6. </a:t>
            </a:r>
            <a:r>
              <a:rPr lang="ru-RU" sz="1600" dirty="0">
                <a:solidFill>
                  <a:srgbClr val="002060"/>
                </a:solidFill>
              </a:rPr>
              <a:t>Сделать </a:t>
            </a:r>
            <a:r>
              <a:rPr lang="ru-RU" sz="1600" b="1" dirty="0">
                <a:solidFill>
                  <a:srgbClr val="002060"/>
                </a:solidFill>
              </a:rPr>
              <a:t>выводы о целесообразности применения</a:t>
            </a:r>
            <a:r>
              <a:rPr lang="ru-RU" sz="1600" dirty="0">
                <a:solidFill>
                  <a:srgbClr val="002060"/>
                </a:solidFill>
              </a:rPr>
              <a:t> теории нечетких множеств к управлению требованиями в </a:t>
            </a:r>
            <a:r>
              <a:rPr lang="en-US" sz="1600" dirty="0">
                <a:solidFill>
                  <a:srgbClr val="002060"/>
                </a:solidFill>
              </a:rPr>
              <a:t>Agile</a:t>
            </a:r>
            <a:r>
              <a:rPr lang="ru-RU" sz="1600" dirty="0">
                <a:solidFill>
                  <a:srgbClr val="002060"/>
                </a:solidFill>
              </a:rPr>
              <a:t>-разработке.</a:t>
            </a:r>
          </a:p>
          <a:p>
            <a:pPr lvl="0"/>
            <a:r>
              <a:rPr lang="ru-RU" sz="1600" b="1" dirty="0">
                <a:solidFill>
                  <a:srgbClr val="002060"/>
                </a:solidFill>
              </a:rPr>
              <a:t>7. </a:t>
            </a:r>
            <a:r>
              <a:rPr lang="ru-RU" sz="1600" dirty="0">
                <a:solidFill>
                  <a:srgbClr val="002060"/>
                </a:solidFill>
              </a:rPr>
              <a:t>Дать </a:t>
            </a:r>
            <a:r>
              <a:rPr lang="ru-RU" sz="1600" b="1" dirty="0">
                <a:solidFill>
                  <a:srgbClr val="002060"/>
                </a:solidFill>
              </a:rPr>
              <a:t>рекомендации и сформулировать вывод</a:t>
            </a:r>
            <a:r>
              <a:rPr lang="ru-RU" sz="1600" dirty="0">
                <a:solidFill>
                  <a:srgbClr val="002060"/>
                </a:solidFill>
              </a:rPr>
              <a:t> о возможных дальнейших направлениях исследований.</a:t>
            </a:r>
          </a:p>
        </p:txBody>
      </p:sp>
    </p:spTree>
    <p:extLst>
      <p:ext uri="{BB962C8B-B14F-4D97-AF65-F5344CB8AC3E}">
        <p14:creationId xmlns:p14="http://schemas.microsoft.com/office/powerpoint/2010/main" val="2091981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DEAF6"/>
        </a:solidFill>
        <a:effectLst/>
      </p:bgPr>
    </p:bg>
    <p:spTree>
      <p:nvGrpSpPr>
        <p:cNvPr id="1" name="Shape 200">
          <a:extLst>
            <a:ext uri="{FF2B5EF4-FFF2-40B4-BE49-F238E27FC236}">
              <a16:creationId xmlns:a16="http://schemas.microsoft.com/office/drawing/2014/main" id="{D050DEFD-0DCB-A79E-432E-3A1B89A7B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">
            <a:extLst>
              <a:ext uri="{FF2B5EF4-FFF2-40B4-BE49-F238E27FC236}">
                <a16:creationId xmlns:a16="http://schemas.microsoft.com/office/drawing/2014/main" id="{F26A9063-DA90-C85D-E9F9-AAD63EFCA2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02" name="Google Shape;202;p3">
            <a:extLst>
              <a:ext uri="{FF2B5EF4-FFF2-40B4-BE49-F238E27FC236}">
                <a16:creationId xmlns:a16="http://schemas.microsoft.com/office/drawing/2014/main" id="{8D9138E2-7A3A-DA9A-890A-40531CC8D59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03" name="Google Shape;203;p3">
            <a:extLst>
              <a:ext uri="{FF2B5EF4-FFF2-40B4-BE49-F238E27FC236}">
                <a16:creationId xmlns:a16="http://schemas.microsoft.com/office/drawing/2014/main" id="{5F9846A0-FBC7-92C4-0CF0-FB8B5412D394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 dirty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 dirty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96;p2">
            <a:extLst>
              <a:ext uri="{FF2B5EF4-FFF2-40B4-BE49-F238E27FC236}">
                <a16:creationId xmlns:a16="http://schemas.microsoft.com/office/drawing/2014/main" id="{07E894B9-085A-C91F-438F-A58D20F65136}"/>
              </a:ext>
            </a:extLst>
          </p:cNvPr>
          <p:cNvSpPr txBox="1"/>
          <p:nvPr/>
        </p:nvSpPr>
        <p:spPr>
          <a:xfrm>
            <a:off x="183112" y="1434662"/>
            <a:ext cx="11825775" cy="5055855"/>
          </a:xfrm>
          <a:prstGeom prst="rect">
            <a:avLst/>
          </a:prstGeom>
          <a:solidFill>
            <a:srgbClr val="DDEAF6">
              <a:alpha val="0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1. Описание предметной области, актуальность, постановка задачи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2. Ключевые слова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 lvl="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3. Цель работы, исследовательские вопросы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4. Задачи работы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 lvl="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600" b="1" dirty="0">
                <a:solidFill>
                  <a:srgbClr val="102D69"/>
                </a:solidFill>
              </a:rPr>
              <a:t>5. Ожидаемые результаты</a:t>
            </a:r>
            <a:endParaRPr sz="2600" b="1" dirty="0">
              <a:solidFill>
                <a:srgbClr val="102D69"/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6. Применяемые методы (подходы)</a:t>
            </a:r>
            <a:endParaRPr sz="2400" dirty="0">
              <a:solidFill>
                <a:srgbClr val="000000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7. Используемые инструменты (технологии)</a:t>
            </a: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8. Дополнение</a:t>
            </a:r>
            <a:endParaRPr sz="2400" dirty="0">
              <a:solidFill>
                <a:srgbClr val="102D69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9. Список источников</a:t>
            </a:r>
            <a:endParaRPr sz="2400" dirty="0">
              <a:solidFill>
                <a:srgbClr val="1F3864">
                  <a:alpha val="57000"/>
                </a:srgb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6175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>
          <a:extLst>
            <a:ext uri="{FF2B5EF4-FFF2-40B4-BE49-F238E27FC236}">
              <a16:creationId xmlns:a16="http://schemas.microsoft.com/office/drawing/2014/main" id="{DDFCA3F3-B343-2090-0818-F3C6C6C3F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">
            <a:extLst>
              <a:ext uri="{FF2B5EF4-FFF2-40B4-BE49-F238E27FC236}">
                <a16:creationId xmlns:a16="http://schemas.microsoft.com/office/drawing/2014/main" id="{C7B94318-D28C-4F3A-FEC7-562AD407AA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10" name="Google Shape;210;p4">
            <a:extLst>
              <a:ext uri="{FF2B5EF4-FFF2-40B4-BE49-F238E27FC236}">
                <a16:creationId xmlns:a16="http://schemas.microsoft.com/office/drawing/2014/main" id="{9C2A4DB8-AA29-56A5-4AE9-4CB4FBFD259A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11" name="Google Shape;211;p4">
            <a:extLst>
              <a:ext uri="{FF2B5EF4-FFF2-40B4-BE49-F238E27FC236}">
                <a16:creationId xmlns:a16="http://schemas.microsoft.com/office/drawing/2014/main" id="{0EE9F64C-3684-915A-319B-469BEBECC871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>
            <a:extLst>
              <a:ext uri="{FF2B5EF4-FFF2-40B4-BE49-F238E27FC236}">
                <a16:creationId xmlns:a16="http://schemas.microsoft.com/office/drawing/2014/main" id="{8CD7BBDF-A7CB-904C-4882-F975E1287F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87" y="1162178"/>
            <a:ext cx="10703192" cy="530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/>
          </a:bodyPr>
          <a:lstStyle/>
          <a:p>
            <a:pPr marL="9525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100"/>
              <a:buFont typeface="Arial"/>
              <a:buNone/>
            </a:pPr>
            <a:r>
              <a:rPr lang="ru-RU" sz="3200" b="1" dirty="0">
                <a:solidFill>
                  <a:srgbClr val="102D69"/>
                </a:solidFill>
              </a:rPr>
              <a:t>5. Ожидаемые результаты</a:t>
            </a:r>
            <a:endParaRPr dirty="0"/>
          </a:p>
        </p:txBody>
      </p:sp>
      <p:sp>
        <p:nvSpPr>
          <p:cNvPr id="213" name="Google Shape;213;p4">
            <a:extLst>
              <a:ext uri="{FF2B5EF4-FFF2-40B4-BE49-F238E27FC236}">
                <a16:creationId xmlns:a16="http://schemas.microsoft.com/office/drawing/2014/main" id="{EEE1F05A-9FE9-7C5E-28F5-BEDF69D3D720}"/>
              </a:ext>
            </a:extLst>
          </p:cNvPr>
          <p:cNvSpPr txBox="1"/>
          <p:nvPr/>
        </p:nvSpPr>
        <p:spPr>
          <a:xfrm>
            <a:off x="553375" y="1745225"/>
            <a:ext cx="10851900" cy="45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>
              <a:buFont typeface="+mj-lt"/>
              <a:buAutoNum type="arabicPeriod"/>
            </a:pPr>
            <a:r>
              <a:rPr lang="ru-RU" sz="1800" dirty="0">
                <a:solidFill>
                  <a:srgbClr val="002060"/>
                </a:solidFill>
              </a:rPr>
              <a:t>Выполнен </a:t>
            </a:r>
            <a:r>
              <a:rPr lang="ru-RU" sz="1800" b="1" dirty="0">
                <a:solidFill>
                  <a:srgbClr val="002060"/>
                </a:solidFill>
              </a:rPr>
              <a:t>сравнительный анализ подходов к управлению требованиями </a:t>
            </a:r>
            <a:r>
              <a:rPr lang="ru-RU" sz="1800" dirty="0">
                <a:solidFill>
                  <a:srgbClr val="002060"/>
                </a:solidFill>
              </a:rPr>
              <a:t>в гибком и традиционном подходе к разработке ПО.</a:t>
            </a:r>
          </a:p>
          <a:p>
            <a:pPr marL="342900" lvl="0" indent="-342900">
              <a:buFont typeface="+mj-lt"/>
              <a:buAutoNum type="arabicPeriod"/>
            </a:pPr>
            <a:r>
              <a:rPr lang="ru-RU" sz="1800" dirty="0">
                <a:solidFill>
                  <a:srgbClr val="002060"/>
                </a:solidFill>
              </a:rPr>
              <a:t>Описаны </a:t>
            </a:r>
            <a:r>
              <a:rPr lang="ru-RU" sz="1800" b="1" dirty="0">
                <a:solidFill>
                  <a:srgbClr val="002060"/>
                </a:solidFill>
              </a:rPr>
              <a:t>этапы гибкого управления требований </a:t>
            </a:r>
            <a:r>
              <a:rPr lang="ru-RU" sz="1800" dirty="0">
                <a:solidFill>
                  <a:srgbClr val="002060"/>
                </a:solidFill>
              </a:rPr>
              <a:t>и даны рекомендации по применением нечеткого подхода к тем разделам, где он целесообразен.</a:t>
            </a:r>
          </a:p>
          <a:p>
            <a:pPr marL="342900" lvl="0" indent="-342900">
              <a:buFont typeface="+mj-lt"/>
              <a:buAutoNum type="arabicPeriod"/>
            </a:pPr>
            <a:r>
              <a:rPr lang="ru-RU" sz="1800" dirty="0">
                <a:solidFill>
                  <a:srgbClr val="002060"/>
                </a:solidFill>
              </a:rPr>
              <a:t>Выполнены </a:t>
            </a:r>
            <a:r>
              <a:rPr lang="ru-RU" sz="1800" b="1" dirty="0">
                <a:solidFill>
                  <a:srgbClr val="002060"/>
                </a:solidFill>
              </a:rPr>
              <a:t>описания методов приоритизации требований </a:t>
            </a:r>
            <a:r>
              <a:rPr lang="ru-RU" sz="1800" dirty="0">
                <a:solidFill>
                  <a:srgbClr val="002060"/>
                </a:solidFill>
              </a:rPr>
              <a:t>при коллективном принятии решений и изложены методические подходы к задаче принятия коллективных решений при отсутствии начального полного консенсуса.</a:t>
            </a:r>
          </a:p>
          <a:p>
            <a:pPr marL="342900" lvl="0" indent="-342900">
              <a:buFont typeface="+mj-lt"/>
              <a:buAutoNum type="arabicPeriod"/>
            </a:pPr>
            <a:r>
              <a:rPr lang="ru-RU" sz="1800" dirty="0">
                <a:solidFill>
                  <a:srgbClr val="002060"/>
                </a:solidFill>
              </a:rPr>
              <a:t>Дана </a:t>
            </a:r>
            <a:r>
              <a:rPr lang="ru-RU" sz="1800" b="1" dirty="0">
                <a:solidFill>
                  <a:srgbClr val="002060"/>
                </a:solidFill>
              </a:rPr>
              <a:t>классификация типов нечетких множеств </a:t>
            </a:r>
            <a:r>
              <a:rPr lang="ru-RU" sz="1800" dirty="0">
                <a:solidFill>
                  <a:srgbClr val="002060"/>
                </a:solidFill>
              </a:rPr>
              <a:t>и выполнено обоснование целесообразности их применения к решению задач данного исследования.</a:t>
            </a:r>
          </a:p>
          <a:p>
            <a:pPr marL="342900" lvl="0" indent="-342900">
              <a:buFont typeface="+mj-lt"/>
              <a:buAutoNum type="arabicPeriod"/>
            </a:pPr>
            <a:r>
              <a:rPr lang="ru-RU" sz="1800" dirty="0">
                <a:solidFill>
                  <a:srgbClr val="002060"/>
                </a:solidFill>
              </a:rPr>
              <a:t>Сформулированы </a:t>
            </a:r>
            <a:r>
              <a:rPr lang="ru-RU" sz="1800" b="1" dirty="0">
                <a:solidFill>
                  <a:srgbClr val="002060"/>
                </a:solidFill>
              </a:rPr>
              <a:t>методологические подходы применения теории нечетких множеств в процессе формализации и приоритизации требований</a:t>
            </a:r>
            <a:r>
              <a:rPr lang="ru-RU" sz="1800" dirty="0">
                <a:solidFill>
                  <a:srgbClr val="002060"/>
                </a:solidFill>
              </a:rPr>
              <a:t> к разрабатываемому ПО.</a:t>
            </a:r>
          </a:p>
          <a:p>
            <a:pPr marL="342900" lvl="0" indent="-342900">
              <a:buFont typeface="+mj-lt"/>
              <a:buAutoNum type="arabicPeriod"/>
            </a:pPr>
            <a:r>
              <a:rPr lang="ru-RU" sz="1800" dirty="0">
                <a:solidFill>
                  <a:srgbClr val="002060"/>
                </a:solidFill>
              </a:rPr>
              <a:t>Выполнено обоснование </a:t>
            </a:r>
            <a:r>
              <a:rPr lang="ru-RU" sz="1800" b="1" dirty="0">
                <a:solidFill>
                  <a:srgbClr val="002060"/>
                </a:solidFill>
              </a:rPr>
              <a:t>целесообразности применение нечеткого подхода в процессе управления требованиями</a:t>
            </a:r>
            <a:r>
              <a:rPr lang="ru-RU" sz="1800" dirty="0">
                <a:solidFill>
                  <a:srgbClr val="002060"/>
                </a:solidFill>
              </a:rPr>
              <a:t> в виде сравнения результатов нечетких вычислений и традиционного, четкого подхода.</a:t>
            </a:r>
          </a:p>
          <a:p>
            <a:pPr marL="342900" lvl="0" indent="-342900">
              <a:buFont typeface="+mj-lt"/>
              <a:buAutoNum type="arabicPeriod"/>
            </a:pPr>
            <a:r>
              <a:rPr lang="ru-RU" sz="1800" dirty="0">
                <a:solidFill>
                  <a:srgbClr val="002060"/>
                </a:solidFill>
              </a:rPr>
              <a:t>Отмечены возможные </a:t>
            </a:r>
            <a:r>
              <a:rPr lang="ru-RU" sz="1800" b="1" dirty="0">
                <a:solidFill>
                  <a:srgbClr val="002060"/>
                </a:solidFill>
              </a:rPr>
              <a:t>дальнейшие направления исследований</a:t>
            </a:r>
            <a:r>
              <a:rPr lang="ru-RU" sz="1800" dirty="0">
                <a:solidFill>
                  <a:srgbClr val="002060"/>
                </a:solidFill>
              </a:rPr>
              <a:t> применения теории нечетких множеств в </a:t>
            </a:r>
            <a:r>
              <a:rPr lang="en-US" sz="1800" dirty="0">
                <a:solidFill>
                  <a:srgbClr val="002060"/>
                </a:solidFill>
              </a:rPr>
              <a:t>Agile</a:t>
            </a:r>
            <a:r>
              <a:rPr lang="ru-RU" sz="1800" dirty="0">
                <a:solidFill>
                  <a:srgbClr val="002060"/>
                </a:solidFill>
              </a:rPr>
              <a:t>-методологиях, инженерии требований и других направлениях.</a:t>
            </a:r>
          </a:p>
        </p:txBody>
      </p:sp>
    </p:spTree>
    <p:extLst>
      <p:ext uri="{BB962C8B-B14F-4D97-AF65-F5344CB8AC3E}">
        <p14:creationId xmlns:p14="http://schemas.microsoft.com/office/powerpoint/2010/main" val="1981734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DEAF6"/>
        </a:solidFill>
        <a:effectLst/>
      </p:bgPr>
    </p:bg>
    <p:spTree>
      <p:nvGrpSpPr>
        <p:cNvPr id="1" name="Shape 200">
          <a:extLst>
            <a:ext uri="{FF2B5EF4-FFF2-40B4-BE49-F238E27FC236}">
              <a16:creationId xmlns:a16="http://schemas.microsoft.com/office/drawing/2014/main" id="{65B007BC-3972-BB9B-1823-E9C07A31B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">
            <a:extLst>
              <a:ext uri="{FF2B5EF4-FFF2-40B4-BE49-F238E27FC236}">
                <a16:creationId xmlns:a16="http://schemas.microsoft.com/office/drawing/2014/main" id="{5B8F1360-2917-8E00-72D7-7A627F83A2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02" name="Google Shape;202;p3">
            <a:extLst>
              <a:ext uri="{FF2B5EF4-FFF2-40B4-BE49-F238E27FC236}">
                <a16:creationId xmlns:a16="http://schemas.microsoft.com/office/drawing/2014/main" id="{9673C9B0-027F-C411-A02C-4C65A2FD1EAF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03" name="Google Shape;203;p3">
            <a:extLst>
              <a:ext uri="{FF2B5EF4-FFF2-40B4-BE49-F238E27FC236}">
                <a16:creationId xmlns:a16="http://schemas.microsoft.com/office/drawing/2014/main" id="{9E1578B6-10DB-1760-7DE1-7AA60A3AF332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 dirty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 dirty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96;p2">
            <a:extLst>
              <a:ext uri="{FF2B5EF4-FFF2-40B4-BE49-F238E27FC236}">
                <a16:creationId xmlns:a16="http://schemas.microsoft.com/office/drawing/2014/main" id="{EC13A764-D3F9-7886-70F4-648132F6185A}"/>
              </a:ext>
            </a:extLst>
          </p:cNvPr>
          <p:cNvSpPr txBox="1"/>
          <p:nvPr/>
        </p:nvSpPr>
        <p:spPr>
          <a:xfrm>
            <a:off x="183112" y="1434662"/>
            <a:ext cx="11825775" cy="5055855"/>
          </a:xfrm>
          <a:prstGeom prst="rect">
            <a:avLst/>
          </a:prstGeom>
          <a:solidFill>
            <a:srgbClr val="DDEAF6">
              <a:alpha val="0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1. Описание предметной области, актуальность, постановка задачи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2. Ключевые слова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 lvl="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3. Цель работы, исследовательские вопросы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4. Задачи работы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 lvl="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5. Ожидаемые результаты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600" b="1" dirty="0">
                <a:solidFill>
                  <a:srgbClr val="102D69"/>
                </a:solidFill>
              </a:rPr>
              <a:t>6. Применяемые методы (подходы)</a:t>
            </a:r>
            <a:endParaRPr sz="2600" b="1" dirty="0">
              <a:solidFill>
                <a:srgbClr val="102D69"/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7. Используемые инструменты (технологии)</a:t>
            </a: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8. Дополнение</a:t>
            </a:r>
            <a:endParaRPr sz="2400" dirty="0">
              <a:solidFill>
                <a:srgbClr val="102D69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9. Список источников</a:t>
            </a:r>
            <a:endParaRPr sz="2400" dirty="0">
              <a:solidFill>
                <a:srgbClr val="1F3864">
                  <a:alpha val="57000"/>
                </a:srgb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534028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>
          <a:extLst>
            <a:ext uri="{FF2B5EF4-FFF2-40B4-BE49-F238E27FC236}">
              <a16:creationId xmlns:a16="http://schemas.microsoft.com/office/drawing/2014/main" id="{1DBAB375-DAD2-E511-D7AE-D0C36B5A7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">
            <a:extLst>
              <a:ext uri="{FF2B5EF4-FFF2-40B4-BE49-F238E27FC236}">
                <a16:creationId xmlns:a16="http://schemas.microsoft.com/office/drawing/2014/main" id="{AFCEF295-D393-EBD6-EE84-0B4D2554B8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10" name="Google Shape;210;p4">
            <a:extLst>
              <a:ext uri="{FF2B5EF4-FFF2-40B4-BE49-F238E27FC236}">
                <a16:creationId xmlns:a16="http://schemas.microsoft.com/office/drawing/2014/main" id="{5C4241C3-0E6F-7645-01AF-8783F0D2A7B0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11" name="Google Shape;211;p4">
            <a:extLst>
              <a:ext uri="{FF2B5EF4-FFF2-40B4-BE49-F238E27FC236}">
                <a16:creationId xmlns:a16="http://schemas.microsoft.com/office/drawing/2014/main" id="{73794F5D-17EF-2C63-959A-6105E904ABD4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>
            <a:extLst>
              <a:ext uri="{FF2B5EF4-FFF2-40B4-BE49-F238E27FC236}">
                <a16:creationId xmlns:a16="http://schemas.microsoft.com/office/drawing/2014/main" id="{FC889D27-FCA2-2C11-E618-3A60E42379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87" y="1162178"/>
            <a:ext cx="10703192" cy="530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/>
          </a:bodyPr>
          <a:lstStyle/>
          <a:p>
            <a:pPr marL="9525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100"/>
              <a:buFont typeface="Arial"/>
              <a:buNone/>
            </a:pPr>
            <a:r>
              <a:rPr lang="ru-RU" sz="3200" b="1" dirty="0">
                <a:solidFill>
                  <a:srgbClr val="102D69"/>
                </a:solidFill>
              </a:rPr>
              <a:t>6. Применяемые методы (подходы)</a:t>
            </a:r>
            <a:endParaRPr dirty="0"/>
          </a:p>
        </p:txBody>
      </p:sp>
      <p:sp>
        <p:nvSpPr>
          <p:cNvPr id="213" name="Google Shape;213;p4">
            <a:extLst>
              <a:ext uri="{FF2B5EF4-FFF2-40B4-BE49-F238E27FC236}">
                <a16:creationId xmlns:a16="http://schemas.microsoft.com/office/drawing/2014/main" id="{AD5AC2C7-0804-8CCF-196C-52C6FD5AF23F}"/>
              </a:ext>
            </a:extLst>
          </p:cNvPr>
          <p:cNvSpPr txBox="1"/>
          <p:nvPr/>
        </p:nvSpPr>
        <p:spPr>
          <a:xfrm>
            <a:off x="553375" y="1745225"/>
            <a:ext cx="10851900" cy="45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2060"/>
                </a:solidFill>
              </a:rPr>
              <a:t>Для выполнения расчетов будет использован аппарат </a:t>
            </a:r>
            <a:r>
              <a:rPr lang="ru-RU" sz="2400" b="1" dirty="0">
                <a:solidFill>
                  <a:srgbClr val="002060"/>
                </a:solidFill>
              </a:rPr>
              <a:t>нечетких множеств</a:t>
            </a:r>
            <a:r>
              <a:rPr lang="ru-RU" sz="2400" dirty="0">
                <a:solidFill>
                  <a:srgbClr val="002060"/>
                </a:solidFill>
              </a:rPr>
              <a:t> (англ. </a:t>
            </a:r>
            <a:r>
              <a:rPr lang="en-US" sz="2400" i="1" dirty="0">
                <a:solidFill>
                  <a:srgbClr val="002060"/>
                </a:solidFill>
              </a:rPr>
              <a:t>Fuzzy Sets</a:t>
            </a:r>
            <a:r>
              <a:rPr lang="ru-RU" sz="2400" dirty="0">
                <a:solidFill>
                  <a:srgbClr val="002060"/>
                </a:solidFill>
              </a:rPr>
              <a:t>, </a:t>
            </a:r>
            <a:r>
              <a:rPr lang="ru-RU" sz="2400" dirty="0" err="1">
                <a:solidFill>
                  <a:srgbClr val="002060"/>
                </a:solidFill>
              </a:rPr>
              <a:t>аббр</a:t>
            </a:r>
            <a:r>
              <a:rPr lang="ru-RU" sz="2400" dirty="0">
                <a:solidFill>
                  <a:srgbClr val="002060"/>
                </a:solidFill>
              </a:rPr>
              <a:t>. </a:t>
            </a:r>
            <a:r>
              <a:rPr lang="en-US" sz="2400" i="1" dirty="0">
                <a:solidFill>
                  <a:srgbClr val="002060"/>
                </a:solidFill>
              </a:rPr>
              <a:t>FS</a:t>
            </a:r>
            <a:r>
              <a:rPr lang="ru-RU" sz="2400" dirty="0">
                <a:solidFill>
                  <a:srgbClr val="002060"/>
                </a:solidFill>
              </a:rPr>
              <a:t>), для </a:t>
            </a:r>
            <a:r>
              <a:rPr lang="ru-RU" sz="2400" dirty="0" err="1">
                <a:solidFill>
                  <a:srgbClr val="002060"/>
                </a:solidFill>
              </a:rPr>
              <a:t>д</a:t>
            </a:r>
            <a:r>
              <a:rPr lang="ru-RU" sz="2400" b="1" dirty="0" err="1">
                <a:solidFill>
                  <a:srgbClr val="002060"/>
                </a:solidFill>
              </a:rPr>
              <a:t>ефаззификации</a:t>
            </a:r>
            <a:r>
              <a:rPr lang="ru-RU" sz="2400" dirty="0">
                <a:solidFill>
                  <a:srgbClr val="002060"/>
                </a:solidFill>
              </a:rPr>
              <a:t> нечетких результатов планируется применение </a:t>
            </a:r>
            <a:r>
              <a:rPr lang="en-US" sz="2400" b="1" dirty="0">
                <a:solidFill>
                  <a:srgbClr val="002060"/>
                </a:solidFill>
              </a:rPr>
              <a:t>α</a:t>
            </a:r>
            <a:r>
              <a:rPr lang="ru-RU" sz="2400" b="1" dirty="0">
                <a:solidFill>
                  <a:srgbClr val="002060"/>
                </a:solidFill>
              </a:rPr>
              <a:t>-срезов</a:t>
            </a:r>
            <a:endParaRPr lang="ru-RU" sz="2400" dirty="0">
              <a:solidFill>
                <a:srgbClr val="002060"/>
              </a:solidFill>
            </a:endParaRPr>
          </a:p>
          <a:p>
            <a:r>
              <a:rPr lang="ru-RU" sz="2400" dirty="0">
                <a:solidFill>
                  <a:srgbClr val="002060"/>
                </a:solidFill>
              </a:rPr>
              <a:t> 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2060"/>
                </a:solidFill>
              </a:rPr>
              <a:t>В качестве метода приоритизации требований будет использован </a:t>
            </a:r>
            <a:r>
              <a:rPr lang="ru-RU" sz="2400" b="1" dirty="0">
                <a:solidFill>
                  <a:srgbClr val="002060"/>
                </a:solidFill>
              </a:rPr>
              <a:t>метод </a:t>
            </a:r>
            <a:r>
              <a:rPr lang="en-US" sz="2400" b="1" dirty="0" err="1">
                <a:solidFill>
                  <a:srgbClr val="002060"/>
                </a:solidFill>
              </a:rPr>
              <a:t>MoSCoW</a:t>
            </a:r>
            <a:r>
              <a:rPr lang="ru-RU" sz="2400" dirty="0">
                <a:solidFill>
                  <a:srgbClr val="002060"/>
                </a:solidFill>
              </a:rPr>
              <a:t>, как достаточно простой и наглядный инструмент, позволяющий оперативно получить искомый результат</a:t>
            </a:r>
          </a:p>
        </p:txBody>
      </p:sp>
    </p:spTree>
    <p:extLst>
      <p:ext uri="{BB962C8B-B14F-4D97-AF65-F5344CB8AC3E}">
        <p14:creationId xmlns:p14="http://schemas.microsoft.com/office/powerpoint/2010/main" val="1765057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DEAF6"/>
        </a:solidFill>
        <a:effectLst/>
      </p:bgPr>
    </p:bg>
    <p:spTree>
      <p:nvGrpSpPr>
        <p:cNvPr id="1" name="Shape 200">
          <a:extLst>
            <a:ext uri="{FF2B5EF4-FFF2-40B4-BE49-F238E27FC236}">
              <a16:creationId xmlns:a16="http://schemas.microsoft.com/office/drawing/2014/main" id="{E512ADFC-4DED-777F-46B8-39075EF4A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">
            <a:extLst>
              <a:ext uri="{FF2B5EF4-FFF2-40B4-BE49-F238E27FC236}">
                <a16:creationId xmlns:a16="http://schemas.microsoft.com/office/drawing/2014/main" id="{0898E575-DF26-E34A-A7F7-7D96A346B2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02" name="Google Shape;202;p3">
            <a:extLst>
              <a:ext uri="{FF2B5EF4-FFF2-40B4-BE49-F238E27FC236}">
                <a16:creationId xmlns:a16="http://schemas.microsoft.com/office/drawing/2014/main" id="{9ECD5C18-EFD0-640D-1E59-ECD5EB6B4DD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03" name="Google Shape;203;p3">
            <a:extLst>
              <a:ext uri="{FF2B5EF4-FFF2-40B4-BE49-F238E27FC236}">
                <a16:creationId xmlns:a16="http://schemas.microsoft.com/office/drawing/2014/main" id="{8ECA4356-2B28-90A3-F180-377D7E7D9209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 dirty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 dirty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96;p2">
            <a:extLst>
              <a:ext uri="{FF2B5EF4-FFF2-40B4-BE49-F238E27FC236}">
                <a16:creationId xmlns:a16="http://schemas.microsoft.com/office/drawing/2014/main" id="{27900E28-56C5-34D4-4686-D8579BBA9129}"/>
              </a:ext>
            </a:extLst>
          </p:cNvPr>
          <p:cNvSpPr txBox="1"/>
          <p:nvPr/>
        </p:nvSpPr>
        <p:spPr>
          <a:xfrm>
            <a:off x="183112" y="1434662"/>
            <a:ext cx="11825775" cy="5055855"/>
          </a:xfrm>
          <a:prstGeom prst="rect">
            <a:avLst/>
          </a:prstGeom>
          <a:solidFill>
            <a:srgbClr val="DDEAF6">
              <a:alpha val="0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1. Описание предметной области, актуальность, постановка задачи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2. Ключевые слова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 lvl="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3. Цель работы, исследовательские вопросы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4. Задачи работы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 lvl="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5. Ожидаемые результаты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6. Применяемые методы (подходы)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 lvl="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600" b="1" dirty="0">
                <a:solidFill>
                  <a:srgbClr val="102D69"/>
                </a:solidFill>
              </a:rPr>
              <a:t>7. Используемые инструменты (технологии)</a:t>
            </a: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8. Дополнение</a:t>
            </a:r>
            <a:endParaRPr sz="2400" dirty="0">
              <a:solidFill>
                <a:srgbClr val="102D69">
                  <a:alpha val="57000"/>
                </a:srgbClr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9. Список источников</a:t>
            </a:r>
            <a:endParaRPr sz="2400" dirty="0">
              <a:solidFill>
                <a:srgbClr val="1F3864">
                  <a:alpha val="57000"/>
                </a:srgb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065649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>
          <a:extLst>
            <a:ext uri="{FF2B5EF4-FFF2-40B4-BE49-F238E27FC236}">
              <a16:creationId xmlns:a16="http://schemas.microsoft.com/office/drawing/2014/main" id="{A3010CB9-7286-722A-BA86-709F2D8BA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">
            <a:extLst>
              <a:ext uri="{FF2B5EF4-FFF2-40B4-BE49-F238E27FC236}">
                <a16:creationId xmlns:a16="http://schemas.microsoft.com/office/drawing/2014/main" id="{067989FC-8F5F-4306-08D0-D0DEE4F38D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10" name="Google Shape;210;p4">
            <a:extLst>
              <a:ext uri="{FF2B5EF4-FFF2-40B4-BE49-F238E27FC236}">
                <a16:creationId xmlns:a16="http://schemas.microsoft.com/office/drawing/2014/main" id="{02F01219-F8AD-7E0E-62CD-53E4B644A29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11" name="Google Shape;211;p4">
            <a:extLst>
              <a:ext uri="{FF2B5EF4-FFF2-40B4-BE49-F238E27FC236}">
                <a16:creationId xmlns:a16="http://schemas.microsoft.com/office/drawing/2014/main" id="{0723B8C6-F956-C7D9-5C8E-12DD97587F65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>
            <a:extLst>
              <a:ext uri="{FF2B5EF4-FFF2-40B4-BE49-F238E27FC236}">
                <a16:creationId xmlns:a16="http://schemas.microsoft.com/office/drawing/2014/main" id="{6DBEC3A8-D8EF-337E-BE81-9CE6527F7D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87" y="1162178"/>
            <a:ext cx="10703192" cy="530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/>
          </a:bodyPr>
          <a:lstStyle/>
          <a:p>
            <a:pPr marL="9525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100"/>
              <a:buFont typeface="Arial"/>
              <a:buNone/>
            </a:pPr>
            <a:r>
              <a:rPr lang="ru-RU" sz="3200" b="1" dirty="0">
                <a:solidFill>
                  <a:srgbClr val="102D69"/>
                </a:solidFill>
              </a:rPr>
              <a:t>7. Используемые инструменты (технологии)</a:t>
            </a:r>
            <a:endParaRPr dirty="0"/>
          </a:p>
        </p:txBody>
      </p:sp>
      <p:sp>
        <p:nvSpPr>
          <p:cNvPr id="213" name="Google Shape;213;p4">
            <a:extLst>
              <a:ext uri="{FF2B5EF4-FFF2-40B4-BE49-F238E27FC236}">
                <a16:creationId xmlns:a16="http://schemas.microsoft.com/office/drawing/2014/main" id="{D7C15FBF-7165-377C-E6F7-F621D9737EBA}"/>
              </a:ext>
            </a:extLst>
          </p:cNvPr>
          <p:cNvSpPr txBox="1"/>
          <p:nvPr/>
        </p:nvSpPr>
        <p:spPr>
          <a:xfrm>
            <a:off x="553375" y="1745225"/>
            <a:ext cx="10851900" cy="45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rgbClr val="002060"/>
                </a:solidFill>
              </a:rPr>
              <a:t>Программная реализация расчетов будет выполнена на языке </a:t>
            </a:r>
            <a:r>
              <a:rPr lang="en-US" sz="2000" b="1" i="1" dirty="0">
                <a:solidFill>
                  <a:srgbClr val="002060"/>
                </a:solidFill>
              </a:rPr>
              <a:t>Python</a:t>
            </a:r>
            <a:r>
              <a:rPr lang="ru-RU" sz="2000" i="1" dirty="0">
                <a:solidFill>
                  <a:srgbClr val="002060"/>
                </a:solidFill>
              </a:rPr>
              <a:t>, </a:t>
            </a:r>
            <a:r>
              <a:rPr lang="ru-RU" sz="2000" dirty="0">
                <a:solidFill>
                  <a:srgbClr val="002060"/>
                </a:solidFill>
              </a:rPr>
              <a:t>что позволит представить расчетный механизм в виде алгоритма, сделать процесс вычисления быстрым и гибким, так как входные параметры могут легко меняться пользователем в зависимости от решаемой задачи. Файл с кодом будет размещен в репозитории на сайте </a:t>
            </a:r>
            <a:r>
              <a:rPr lang="ru-RU" sz="2000" u="sng" dirty="0">
                <a:solidFill>
                  <a:srgbClr val="00206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</a:t>
            </a:r>
            <a:endParaRPr lang="ru-RU" sz="2000" dirty="0">
              <a:solidFill>
                <a:srgbClr val="002060"/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2060"/>
                </a:solidFill>
              </a:rPr>
              <a:t>PERT</a:t>
            </a:r>
            <a:r>
              <a:rPr lang="ru-RU" sz="2000" b="1" dirty="0">
                <a:solidFill>
                  <a:srgbClr val="002060"/>
                </a:solidFill>
              </a:rPr>
              <a:t> диаграмма</a:t>
            </a:r>
            <a:r>
              <a:rPr lang="ru-RU" sz="2000" dirty="0">
                <a:solidFill>
                  <a:srgbClr val="002060"/>
                </a:solidFill>
              </a:rPr>
              <a:t> проекта выполнена в таблице </a:t>
            </a:r>
            <a:r>
              <a:rPr lang="en-US" sz="2000" dirty="0">
                <a:solidFill>
                  <a:srgbClr val="002060"/>
                </a:solidFill>
              </a:rPr>
              <a:t>Excel</a:t>
            </a:r>
            <a:r>
              <a:rPr lang="ru-RU" sz="2000" dirty="0">
                <a:solidFill>
                  <a:srgbClr val="002060"/>
                </a:solidFill>
              </a:rPr>
              <a:t>, что позволяет оперативно корректировать план работы над исследованием.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2060"/>
                </a:solidFill>
              </a:rPr>
              <a:t>Для построения </a:t>
            </a:r>
            <a:r>
              <a:rPr lang="ru-RU" sz="2000" b="1" dirty="0">
                <a:solidFill>
                  <a:srgbClr val="002060"/>
                </a:solidFill>
              </a:rPr>
              <a:t>ментальной карты (англ. </a:t>
            </a:r>
            <a:r>
              <a:rPr lang="en-US" sz="2000" b="1" dirty="0">
                <a:solidFill>
                  <a:srgbClr val="002060"/>
                </a:solidFill>
              </a:rPr>
              <a:t>Mind Map</a:t>
            </a:r>
            <a:r>
              <a:rPr lang="ru-RU" sz="2000" b="1" dirty="0">
                <a:solidFill>
                  <a:srgbClr val="002060"/>
                </a:solidFill>
              </a:rPr>
              <a:t>) </a:t>
            </a:r>
            <a:r>
              <a:rPr lang="ru-RU" sz="2000" dirty="0">
                <a:solidFill>
                  <a:srgbClr val="002060"/>
                </a:solidFill>
              </a:rPr>
              <a:t>плана задач, которые необходимо решить для достижения цели работы, выбран Сервис </a:t>
            </a:r>
            <a:r>
              <a:rPr lang="en-US" sz="2000" b="1" dirty="0" err="1">
                <a:solidFill>
                  <a:srgbClr val="002060"/>
                </a:solidFill>
              </a:rPr>
              <a:t>IOctopus</a:t>
            </a:r>
            <a:r>
              <a:rPr lang="en-US" sz="2000" b="1" dirty="0">
                <a:solidFill>
                  <a:srgbClr val="002060"/>
                </a:solidFill>
              </a:rPr>
              <a:t> </a:t>
            </a:r>
            <a:r>
              <a:rPr lang="ru-RU" sz="2000" dirty="0">
                <a:solidFill>
                  <a:srgbClr val="002060"/>
                </a:solidFill>
              </a:rPr>
              <a:t>(</a:t>
            </a:r>
            <a:r>
              <a:rPr lang="en-US" sz="2000" dirty="0">
                <a:solidFill>
                  <a:srgbClr val="00206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ru-RU" sz="2000" dirty="0">
                <a:solidFill>
                  <a:srgbClr val="00206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</a:t>
            </a:r>
            <a:r>
              <a:rPr lang="en-US" sz="2000" dirty="0">
                <a:solidFill>
                  <a:srgbClr val="00206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mind</a:t>
            </a:r>
            <a:r>
              <a:rPr lang="ru-RU" sz="2000" dirty="0">
                <a:solidFill>
                  <a:srgbClr val="00206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</a:t>
            </a:r>
            <a:r>
              <a:rPr lang="en-US" sz="2000" dirty="0">
                <a:solidFill>
                  <a:srgbClr val="00206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map</a:t>
            </a:r>
            <a:r>
              <a:rPr lang="ru-RU" sz="2000" dirty="0">
                <a:solidFill>
                  <a:srgbClr val="00206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</a:t>
            </a:r>
            <a:r>
              <a:rPr lang="en-US" sz="2000" dirty="0">
                <a:solidFill>
                  <a:srgbClr val="00206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online</a:t>
            </a:r>
            <a:r>
              <a:rPr lang="ru-RU" sz="2000" dirty="0">
                <a:solidFill>
                  <a:srgbClr val="00206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r>
              <a:rPr lang="en-US" sz="2000" dirty="0" err="1">
                <a:solidFill>
                  <a:srgbClr val="00206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</a:t>
            </a:r>
            <a:r>
              <a:rPr lang="ru-RU" sz="2000" dirty="0">
                <a:solidFill>
                  <a:srgbClr val="002060"/>
                </a:solidFill>
              </a:rPr>
              <a:t>). 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2060"/>
                </a:solidFill>
              </a:rPr>
              <a:t>Для построения </a:t>
            </a:r>
            <a:r>
              <a:rPr lang="ru-RU" sz="2000" b="1" dirty="0">
                <a:solidFill>
                  <a:srgbClr val="002060"/>
                </a:solidFill>
              </a:rPr>
              <a:t>«дерева источников» </a:t>
            </a:r>
            <a:r>
              <a:rPr lang="ru-RU" sz="2000" dirty="0">
                <a:solidFill>
                  <a:srgbClr val="002060"/>
                </a:solidFill>
              </a:rPr>
              <a:t>использованы электронные таблицы </a:t>
            </a:r>
            <a:r>
              <a:rPr lang="en-US" sz="2000" dirty="0">
                <a:solidFill>
                  <a:srgbClr val="002060"/>
                </a:solidFill>
              </a:rPr>
              <a:t>Excel</a:t>
            </a:r>
            <a:r>
              <a:rPr lang="ru-RU" sz="2000" dirty="0">
                <a:solidFill>
                  <a:srgbClr val="002060"/>
                </a:solidFill>
              </a:rPr>
              <a:t> – инструмент, позволяющий просто и наглядно проиллюстрировать работу с используемой литературой. Также для анализа исследований по теме работы будет использован индекс цитируемости источников.</a:t>
            </a:r>
          </a:p>
        </p:txBody>
      </p:sp>
    </p:spTree>
    <p:extLst>
      <p:ext uri="{BB962C8B-B14F-4D97-AF65-F5344CB8AC3E}">
        <p14:creationId xmlns:p14="http://schemas.microsoft.com/office/powerpoint/2010/main" val="28562298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DEAF6"/>
        </a:solidFill>
        <a:effectLst/>
      </p:bgPr>
    </p:bg>
    <p:spTree>
      <p:nvGrpSpPr>
        <p:cNvPr id="1" name="Shape 200">
          <a:extLst>
            <a:ext uri="{FF2B5EF4-FFF2-40B4-BE49-F238E27FC236}">
              <a16:creationId xmlns:a16="http://schemas.microsoft.com/office/drawing/2014/main" id="{6E75DB25-6A95-ECB9-0D7D-C914ED517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">
            <a:extLst>
              <a:ext uri="{FF2B5EF4-FFF2-40B4-BE49-F238E27FC236}">
                <a16:creationId xmlns:a16="http://schemas.microsoft.com/office/drawing/2014/main" id="{BD88A0B8-F237-AF90-5853-50218C65A5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02" name="Google Shape;202;p3">
            <a:extLst>
              <a:ext uri="{FF2B5EF4-FFF2-40B4-BE49-F238E27FC236}">
                <a16:creationId xmlns:a16="http://schemas.microsoft.com/office/drawing/2014/main" id="{D89ED626-86E9-7C83-74C3-5D279EADDF34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03" name="Google Shape;203;p3">
            <a:extLst>
              <a:ext uri="{FF2B5EF4-FFF2-40B4-BE49-F238E27FC236}">
                <a16:creationId xmlns:a16="http://schemas.microsoft.com/office/drawing/2014/main" id="{D788B656-A13E-DC2B-138E-F4BDD67D64CE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 dirty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 dirty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96;p2">
            <a:extLst>
              <a:ext uri="{FF2B5EF4-FFF2-40B4-BE49-F238E27FC236}">
                <a16:creationId xmlns:a16="http://schemas.microsoft.com/office/drawing/2014/main" id="{3E606950-0D15-28D6-71B0-8EF1688570F4}"/>
              </a:ext>
            </a:extLst>
          </p:cNvPr>
          <p:cNvSpPr txBox="1"/>
          <p:nvPr/>
        </p:nvSpPr>
        <p:spPr>
          <a:xfrm>
            <a:off x="183112" y="1434662"/>
            <a:ext cx="11825775" cy="5055855"/>
          </a:xfrm>
          <a:prstGeom prst="rect">
            <a:avLst/>
          </a:prstGeom>
          <a:solidFill>
            <a:srgbClr val="DDEAF6">
              <a:alpha val="0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1. Описание предметной области, актуальность, постановка задачи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2. Ключевые слова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 lvl="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3. Цель работы, исследовательские вопросы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4. Задачи работы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 lvl="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5. Ожидаемые результаты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6. Применяемые методы (подходы)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 lvl="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7. Используемые инструменты (технологии)</a:t>
            </a: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600" b="1" dirty="0">
                <a:solidFill>
                  <a:srgbClr val="102D69"/>
                </a:solidFill>
              </a:rPr>
              <a:t>8. Дополнение</a:t>
            </a:r>
            <a:endParaRPr sz="2600" b="1" dirty="0">
              <a:solidFill>
                <a:srgbClr val="102D69"/>
              </a:solidFill>
            </a:endParaRPr>
          </a:p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rgbClr val="102D69">
                    <a:alpha val="57000"/>
                  </a:srgbClr>
                </a:solidFill>
              </a:rPr>
              <a:t>9. Список источников</a:t>
            </a:r>
            <a:endParaRPr sz="2400" dirty="0">
              <a:solidFill>
                <a:srgbClr val="1F3864">
                  <a:alpha val="57000"/>
                </a:srgb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494264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>
          <a:extLst>
            <a:ext uri="{FF2B5EF4-FFF2-40B4-BE49-F238E27FC236}">
              <a16:creationId xmlns:a16="http://schemas.microsoft.com/office/drawing/2014/main" id="{57D3476D-4C67-32A0-DD20-8AA1EA1E9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">
            <a:extLst>
              <a:ext uri="{FF2B5EF4-FFF2-40B4-BE49-F238E27FC236}">
                <a16:creationId xmlns:a16="http://schemas.microsoft.com/office/drawing/2014/main" id="{F0F39E2F-E18C-3312-F23D-81B11A9C86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10" name="Google Shape;210;p4">
            <a:extLst>
              <a:ext uri="{FF2B5EF4-FFF2-40B4-BE49-F238E27FC236}">
                <a16:creationId xmlns:a16="http://schemas.microsoft.com/office/drawing/2014/main" id="{5C684409-B01F-4C48-F68A-C2A1F824F990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11" name="Google Shape;211;p4">
            <a:extLst>
              <a:ext uri="{FF2B5EF4-FFF2-40B4-BE49-F238E27FC236}">
                <a16:creationId xmlns:a16="http://schemas.microsoft.com/office/drawing/2014/main" id="{37BE9365-B1B4-641F-4B44-F24C4F156E6A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>
            <a:extLst>
              <a:ext uri="{FF2B5EF4-FFF2-40B4-BE49-F238E27FC236}">
                <a16:creationId xmlns:a16="http://schemas.microsoft.com/office/drawing/2014/main" id="{EEC202D2-DC30-D602-4C53-8F7086CFB9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87" y="1162178"/>
            <a:ext cx="10703192" cy="530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/>
          </a:bodyPr>
          <a:lstStyle/>
          <a:p>
            <a:pPr marL="9525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100"/>
              <a:buFont typeface="Arial"/>
              <a:buNone/>
            </a:pPr>
            <a:r>
              <a:rPr lang="ru-RU" sz="3200" b="1" dirty="0">
                <a:solidFill>
                  <a:srgbClr val="102D69"/>
                </a:solidFill>
              </a:rPr>
              <a:t>8. Дополнение</a:t>
            </a:r>
            <a:endParaRPr dirty="0"/>
          </a:p>
        </p:txBody>
      </p:sp>
      <p:sp>
        <p:nvSpPr>
          <p:cNvPr id="213" name="Google Shape;213;p4">
            <a:extLst>
              <a:ext uri="{FF2B5EF4-FFF2-40B4-BE49-F238E27FC236}">
                <a16:creationId xmlns:a16="http://schemas.microsoft.com/office/drawing/2014/main" id="{3F5F25FD-EB79-F1C0-E33D-5D80069A2227}"/>
              </a:ext>
            </a:extLst>
          </p:cNvPr>
          <p:cNvSpPr txBox="1"/>
          <p:nvPr/>
        </p:nvSpPr>
        <p:spPr>
          <a:xfrm>
            <a:off x="459068" y="1733080"/>
            <a:ext cx="11273864" cy="45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spcAft>
                <a:spcPts val="600"/>
              </a:spcAft>
            </a:pPr>
            <a:r>
              <a:rPr lang="ru-RU" b="1" u="sng" dirty="0">
                <a:solidFill>
                  <a:srgbClr val="002060"/>
                </a:solidFill>
              </a:rPr>
              <a:t>Контрольные точки проекта</a:t>
            </a:r>
          </a:p>
          <a:p>
            <a:pPr marL="285750" lvl="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rgbClr val="002060"/>
                </a:solidFill>
              </a:rPr>
              <a:t>Формулировка и утверждение темы</a:t>
            </a:r>
            <a:r>
              <a:rPr lang="ru-RU" dirty="0">
                <a:solidFill>
                  <a:srgbClr val="002060"/>
                </a:solidFill>
              </a:rPr>
              <a:t> выпускной работы магистра - </a:t>
            </a:r>
            <a:r>
              <a:rPr lang="ru-RU" b="1" dirty="0">
                <a:solidFill>
                  <a:srgbClr val="00B050"/>
                </a:solidFill>
              </a:rPr>
              <a:t>15.11.2025</a:t>
            </a:r>
            <a:r>
              <a:rPr lang="ru-RU" dirty="0">
                <a:solidFill>
                  <a:srgbClr val="002060"/>
                </a:solidFill>
              </a:rPr>
              <a:t> (выполнено)</a:t>
            </a:r>
          </a:p>
          <a:p>
            <a:pPr marL="285750" lvl="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rgbClr val="002060"/>
                </a:solidFill>
              </a:rPr>
              <a:t>Создание репозитория на </a:t>
            </a:r>
            <a:r>
              <a:rPr lang="en-US" b="1" dirty="0">
                <a:solidFill>
                  <a:srgbClr val="002060"/>
                </a:solidFill>
              </a:rPr>
              <a:t>GitHub</a:t>
            </a:r>
            <a:r>
              <a:rPr lang="ru-RU" dirty="0">
                <a:solidFill>
                  <a:srgbClr val="002060"/>
                </a:solidFill>
              </a:rPr>
              <a:t>, размещение документации – </a:t>
            </a:r>
            <a:r>
              <a:rPr lang="ru-RU" b="1" dirty="0">
                <a:solidFill>
                  <a:srgbClr val="00B050"/>
                </a:solidFill>
              </a:rPr>
              <a:t>18.11.2025</a:t>
            </a:r>
            <a:r>
              <a:rPr lang="ru-RU" dirty="0">
                <a:solidFill>
                  <a:srgbClr val="002060"/>
                </a:solidFill>
              </a:rPr>
              <a:t> (выполнено)</a:t>
            </a:r>
          </a:p>
          <a:p>
            <a:pPr marL="285750" lvl="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2060"/>
                </a:solidFill>
              </a:rPr>
              <a:t>Изучение предметной области и постановка задачи, сбор литературы по теме исследования, предмета и объекта исследования, формулировка цели, исследовательских вопросов, задач, планируемых результатов работы и перспектив дальнейших исследований, определение методов (подходов) и инструментов исследования – </a:t>
            </a:r>
            <a:r>
              <a:rPr lang="ru-RU" b="1" dirty="0">
                <a:solidFill>
                  <a:srgbClr val="002060"/>
                </a:solidFill>
              </a:rPr>
              <a:t>формирование предварительного описания проекта (</a:t>
            </a:r>
            <a:r>
              <a:rPr lang="en-US" b="1" dirty="0">
                <a:solidFill>
                  <a:srgbClr val="002060"/>
                </a:solidFill>
              </a:rPr>
              <a:t>Project Proposal</a:t>
            </a:r>
            <a:r>
              <a:rPr lang="ru-RU" b="1" dirty="0">
                <a:solidFill>
                  <a:srgbClr val="002060"/>
                </a:solidFill>
              </a:rPr>
              <a:t>)</a:t>
            </a:r>
            <a:r>
              <a:rPr lang="ru-RU" dirty="0">
                <a:solidFill>
                  <a:srgbClr val="002060"/>
                </a:solidFill>
              </a:rPr>
              <a:t> </a:t>
            </a:r>
            <a:r>
              <a:rPr lang="ru-RU" dirty="0">
                <a:solidFill>
                  <a:srgbClr val="00B050"/>
                </a:solidFill>
              </a:rPr>
              <a:t>– </a:t>
            </a:r>
            <a:r>
              <a:rPr lang="ru-RU" b="1" dirty="0">
                <a:solidFill>
                  <a:srgbClr val="00B050"/>
                </a:solidFill>
              </a:rPr>
              <a:t>01.12.2025 </a:t>
            </a:r>
            <a:r>
              <a:rPr lang="ru-RU" dirty="0">
                <a:solidFill>
                  <a:srgbClr val="002060"/>
                </a:solidFill>
              </a:rPr>
              <a:t>(выполнено)</a:t>
            </a:r>
          </a:p>
          <a:p>
            <a:pPr marL="285750" lvl="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2060"/>
                </a:solidFill>
              </a:rPr>
              <a:t>Работа с вспомогательными инструментами планирования и визуализации результатов работы над проектом, создание первоначального </a:t>
            </a:r>
            <a:r>
              <a:rPr lang="ru-RU" b="1" dirty="0">
                <a:solidFill>
                  <a:srgbClr val="002060"/>
                </a:solidFill>
              </a:rPr>
              <a:t>«дерева источников»</a:t>
            </a:r>
            <a:r>
              <a:rPr lang="ru-RU" dirty="0">
                <a:solidFill>
                  <a:srgbClr val="002060"/>
                </a:solidFill>
              </a:rPr>
              <a:t>, первой </a:t>
            </a:r>
            <a:r>
              <a:rPr lang="ru-RU" b="1" dirty="0">
                <a:solidFill>
                  <a:srgbClr val="002060"/>
                </a:solidFill>
              </a:rPr>
              <a:t>ментальной карты (</a:t>
            </a:r>
            <a:r>
              <a:rPr lang="en-US" b="1" dirty="0">
                <a:solidFill>
                  <a:srgbClr val="002060"/>
                </a:solidFill>
              </a:rPr>
              <a:t>Mind Map</a:t>
            </a:r>
            <a:r>
              <a:rPr lang="ru-RU" b="1" dirty="0">
                <a:solidFill>
                  <a:srgbClr val="002060"/>
                </a:solidFill>
              </a:rPr>
              <a:t>)</a:t>
            </a:r>
            <a:r>
              <a:rPr lang="ru-RU" dirty="0">
                <a:solidFill>
                  <a:srgbClr val="002060"/>
                </a:solidFill>
              </a:rPr>
              <a:t> целей проекта, предварительной </a:t>
            </a:r>
            <a:r>
              <a:rPr lang="en-US" b="1" dirty="0">
                <a:solidFill>
                  <a:srgbClr val="002060"/>
                </a:solidFill>
              </a:rPr>
              <a:t>PERT</a:t>
            </a:r>
            <a:r>
              <a:rPr lang="ru-RU" b="1" dirty="0">
                <a:solidFill>
                  <a:srgbClr val="002060"/>
                </a:solidFill>
              </a:rPr>
              <a:t>- диаграммы</a:t>
            </a:r>
            <a:r>
              <a:rPr lang="ru-RU" dirty="0">
                <a:solidFill>
                  <a:srgbClr val="002060"/>
                </a:solidFill>
              </a:rPr>
              <a:t> </a:t>
            </a:r>
            <a:r>
              <a:rPr lang="ru-RU" b="1" dirty="0">
                <a:solidFill>
                  <a:srgbClr val="00B050"/>
                </a:solidFill>
              </a:rPr>
              <a:t>– 01.12.2025 </a:t>
            </a:r>
            <a:r>
              <a:rPr lang="ru-RU" dirty="0">
                <a:solidFill>
                  <a:srgbClr val="002060"/>
                </a:solidFill>
              </a:rPr>
              <a:t>(выполнено)</a:t>
            </a:r>
          </a:p>
          <a:p>
            <a:pPr marL="285750" lvl="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rgbClr val="002060"/>
                </a:solidFill>
              </a:rPr>
              <a:t>Презентация предварительного описания проекта</a:t>
            </a:r>
            <a:r>
              <a:rPr lang="ru-RU" dirty="0">
                <a:solidFill>
                  <a:srgbClr val="002060"/>
                </a:solidFill>
              </a:rPr>
              <a:t> (</a:t>
            </a:r>
            <a:r>
              <a:rPr lang="en-US" dirty="0">
                <a:solidFill>
                  <a:srgbClr val="002060"/>
                </a:solidFill>
              </a:rPr>
              <a:t>Project Proposal</a:t>
            </a:r>
            <a:r>
              <a:rPr lang="ru-RU" dirty="0">
                <a:solidFill>
                  <a:srgbClr val="002060"/>
                </a:solidFill>
              </a:rPr>
              <a:t>) – </a:t>
            </a:r>
            <a:r>
              <a:rPr lang="ru-RU" b="1" dirty="0">
                <a:solidFill>
                  <a:srgbClr val="00B0F0"/>
                </a:solidFill>
              </a:rPr>
              <a:t>04.12.2025</a:t>
            </a:r>
          </a:p>
          <a:p>
            <a:pPr marL="285750" lvl="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rgbClr val="002060"/>
                </a:solidFill>
              </a:rPr>
              <a:t>Контрольная точка 1:</a:t>
            </a:r>
            <a:r>
              <a:rPr lang="ru-RU" dirty="0">
                <a:solidFill>
                  <a:srgbClr val="002060"/>
                </a:solidFill>
              </a:rPr>
              <a:t> презентация прогресса работы и обратная связь от экспертов. На этом этапе должны быть сформулирован цели, задачи, гипотезы. Определена методология и используемый технологический стек - </a:t>
            </a:r>
            <a:r>
              <a:rPr lang="ru-RU" b="1" dirty="0">
                <a:solidFill>
                  <a:srgbClr val="00B0F0"/>
                </a:solidFill>
              </a:rPr>
              <a:t>середина марта 2026</a:t>
            </a:r>
          </a:p>
          <a:p>
            <a:pPr marL="285750" lvl="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rgbClr val="002060"/>
                </a:solidFill>
              </a:rPr>
              <a:t>Контрольная точка 2:</a:t>
            </a:r>
            <a:r>
              <a:rPr lang="ru-RU" dirty="0">
                <a:solidFill>
                  <a:srgbClr val="002060"/>
                </a:solidFill>
              </a:rPr>
              <a:t> предварительная защита работы и обратная связь от экспертов. На этом этапе основная часть работы практически выполнена. Готовность работы 80% - </a:t>
            </a:r>
            <a:r>
              <a:rPr lang="ru-RU" b="1" dirty="0">
                <a:solidFill>
                  <a:srgbClr val="00B0F0"/>
                </a:solidFill>
              </a:rPr>
              <a:t>конец апреля 2026</a:t>
            </a:r>
            <a:endParaRPr lang="ru-RU" b="1" dirty="0">
              <a:solidFill>
                <a:srgbClr val="002060"/>
              </a:solidFill>
            </a:endParaRPr>
          </a:p>
          <a:p>
            <a:pPr marL="285750" lvl="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rgbClr val="002060"/>
                </a:solidFill>
              </a:rPr>
              <a:t>Представление завершенной работы научному руководителю</a:t>
            </a:r>
            <a:r>
              <a:rPr lang="ru-RU" dirty="0">
                <a:solidFill>
                  <a:srgbClr val="002060"/>
                </a:solidFill>
              </a:rPr>
              <a:t> - </a:t>
            </a:r>
            <a:r>
              <a:rPr lang="ru-RU" b="1" dirty="0">
                <a:solidFill>
                  <a:srgbClr val="00B0F0"/>
                </a:solidFill>
              </a:rPr>
              <a:t>середина мая 2026</a:t>
            </a:r>
          </a:p>
          <a:p>
            <a:pPr marL="285750" lvl="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rgbClr val="002060"/>
                </a:solidFill>
              </a:rPr>
              <a:t>Подготовка презентационных материалов. Защита работы</a:t>
            </a:r>
            <a:r>
              <a:rPr lang="ru-RU" dirty="0">
                <a:solidFill>
                  <a:srgbClr val="002060"/>
                </a:solidFill>
              </a:rPr>
              <a:t> </a:t>
            </a:r>
            <a:r>
              <a:rPr lang="ru-RU" b="1" dirty="0">
                <a:solidFill>
                  <a:srgbClr val="002060"/>
                </a:solidFill>
              </a:rPr>
              <a:t>- </a:t>
            </a:r>
            <a:r>
              <a:rPr lang="ru-RU" b="1" dirty="0">
                <a:solidFill>
                  <a:srgbClr val="00B0F0"/>
                </a:solidFill>
              </a:rPr>
              <a:t>июнь 2026</a:t>
            </a:r>
          </a:p>
        </p:txBody>
      </p:sp>
    </p:spTree>
    <p:extLst>
      <p:ext uri="{BB962C8B-B14F-4D97-AF65-F5344CB8AC3E}">
        <p14:creationId xmlns:p14="http://schemas.microsoft.com/office/powerpoint/2010/main" val="38599532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DEAF6"/>
        </a:solidFill>
        <a:effectLst/>
      </p:bgPr>
    </p:bg>
    <p:spTree>
      <p:nvGrpSpPr>
        <p:cNvPr id="1" name="Shape 200">
          <a:extLst>
            <a:ext uri="{FF2B5EF4-FFF2-40B4-BE49-F238E27FC236}">
              <a16:creationId xmlns:a16="http://schemas.microsoft.com/office/drawing/2014/main" id="{0D0F1760-0DE3-090A-4F81-F581BC2CF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">
            <a:extLst>
              <a:ext uri="{FF2B5EF4-FFF2-40B4-BE49-F238E27FC236}">
                <a16:creationId xmlns:a16="http://schemas.microsoft.com/office/drawing/2014/main" id="{F07C1DE7-6AB4-B2A8-653C-38A6CF8A5E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02" name="Google Shape;202;p3">
            <a:extLst>
              <a:ext uri="{FF2B5EF4-FFF2-40B4-BE49-F238E27FC236}">
                <a16:creationId xmlns:a16="http://schemas.microsoft.com/office/drawing/2014/main" id="{95910AEE-EB63-A895-C5ED-53449A3FAE9A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03" name="Google Shape;203;p3">
            <a:extLst>
              <a:ext uri="{FF2B5EF4-FFF2-40B4-BE49-F238E27FC236}">
                <a16:creationId xmlns:a16="http://schemas.microsoft.com/office/drawing/2014/main" id="{76226ADA-82DF-D927-060A-861400AA41BB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 dirty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 dirty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96;p2">
            <a:extLst>
              <a:ext uri="{FF2B5EF4-FFF2-40B4-BE49-F238E27FC236}">
                <a16:creationId xmlns:a16="http://schemas.microsoft.com/office/drawing/2014/main" id="{45CCEB9A-6C24-1C57-5CF1-32B24AE91FDB}"/>
              </a:ext>
            </a:extLst>
          </p:cNvPr>
          <p:cNvSpPr txBox="1"/>
          <p:nvPr/>
        </p:nvSpPr>
        <p:spPr>
          <a:xfrm>
            <a:off x="183112" y="1434662"/>
            <a:ext cx="11825775" cy="5055855"/>
          </a:xfrm>
          <a:prstGeom prst="rect">
            <a:avLst/>
          </a:prstGeom>
          <a:solidFill>
            <a:srgbClr val="DDEAF6">
              <a:alpha val="0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0800"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1. Описание предметной области, актуальность, постановка задачи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2. Ключевые слова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 lvl="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3. Цель работы, исследовательские вопросы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4. Задачи работы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 lvl="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5. Ожидаемые результаты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6. Применяемые методы (подходы)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 lvl="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7. Используемые инструменты (технологии)</a:t>
            </a:r>
          </a:p>
          <a:p>
            <a:pPr marL="5080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400" dirty="0">
                <a:solidFill>
                  <a:schemeClr val="tx2">
                    <a:lumMod val="50000"/>
                  </a:schemeClr>
                </a:solidFill>
              </a:rPr>
              <a:t>8. Дополнение</a:t>
            </a:r>
            <a:endParaRPr sz="2400" dirty="0">
              <a:solidFill>
                <a:schemeClr val="tx2">
                  <a:lumMod val="50000"/>
                </a:schemeClr>
              </a:solidFill>
            </a:endParaRPr>
          </a:p>
          <a:p>
            <a:pPr marL="50800" lvl="0">
              <a:lnSpc>
                <a:spcPct val="115000"/>
              </a:lnSpc>
              <a:buClr>
                <a:srgbClr val="102D69"/>
              </a:buClr>
              <a:buSzPts val="2800"/>
            </a:pPr>
            <a:r>
              <a:rPr lang="ru-RU" sz="2600" b="1" dirty="0">
                <a:solidFill>
                  <a:srgbClr val="102D69"/>
                </a:solidFill>
              </a:rPr>
              <a:t>9. Список источников</a:t>
            </a:r>
            <a:endParaRPr sz="2600" b="1" dirty="0">
              <a:solidFill>
                <a:srgbClr val="102D69"/>
              </a:solidFill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245802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>
          <a:extLst>
            <a:ext uri="{FF2B5EF4-FFF2-40B4-BE49-F238E27FC236}">
              <a16:creationId xmlns:a16="http://schemas.microsoft.com/office/drawing/2014/main" id="{F3F5EFB7-0DFB-67EE-2BC2-E1988B4BC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">
            <a:extLst>
              <a:ext uri="{FF2B5EF4-FFF2-40B4-BE49-F238E27FC236}">
                <a16:creationId xmlns:a16="http://schemas.microsoft.com/office/drawing/2014/main" id="{81CDC8EE-9254-E76A-AC19-28ECB82DB7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10" name="Google Shape;210;p4">
            <a:extLst>
              <a:ext uri="{FF2B5EF4-FFF2-40B4-BE49-F238E27FC236}">
                <a16:creationId xmlns:a16="http://schemas.microsoft.com/office/drawing/2014/main" id="{419CA9B0-93C8-0E1D-F0F6-8D1B6FBA04B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11" name="Google Shape;211;p4">
            <a:extLst>
              <a:ext uri="{FF2B5EF4-FFF2-40B4-BE49-F238E27FC236}">
                <a16:creationId xmlns:a16="http://schemas.microsoft.com/office/drawing/2014/main" id="{BE43479D-5854-9F0C-000D-5664AA0A826B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>
            <a:extLst>
              <a:ext uri="{FF2B5EF4-FFF2-40B4-BE49-F238E27FC236}">
                <a16:creationId xmlns:a16="http://schemas.microsoft.com/office/drawing/2014/main" id="{80220007-3EEC-7902-AF69-D12F487CE1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87" y="1162178"/>
            <a:ext cx="10703192" cy="530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/>
          </a:bodyPr>
          <a:lstStyle/>
          <a:p>
            <a:pPr marL="9525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100"/>
              <a:buFont typeface="Arial"/>
              <a:buNone/>
            </a:pPr>
            <a:r>
              <a:rPr lang="ru-RU" sz="3200" b="1" dirty="0">
                <a:solidFill>
                  <a:srgbClr val="102D69"/>
                </a:solidFill>
              </a:rPr>
              <a:t>9. Список источников</a:t>
            </a:r>
            <a:endParaRPr dirty="0"/>
          </a:p>
        </p:txBody>
      </p:sp>
      <p:sp>
        <p:nvSpPr>
          <p:cNvPr id="213" name="Google Shape;213;p4">
            <a:extLst>
              <a:ext uri="{FF2B5EF4-FFF2-40B4-BE49-F238E27FC236}">
                <a16:creationId xmlns:a16="http://schemas.microsoft.com/office/drawing/2014/main" id="{7BF8EB61-7D74-3293-7084-183CEE362B42}"/>
              </a:ext>
            </a:extLst>
          </p:cNvPr>
          <p:cNvSpPr txBox="1"/>
          <p:nvPr/>
        </p:nvSpPr>
        <p:spPr>
          <a:xfrm>
            <a:off x="409903" y="1745225"/>
            <a:ext cx="11177752" cy="45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002060"/>
                </a:solidFill>
              </a:rPr>
              <a:t>1. Khan A. A., Shameem M., Nadeem M., Akbar M. A. Agile trends in Chinese global software development industry: Fuzzy AHP based conceptual mapping //Applied Soft Computing, 2021, 102 (107090), P. 24.</a:t>
            </a:r>
            <a:endParaRPr lang="ru-RU" sz="1600" dirty="0">
              <a:solidFill>
                <a:srgbClr val="002060"/>
              </a:solidFill>
            </a:endParaRP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002060"/>
                </a:solidFill>
              </a:rPr>
              <a:t>2. Saini A., Ahuja L., Khatri S. K. Effort estimation of agile development using fuzzy logic //2018 7th International Conference on Reliability, Infocom Technologies and Optimization (Trends and Future Directions) (ICRITO). – IEEE, 2018, P. 779-783.</a:t>
            </a:r>
            <a:endParaRPr lang="ru-RU" sz="1600" dirty="0">
              <a:solidFill>
                <a:srgbClr val="002060"/>
              </a:solidFill>
            </a:endParaRP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002060"/>
                </a:solidFill>
              </a:rPr>
              <a:t>3. </a:t>
            </a:r>
            <a:r>
              <a:rPr lang="en-US" sz="1600" u="sng" dirty="0">
                <a:solidFill>
                  <a:srgbClr val="002060"/>
                </a:solidFill>
              </a:rPr>
              <a:t>Lin C.T., Chiu H., Tseng Y.H. Agility evaluation using fuzzy logic //International journal of production economics, 2006, 101 (2), P. 353-368.</a:t>
            </a:r>
            <a:endParaRPr lang="ru-RU" sz="1600" dirty="0">
              <a:solidFill>
                <a:srgbClr val="002060"/>
              </a:solidFill>
            </a:endParaRP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002060"/>
                </a:solidFill>
              </a:rPr>
              <a:t>4. Marín Díaz G, </a:t>
            </a:r>
            <a:r>
              <a:rPr lang="en-US" sz="1600" dirty="0" err="1">
                <a:solidFill>
                  <a:srgbClr val="002060"/>
                </a:solidFill>
              </a:rPr>
              <a:t>Galdón</a:t>
            </a:r>
            <a:r>
              <a:rPr lang="en-US" sz="1600" dirty="0">
                <a:solidFill>
                  <a:srgbClr val="002060"/>
                </a:solidFill>
              </a:rPr>
              <a:t> Salvador JL. Group Decision-Making Model Based on 2-Tuple Fuzzy Linguistic Model and AHP Applied to Measuring Digital Maturity Level of Organizations // Systems, 2023, 11(7):341, P. 32, </a:t>
            </a:r>
            <a:r>
              <a:rPr lang="en-US" sz="1600" u="sng" dirty="0">
                <a:solidFill>
                  <a:srgbClr val="00206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https://doi.org/10.3390/systems11070341</a:t>
            </a:r>
            <a:r>
              <a:rPr lang="ru-RU" sz="1600" dirty="0">
                <a:solidFill>
                  <a:srgbClr val="002060"/>
                </a:solidFill>
              </a:rPr>
              <a:t> 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002060"/>
                </a:solidFill>
              </a:rPr>
              <a:t>5. Yan W., Chen C. H., Khoo L. P. An integrated approach to the elicitation of customer requirements for engineering design using picture sorts and fuzzy evaluation //Ai Edam, 2002, 16 (2), P. 59-71.</a:t>
            </a:r>
            <a:endParaRPr lang="ru-RU" sz="1600" dirty="0">
              <a:solidFill>
                <a:srgbClr val="002060"/>
              </a:solidFill>
            </a:endParaRP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002060"/>
                </a:solidFill>
              </a:rPr>
              <a:t>6. Sadiq M., Jain S. K. A fuzzy based approach for the selection of goals in goal oriented requirements elicitation process //International Journal of System Assurance Engineering and Management, 2015, 6 (2), P. 157-164.</a:t>
            </a:r>
            <a:endParaRPr lang="ru-RU" sz="1600" dirty="0">
              <a:solidFill>
                <a:srgbClr val="002060"/>
              </a:solidFill>
            </a:endParaRP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002060"/>
                </a:solidFill>
              </a:rPr>
              <a:t>7. Gondal A. N., Kausar M., Mazhar N., Amjad M. Prioritization of Agile Requirement Elicitation Techniques Using Fuzzy Logic //International Journal of Fuzzy Systems, 2025, P. 1-21.</a:t>
            </a:r>
            <a:endParaRPr lang="ru-RU" sz="1600" dirty="0">
              <a:solidFill>
                <a:srgbClr val="002060"/>
              </a:solidFill>
            </a:endParaRP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002060"/>
                </a:solidFill>
              </a:rPr>
              <a:t>8. Zamudio L., Aguilar J. A., Tripp C., Misra S. A requirements engineering techniques review in agile software development methods // In International Conference on Computational Science and Its Applications. Springer, Cham, 2017, PP. 683-698</a:t>
            </a:r>
            <a:endParaRPr lang="ru-RU" sz="1600" dirty="0">
              <a:solidFill>
                <a:srgbClr val="00206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600" dirty="0">
                <a:solidFill>
                  <a:srgbClr val="002060"/>
                </a:solidFill>
              </a:rPr>
              <a:t>9. Alflen N. C., Prado E. P. V. Requirements elicitation techniques for software development: a systematic review of literature // </a:t>
            </a:r>
            <a:r>
              <a:rPr lang="en-US" sz="1600" dirty="0" err="1">
                <a:solidFill>
                  <a:srgbClr val="002060"/>
                </a:solidFill>
              </a:rPr>
              <a:t>AtoZ</a:t>
            </a:r>
            <a:r>
              <a:rPr lang="en-US" sz="1600" dirty="0">
                <a:solidFill>
                  <a:srgbClr val="002060"/>
                </a:solidFill>
              </a:rPr>
              <a:t>: </a:t>
            </a:r>
            <a:r>
              <a:rPr lang="en-US" sz="1600" dirty="0" err="1">
                <a:solidFill>
                  <a:srgbClr val="002060"/>
                </a:solidFill>
              </a:rPr>
              <a:t>novas</a:t>
            </a:r>
            <a:r>
              <a:rPr lang="en-US" sz="1600" dirty="0">
                <a:solidFill>
                  <a:srgbClr val="002060"/>
                </a:solidFill>
              </a:rPr>
              <a:t> </a:t>
            </a:r>
            <a:r>
              <a:rPr lang="en-US" sz="1600" dirty="0" err="1">
                <a:solidFill>
                  <a:srgbClr val="002060"/>
                </a:solidFill>
              </a:rPr>
              <a:t>práticas</a:t>
            </a:r>
            <a:r>
              <a:rPr lang="en-US" sz="1600" dirty="0">
                <a:solidFill>
                  <a:srgbClr val="002060"/>
                </a:solidFill>
              </a:rPr>
              <a:t> </a:t>
            </a:r>
            <a:r>
              <a:rPr lang="en-US" sz="1600" dirty="0" err="1">
                <a:solidFill>
                  <a:srgbClr val="002060"/>
                </a:solidFill>
              </a:rPr>
              <a:t>em</a:t>
            </a:r>
            <a:r>
              <a:rPr lang="en-US" sz="1600" dirty="0">
                <a:solidFill>
                  <a:srgbClr val="002060"/>
                </a:solidFill>
              </a:rPr>
              <a:t> </a:t>
            </a:r>
            <a:r>
              <a:rPr lang="en-US" sz="1600" dirty="0" err="1">
                <a:solidFill>
                  <a:srgbClr val="002060"/>
                </a:solidFill>
              </a:rPr>
              <a:t>informação</a:t>
            </a:r>
            <a:r>
              <a:rPr lang="en-US" sz="1600" dirty="0">
                <a:solidFill>
                  <a:srgbClr val="002060"/>
                </a:solidFill>
              </a:rPr>
              <a:t> e </a:t>
            </a:r>
            <a:r>
              <a:rPr lang="en-US" sz="1600" dirty="0" err="1">
                <a:solidFill>
                  <a:srgbClr val="002060"/>
                </a:solidFill>
              </a:rPr>
              <a:t>conhecimento</a:t>
            </a:r>
            <a:r>
              <a:rPr lang="en-US" sz="1600" dirty="0">
                <a:solidFill>
                  <a:srgbClr val="002060"/>
                </a:solidFill>
              </a:rPr>
              <a:t>. 2021. </a:t>
            </a:r>
            <a:r>
              <a:rPr lang="ru-RU" sz="1600" dirty="0">
                <a:solidFill>
                  <a:srgbClr val="002060"/>
                </a:solidFill>
              </a:rPr>
              <a:t>Т</a:t>
            </a:r>
            <a:r>
              <a:rPr lang="en-US" sz="1600" dirty="0">
                <a:solidFill>
                  <a:srgbClr val="002060"/>
                </a:solidFill>
              </a:rPr>
              <a:t>. 10. №. 1. PP. 118-128</a:t>
            </a:r>
            <a:r>
              <a:rPr lang="en-US" dirty="0">
                <a:solidFill>
                  <a:srgbClr val="002060"/>
                </a:solidFill>
              </a:rPr>
              <a:t>.</a:t>
            </a:r>
            <a:endParaRPr lang="ru-RU" dirty="0">
              <a:solidFill>
                <a:srgbClr val="002060"/>
              </a:solidFill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546514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>
          <a:extLst>
            <a:ext uri="{FF2B5EF4-FFF2-40B4-BE49-F238E27FC236}">
              <a16:creationId xmlns:a16="http://schemas.microsoft.com/office/drawing/2014/main" id="{23137554-E283-4696-C0FA-E43488C5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">
            <a:extLst>
              <a:ext uri="{FF2B5EF4-FFF2-40B4-BE49-F238E27FC236}">
                <a16:creationId xmlns:a16="http://schemas.microsoft.com/office/drawing/2014/main" id="{6E2CF24C-D5F5-C554-FB96-6C0827E0B2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10" name="Google Shape;210;p4">
            <a:extLst>
              <a:ext uri="{FF2B5EF4-FFF2-40B4-BE49-F238E27FC236}">
                <a16:creationId xmlns:a16="http://schemas.microsoft.com/office/drawing/2014/main" id="{138976BB-70BB-7B76-6BDD-C63896B5FDF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11" name="Google Shape;211;p4">
            <a:extLst>
              <a:ext uri="{FF2B5EF4-FFF2-40B4-BE49-F238E27FC236}">
                <a16:creationId xmlns:a16="http://schemas.microsoft.com/office/drawing/2014/main" id="{7B6613BF-3439-8BB9-184F-ED8A05CEC5FC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>
            <a:extLst>
              <a:ext uri="{FF2B5EF4-FFF2-40B4-BE49-F238E27FC236}">
                <a16:creationId xmlns:a16="http://schemas.microsoft.com/office/drawing/2014/main" id="{63A8FE97-335C-0A0E-9B53-5DA08D9F0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87" y="1162178"/>
            <a:ext cx="10703192" cy="530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/>
          </a:bodyPr>
          <a:lstStyle/>
          <a:p>
            <a:pPr marL="9525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100"/>
              <a:buFont typeface="Arial"/>
              <a:buNone/>
            </a:pPr>
            <a:r>
              <a:rPr lang="ru-RU" sz="3200" b="1" dirty="0">
                <a:solidFill>
                  <a:srgbClr val="102D69"/>
                </a:solidFill>
              </a:rPr>
              <a:t>9. Список источников (продолжение)</a:t>
            </a:r>
            <a:endParaRPr dirty="0"/>
          </a:p>
        </p:txBody>
      </p:sp>
      <p:sp>
        <p:nvSpPr>
          <p:cNvPr id="213" name="Google Shape;213;p4">
            <a:extLst>
              <a:ext uri="{FF2B5EF4-FFF2-40B4-BE49-F238E27FC236}">
                <a16:creationId xmlns:a16="http://schemas.microsoft.com/office/drawing/2014/main" id="{9EF04649-CBD7-ED83-1894-78979D39342C}"/>
              </a:ext>
            </a:extLst>
          </p:cNvPr>
          <p:cNvSpPr txBox="1"/>
          <p:nvPr/>
        </p:nvSpPr>
        <p:spPr>
          <a:xfrm>
            <a:off x="378372" y="1745225"/>
            <a:ext cx="11382703" cy="45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002060"/>
                </a:solidFill>
              </a:rPr>
              <a:t>10. Asghar, A.R., Tabassum, A., Bhatti, S.N. and Jadi, A.M. Impact and challenges of requirements elicitation &amp; prioritization in quality to agile process: Scrum as a case scenario //2017 International Conference on Communication Technologies (</a:t>
            </a:r>
            <a:r>
              <a:rPr lang="en-US" sz="1500" dirty="0" err="1">
                <a:solidFill>
                  <a:srgbClr val="002060"/>
                </a:solidFill>
              </a:rPr>
              <a:t>ComTech</a:t>
            </a:r>
            <a:r>
              <a:rPr lang="en-US" sz="1500" dirty="0">
                <a:solidFill>
                  <a:srgbClr val="002060"/>
                </a:solidFill>
              </a:rPr>
              <a:t>). IEEE, 2017. PP. 50-55.</a:t>
            </a:r>
            <a:endParaRPr lang="ru-RU" sz="1500" dirty="0">
              <a:solidFill>
                <a:srgbClr val="00206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002060"/>
                </a:solidFill>
              </a:rPr>
              <a:t>11. </a:t>
            </a:r>
            <a:r>
              <a:rPr lang="en-US" sz="1500" dirty="0" err="1">
                <a:solidFill>
                  <a:srgbClr val="002060"/>
                </a:solidFill>
              </a:rPr>
              <a:t>Egesoy</a:t>
            </a:r>
            <a:r>
              <a:rPr lang="en-US" sz="1500" dirty="0">
                <a:solidFill>
                  <a:srgbClr val="002060"/>
                </a:solidFill>
              </a:rPr>
              <a:t> A, Güzel A. Fuzzy Logic Support for Requirements Engineering // International Journal of Innovative Research in Computer Science &amp; Technology (IJIRCST) ISSN. 2021:2347-5552.</a:t>
            </a:r>
            <a:endParaRPr lang="ru-RU" sz="1500" dirty="0">
              <a:solidFill>
                <a:srgbClr val="00206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002060"/>
                </a:solidFill>
              </a:rPr>
              <a:t>12. Dongmo C. A Review of Non-Functional Requirements Analysis Throughout the SDLC //Computers.  2024.  </a:t>
            </a:r>
            <a:r>
              <a:rPr lang="ru-RU" sz="1500" dirty="0">
                <a:solidFill>
                  <a:srgbClr val="002060"/>
                </a:solidFill>
              </a:rPr>
              <a:t>Т</a:t>
            </a:r>
            <a:r>
              <a:rPr lang="en-US" sz="1500" dirty="0">
                <a:solidFill>
                  <a:srgbClr val="002060"/>
                </a:solidFill>
              </a:rPr>
              <a:t>. 13.  №. 12.  </a:t>
            </a:r>
            <a:r>
              <a:rPr lang="ru-RU" sz="1500" dirty="0">
                <a:solidFill>
                  <a:srgbClr val="002060"/>
                </a:solidFill>
              </a:rPr>
              <a:t>С</a:t>
            </a:r>
            <a:r>
              <a:rPr lang="en-US" sz="1500" dirty="0">
                <a:solidFill>
                  <a:srgbClr val="002060"/>
                </a:solidFill>
              </a:rPr>
              <a:t>. 308.</a:t>
            </a:r>
            <a:endParaRPr lang="ru-RU" sz="1500" dirty="0">
              <a:solidFill>
                <a:srgbClr val="00206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002060"/>
                </a:solidFill>
              </a:rPr>
              <a:t>13. El Beggar O. IFEJM: new intuitionistic fuzzy expert judgment method for effort estimation in agile software development //Arabian Journal for Science and Engineering. 2024. </a:t>
            </a:r>
            <a:r>
              <a:rPr lang="ru-RU" sz="1500" dirty="0">
                <a:solidFill>
                  <a:srgbClr val="002060"/>
                </a:solidFill>
              </a:rPr>
              <a:t>Т</a:t>
            </a:r>
            <a:r>
              <a:rPr lang="en-US" sz="1500" dirty="0">
                <a:solidFill>
                  <a:srgbClr val="002060"/>
                </a:solidFill>
              </a:rPr>
              <a:t>. 49. №. 3. P. 2887-2908.</a:t>
            </a:r>
            <a:endParaRPr lang="ru-RU" sz="1500" dirty="0">
              <a:solidFill>
                <a:srgbClr val="00206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002060"/>
                </a:solidFill>
              </a:rPr>
              <a:t>14. Gul M., Alam K. A. Identifying contemporary challenges pertaining to Distributed Software Development using Fuzzy Delphi Method. 2023. PP. 1-23 researchgate.com (</a:t>
            </a:r>
            <a:r>
              <a:rPr lang="ru-RU" sz="1500" dirty="0">
                <a:solidFill>
                  <a:srgbClr val="002060"/>
                </a:solidFill>
              </a:rPr>
              <a:t>препринт</a:t>
            </a:r>
            <a:r>
              <a:rPr lang="en-US" sz="1500" dirty="0">
                <a:solidFill>
                  <a:srgbClr val="002060"/>
                </a:solidFill>
              </a:rPr>
              <a:t>)</a:t>
            </a:r>
            <a:endParaRPr lang="ru-RU" sz="1500" dirty="0">
              <a:solidFill>
                <a:srgbClr val="00206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002060"/>
                </a:solidFill>
              </a:rPr>
              <a:t>15. Kumar A., Nadeem M., Shameem M. Multicriteria decision‐making–based framework for implementing DevOps practices: A fuzzy best–worst approach //Journal of Software: Evolution and Process. 2024. </a:t>
            </a:r>
            <a:r>
              <a:rPr lang="ru-RU" sz="1500" dirty="0">
                <a:solidFill>
                  <a:srgbClr val="002060"/>
                </a:solidFill>
              </a:rPr>
              <a:t>Т</a:t>
            </a:r>
            <a:r>
              <a:rPr lang="en-US" sz="1500" dirty="0">
                <a:solidFill>
                  <a:srgbClr val="002060"/>
                </a:solidFill>
              </a:rPr>
              <a:t>. 36. №. 6. PP.1-31.</a:t>
            </a:r>
            <a:endParaRPr lang="ru-RU" sz="1500" dirty="0">
              <a:solidFill>
                <a:srgbClr val="00206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002060"/>
                </a:solidFill>
              </a:rPr>
              <a:t>16. </a:t>
            </a:r>
            <a:r>
              <a:rPr lang="en-US" sz="1500" dirty="0" err="1">
                <a:solidFill>
                  <a:srgbClr val="002060"/>
                </a:solidFill>
              </a:rPr>
              <a:t>Semenkovich</a:t>
            </a:r>
            <a:r>
              <a:rPr lang="en-US" sz="1500" dirty="0">
                <a:solidFill>
                  <a:srgbClr val="002060"/>
                </a:solidFill>
              </a:rPr>
              <a:t>, S. A. A Modified Scrum Story Points Estimation Method Based on Fuzzy Logic Approach / S. A. </a:t>
            </a:r>
            <a:r>
              <a:rPr lang="en-US" sz="1500" dirty="0" err="1">
                <a:solidFill>
                  <a:srgbClr val="002060"/>
                </a:solidFill>
              </a:rPr>
              <a:t>Semenkovich</a:t>
            </a:r>
            <a:r>
              <a:rPr lang="en-US" sz="1500" dirty="0">
                <a:solidFill>
                  <a:srgbClr val="002060"/>
                </a:solidFill>
              </a:rPr>
              <a:t>, O. I. </a:t>
            </a:r>
            <a:r>
              <a:rPr lang="en-US" sz="1500" dirty="0" err="1">
                <a:solidFill>
                  <a:srgbClr val="002060"/>
                </a:solidFill>
              </a:rPr>
              <a:t>Kolekonova</a:t>
            </a:r>
            <a:r>
              <a:rPr lang="en-US" sz="1500" dirty="0">
                <a:solidFill>
                  <a:srgbClr val="002060"/>
                </a:solidFill>
              </a:rPr>
              <a:t>, K. Y. </a:t>
            </a:r>
            <a:r>
              <a:rPr lang="en-US" sz="1500" dirty="0" err="1">
                <a:solidFill>
                  <a:srgbClr val="002060"/>
                </a:solidFill>
              </a:rPr>
              <a:t>Degtiarev</a:t>
            </a:r>
            <a:r>
              <a:rPr lang="en-US" sz="1500" dirty="0">
                <a:solidFill>
                  <a:srgbClr val="002060"/>
                </a:solidFill>
              </a:rPr>
              <a:t> // Proceedings of the Institute for System Programming of the RAS. 2017. Vol. 29, No. 5. P. 19-38. – DOI 10.15514/ISPRAS-2017-29(5)-2. – EDN ZWZZRF.</a:t>
            </a:r>
            <a:endParaRPr lang="ru-RU" sz="1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36908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>
          <a:extLst>
            <a:ext uri="{FF2B5EF4-FFF2-40B4-BE49-F238E27FC236}">
              <a16:creationId xmlns:a16="http://schemas.microsoft.com/office/drawing/2014/main" id="{72AB3165-CA00-F732-7D73-F6827F77C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">
            <a:extLst>
              <a:ext uri="{FF2B5EF4-FFF2-40B4-BE49-F238E27FC236}">
                <a16:creationId xmlns:a16="http://schemas.microsoft.com/office/drawing/2014/main" id="{16BF659C-9C61-A1D6-EA27-E809AFF607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ru-RU"/>
              <a:t>Факультет компьютерных наук</a:t>
            </a:r>
            <a:endParaRPr/>
          </a:p>
        </p:txBody>
      </p:sp>
      <p:sp>
        <p:nvSpPr>
          <p:cNvPr id="210" name="Google Shape;210;p4">
            <a:extLst>
              <a:ext uri="{FF2B5EF4-FFF2-40B4-BE49-F238E27FC236}">
                <a16:creationId xmlns:a16="http://schemas.microsoft.com/office/drawing/2014/main" id="{5551D5BF-D9B2-6CEA-F80B-DCEA346504B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67255" y="548720"/>
            <a:ext cx="339134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ru-RU" dirty="0"/>
              <a:t>Подходы к управлению требованиями при гибкой разработке ПО с использованием аппарата нечетких множеств</a:t>
            </a:r>
            <a:endParaRPr dirty="0"/>
          </a:p>
        </p:txBody>
      </p:sp>
      <p:sp>
        <p:nvSpPr>
          <p:cNvPr id="211" name="Google Shape;211;p4">
            <a:extLst>
              <a:ext uri="{FF2B5EF4-FFF2-40B4-BE49-F238E27FC236}">
                <a16:creationId xmlns:a16="http://schemas.microsoft.com/office/drawing/2014/main" id="{F35065B2-85BF-E5D4-CD56-9D294529D8D0}"/>
              </a:ext>
            </a:extLst>
          </p:cNvPr>
          <p:cNvSpPr txBox="1"/>
          <p:nvPr/>
        </p:nvSpPr>
        <p:spPr>
          <a:xfrm>
            <a:off x="3671334" y="540904"/>
            <a:ext cx="2153412" cy="408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00" b="0" i="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rPr>
              <a:t>Продуктовый подход и аналитика данных в HR-менеджменте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endParaRPr sz="1000" b="0" i="0">
              <a:solidFill>
                <a:srgbClr val="0E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>
            <a:extLst>
              <a:ext uri="{FF2B5EF4-FFF2-40B4-BE49-F238E27FC236}">
                <a16:creationId xmlns:a16="http://schemas.microsoft.com/office/drawing/2014/main" id="{542A7714-A687-11A9-16BA-81DA61EF23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87" y="1162178"/>
            <a:ext cx="10703192" cy="530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/>
          </a:bodyPr>
          <a:lstStyle/>
          <a:p>
            <a:pPr marL="9525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02D69"/>
              </a:buClr>
              <a:buSzPts val="2100"/>
              <a:buFont typeface="Arial"/>
              <a:buNone/>
            </a:pPr>
            <a:r>
              <a:rPr lang="ru-RU" sz="3200" b="1" dirty="0">
                <a:solidFill>
                  <a:srgbClr val="102D69"/>
                </a:solidFill>
              </a:rPr>
              <a:t>9. Список источников (окончание)</a:t>
            </a:r>
            <a:endParaRPr dirty="0"/>
          </a:p>
        </p:txBody>
      </p:sp>
      <p:sp>
        <p:nvSpPr>
          <p:cNvPr id="213" name="Google Shape;213;p4">
            <a:extLst>
              <a:ext uri="{FF2B5EF4-FFF2-40B4-BE49-F238E27FC236}">
                <a16:creationId xmlns:a16="http://schemas.microsoft.com/office/drawing/2014/main" id="{A7B9A905-4E3F-8E5F-8C96-BC94F74E6F71}"/>
              </a:ext>
            </a:extLst>
          </p:cNvPr>
          <p:cNvSpPr txBox="1"/>
          <p:nvPr/>
        </p:nvSpPr>
        <p:spPr>
          <a:xfrm>
            <a:off x="302172" y="1692804"/>
            <a:ext cx="11587655" cy="45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002060"/>
                </a:solidFill>
              </a:rPr>
              <a:t>17. International </a:t>
            </a:r>
            <a:r>
              <a:rPr lang="en-US" sz="1500" dirty="0" err="1">
                <a:solidFill>
                  <a:srgbClr val="002060"/>
                </a:solidFill>
              </a:rPr>
              <a:t>Standart</a:t>
            </a:r>
            <a:r>
              <a:rPr lang="en-US" sz="1500" dirty="0">
                <a:solidFill>
                  <a:srgbClr val="002060"/>
                </a:solidFill>
              </a:rPr>
              <a:t> ISO/IEC/IEEE 29148 (second edition 2018-11) Systems and software engineering - Life cycle processes – Requirements engineering</a:t>
            </a:r>
            <a:endParaRPr lang="ru-RU" sz="1500" dirty="0">
              <a:solidFill>
                <a:srgbClr val="00206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002060"/>
                </a:solidFill>
              </a:rPr>
              <a:t>18. International </a:t>
            </a:r>
            <a:r>
              <a:rPr lang="en-US" sz="1500" dirty="0" err="1">
                <a:solidFill>
                  <a:srgbClr val="002060"/>
                </a:solidFill>
              </a:rPr>
              <a:t>Standart</a:t>
            </a:r>
            <a:r>
              <a:rPr lang="en-US" sz="1500" dirty="0">
                <a:solidFill>
                  <a:srgbClr val="002060"/>
                </a:solidFill>
              </a:rPr>
              <a:t> ISO/IEC/IEEE 26515 (second edition 2018-12) Systems and software engineering - Developing information for users in an agile environment</a:t>
            </a:r>
            <a:endParaRPr lang="ru-RU" sz="1500" dirty="0">
              <a:solidFill>
                <a:srgbClr val="00206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002060"/>
                </a:solidFill>
              </a:rPr>
              <a:t>19. Zadeh L.A. Fuzzy sets // Information and Control. 1965. Vol. 8. P. 338–353.</a:t>
            </a:r>
            <a:endParaRPr lang="ru-RU" sz="1500" dirty="0">
              <a:solidFill>
                <a:srgbClr val="00206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002060"/>
                </a:solidFill>
              </a:rPr>
              <a:t>20. </a:t>
            </a:r>
            <a:r>
              <a:rPr lang="en-US" sz="1500" dirty="0" err="1">
                <a:solidFill>
                  <a:srgbClr val="002060"/>
                </a:solidFill>
              </a:rPr>
              <a:t>Klir</a:t>
            </a:r>
            <a:r>
              <a:rPr lang="en-US" sz="1500" dirty="0">
                <a:solidFill>
                  <a:srgbClr val="002060"/>
                </a:solidFill>
              </a:rPr>
              <a:t> George J. Fuzzy logic. Unearthing its meaning and significance // IEEE Potentials/ October/November 1995. P.10-15</a:t>
            </a:r>
            <a:endParaRPr lang="ru-RU" sz="1500" dirty="0">
              <a:solidFill>
                <a:srgbClr val="00206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002060"/>
                </a:solidFill>
              </a:rPr>
              <a:t>21. Mendel J.M., John R.I. and Liu F. Interval Type-2 Fuzzy Logic Systems Made Simple // IEEE TRANSACTIONS ON FUZZY SYSTEMS, 14(6), 2006. P.808-821.</a:t>
            </a:r>
            <a:endParaRPr lang="ru-RU" sz="1500" dirty="0">
              <a:solidFill>
                <a:srgbClr val="00206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002060"/>
                </a:solidFill>
              </a:rPr>
              <a:t>22. Mendel J.M. Type-2 Fuzzy Sets and Systems: An Overview // IEEE Computational Intelligence Magazine, 2(1), 2007. P. 20-29.</a:t>
            </a:r>
            <a:endParaRPr lang="ru-RU" sz="1500" dirty="0">
              <a:solidFill>
                <a:srgbClr val="00206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002060"/>
                </a:solidFill>
              </a:rPr>
              <a:t>23. Mendel J.M. Type-2 Fuzzy Sets as Well as Computing with Words // IEEE Computational Intelligence Magazine, 14(1), 2019. P</a:t>
            </a:r>
            <a:r>
              <a:rPr lang="ru-RU" sz="1500" dirty="0">
                <a:solidFill>
                  <a:srgbClr val="002060"/>
                </a:solidFill>
              </a:rPr>
              <a:t>. 82-95.</a:t>
            </a:r>
          </a:p>
          <a:p>
            <a:pPr>
              <a:spcAft>
                <a:spcPts val="600"/>
              </a:spcAft>
            </a:pPr>
            <a:r>
              <a:rPr lang="ru-RU" sz="1500" dirty="0">
                <a:solidFill>
                  <a:srgbClr val="002060"/>
                </a:solidFill>
              </a:rPr>
              <a:t>24. Понаровская И.С. Методы оценки затрат на разработку ПО с использованием аппарата нечетких множеств // курсовой проект, 2025, 96 с. – </a:t>
            </a:r>
            <a:r>
              <a:rPr lang="ru-RU" sz="1500" u="sng" dirty="0">
                <a:solidFill>
                  <a:srgbClr val="00206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https://drive.google.com/file/d/1d8sveBeF56fo5aUc0ToMKTChP4s1HwBn/view?usp=drive_link</a:t>
            </a:r>
            <a:endParaRPr lang="ru-RU" sz="1500" dirty="0">
              <a:solidFill>
                <a:srgbClr val="002060"/>
              </a:solidFill>
            </a:endParaRPr>
          </a:p>
          <a:p>
            <a:pPr>
              <a:spcAft>
                <a:spcPts val="600"/>
              </a:spcAft>
            </a:pPr>
            <a:endParaRPr lang="ru-RU" sz="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77437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Пользовательские 1">
      <a:dk1>
        <a:srgbClr val="0F2C68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3277</Words>
  <Application>Microsoft Office PowerPoint</Application>
  <PresentationFormat>Широкоэкранный</PresentationFormat>
  <Paragraphs>261</Paragraphs>
  <Slides>26</Slides>
  <Notes>26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Подходы к управлению требованиями при гибкой разработке ПО с использованием аппарата нечетких множеств   </vt:lpstr>
      <vt:lpstr>Содержание доклада</vt:lpstr>
      <vt:lpstr>Презентация PowerPoint</vt:lpstr>
      <vt:lpstr>1.1. Предметная область и актуальность исследования</vt:lpstr>
      <vt:lpstr>1.2. Предмет и объект исследования</vt:lpstr>
      <vt:lpstr>1.3. Постановка задачи</vt:lpstr>
      <vt:lpstr>Презентация PowerPoint</vt:lpstr>
      <vt:lpstr>2. Ключевые слова</vt:lpstr>
      <vt:lpstr>Презентация PowerPoint</vt:lpstr>
      <vt:lpstr>3.1. Цель работы</vt:lpstr>
      <vt:lpstr>3.2. Исследовательские вопросы</vt:lpstr>
      <vt:lpstr>Презентация PowerPoint</vt:lpstr>
      <vt:lpstr>4. Задачи работы</vt:lpstr>
      <vt:lpstr>Презентация PowerPoint</vt:lpstr>
      <vt:lpstr>5. Ожидаемые результаты</vt:lpstr>
      <vt:lpstr>Презентация PowerPoint</vt:lpstr>
      <vt:lpstr>6. Применяемые методы (подходы)</vt:lpstr>
      <vt:lpstr>Презентация PowerPoint</vt:lpstr>
      <vt:lpstr>7. Используемые инструменты (технологии)</vt:lpstr>
      <vt:lpstr>Презентация PowerPoint</vt:lpstr>
      <vt:lpstr>8. Дополнение</vt:lpstr>
      <vt:lpstr>Презентация PowerPoint</vt:lpstr>
      <vt:lpstr>9. Список источников</vt:lpstr>
      <vt:lpstr>9. Список источников (продолжение)</vt:lpstr>
      <vt:lpstr>9. Список источников (окончание)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Кутьков Юрий Юрьевич</dc:creator>
  <cp:lastModifiedBy>Инна Понаровская</cp:lastModifiedBy>
  <cp:revision>3</cp:revision>
  <dcterms:created xsi:type="dcterms:W3CDTF">2021-11-11T08:52:47Z</dcterms:created>
  <dcterms:modified xsi:type="dcterms:W3CDTF">2025-11-28T03:50:29Z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0x0101002A9C74E6E830D74E9B0FDDB4017A5417</vt:lpwstr>
  </property>
</Properties>
</file>